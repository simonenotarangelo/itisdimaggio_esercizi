
<file path=[Content_Types].xml><?xml version="1.0" encoding="utf-8"?>
<Types xmlns="http://schemas.openxmlformats.org/package/2006/content-types">
  <Default Extension="gif" ContentType="image/gif"/>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0" r:id="rId2"/>
    <p:sldId id="260" r:id="rId3"/>
    <p:sldId id="263" r:id="rId4"/>
    <p:sldId id="264" r:id="rId5"/>
    <p:sldId id="266" r:id="rId6"/>
    <p:sldId id="267" r:id="rId7"/>
    <p:sldId id="268" r:id="rId8"/>
    <p:sldId id="269" r:id="rId9"/>
    <p:sldId id="270" r:id="rId10"/>
    <p:sldId id="271" r:id="rId11"/>
    <p:sldId id="272" r:id="rId12"/>
    <p:sldId id="273" r:id="rId13"/>
    <p:sldId id="274" r:id="rId14"/>
    <p:sldId id="275" r:id="rId15"/>
    <p:sldId id="277" r:id="rId16"/>
    <p:sldId id="303" r:id="rId17"/>
    <p:sldId id="259" r:id="rId18"/>
    <p:sldId id="281" r:id="rId19"/>
    <p:sldId id="301" r:id="rId20"/>
    <p:sldId id="302" r:id="rId21"/>
    <p:sldId id="304" r:id="rId22"/>
    <p:sldId id="305" r:id="rId23"/>
    <p:sldId id="306" r:id="rId24"/>
    <p:sldId id="307" r:id="rId25"/>
    <p:sldId id="308" r:id="rId26"/>
    <p:sldId id="289" r:id="rId27"/>
    <p:sldId id="290" r:id="rId28"/>
    <p:sldId id="293" r:id="rId29"/>
    <p:sldId id="294" r:id="rId30"/>
    <p:sldId id="292" r:id="rId31"/>
    <p:sldId id="295" r:id="rId32"/>
    <p:sldId id="296" r:id="rId33"/>
    <p:sldId id="297" r:id="rId34"/>
    <p:sldId id="298" r:id="rId35"/>
    <p:sldId id="299" r:id="rId36"/>
    <p:sldId id="309" r:id="rId37"/>
    <p:sldId id="310" r:id="rId38"/>
    <p:sldId id="283" r:id="rId3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9751CB"/>
    <a:srgbClr val="3B3838"/>
    <a:srgbClr val="3C3838"/>
    <a:srgbClr val="CC0000"/>
    <a:srgbClr val="4D4D4D"/>
    <a:srgbClr val="777777"/>
    <a:srgbClr val="0D0D0D"/>
    <a:srgbClr val="383838"/>
    <a:srgbClr val="958F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2" autoAdjust="0"/>
    <p:restoredTop sz="94660"/>
  </p:normalViewPr>
  <p:slideViewPr>
    <p:cSldViewPr snapToGrid="0">
      <p:cViewPr varScale="1">
        <p:scale>
          <a:sx n="114" d="100"/>
          <a:sy n="114" d="100"/>
        </p:scale>
        <p:origin x="14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00BF5B-33ED-4C68-92F5-BC1B6C3CDF1C}"/>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66DE5BF1-E5F1-466B-A17D-052516C2BF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C6C1D7EC-A642-412B-9039-2D301DF77A2B}"/>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398A6E47-F6D1-46DE-AE12-98A9363FDCFE}"/>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406B57B-D16A-4E1B-9D6F-BDD438303C05}"/>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667466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99D2224-3C44-43FD-A1ED-E59536E4EEA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306A2A1-0B5D-4E1D-8745-B0D7AFE61ABC}"/>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5842372-2370-4CB9-A8D1-2C2E9988F2BB}"/>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15BB1558-BA52-4348-BADC-01D257F0484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CA65B9A-58D5-49B5-80CD-E3658766BC27}"/>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346104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874763A-F5B9-4EC1-B7BF-20C818493C7E}"/>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49E944F-8DF0-486E-BADF-259D029756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B2D16689-CF36-441F-A1BD-3D47789091B8}"/>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D4074B86-1E7D-4D85-9607-FB383CCF680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9118FCC-AE9F-4E6D-8206-02CDFB19D348}"/>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3176060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22D5DD7-0E8C-4251-9DB2-0CC365D056A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32090D87-2FC0-4320-BAD6-6148885FC0C6}"/>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6503A257-EA71-4C90-8C43-47CDBD4629C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4BFFECAB-0787-4D53-8125-E4D2C3CFA59C}"/>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6" name="Segnaposto piè di pagina 5">
            <a:extLst>
              <a:ext uri="{FF2B5EF4-FFF2-40B4-BE49-F238E27FC236}">
                <a16:creationId xmlns:a16="http://schemas.microsoft.com/office/drawing/2014/main" id="{BC5FE862-115C-4022-8C59-BAD890F61BAC}"/>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2AB7234B-FEAF-4D8F-8825-2CF53806D7BD}"/>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817888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1D1949-B7A4-480D-BB1D-1E6E87098FDB}"/>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AB751A18-E04B-4841-BD68-E633D69BA1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BC64869E-2B5B-453E-82FD-43ACD9721ABB}"/>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8EC33421-D983-404D-BCE0-3714944806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3CAA3DE8-E66D-46A9-A7DC-F5FA7FF4A22D}"/>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2031D6D4-7F4F-42F2-8DF0-D1C27C43F8D4}"/>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8" name="Segnaposto piè di pagina 7">
            <a:extLst>
              <a:ext uri="{FF2B5EF4-FFF2-40B4-BE49-F238E27FC236}">
                <a16:creationId xmlns:a16="http://schemas.microsoft.com/office/drawing/2014/main" id="{76FCBCF3-0437-4066-BC95-39F1BB5CD22A}"/>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C8F49BAE-3B6A-4FFF-B429-C0EDF8ED4CC8}"/>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13974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3324DB-6860-492D-A61F-08D2ADC94B22}"/>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7D7A422B-B290-4B53-913E-916B3E28EBE2}"/>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4" name="Segnaposto piè di pagina 3">
            <a:extLst>
              <a:ext uri="{FF2B5EF4-FFF2-40B4-BE49-F238E27FC236}">
                <a16:creationId xmlns:a16="http://schemas.microsoft.com/office/drawing/2014/main" id="{A1F84735-76B7-49A8-8229-90164AE20DBF}"/>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445064AD-9305-4480-9257-C99868BE03E5}"/>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89577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DE87562D-DCCD-42B4-86A5-23AF4C088458}"/>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3" name="Segnaposto piè di pagina 2">
            <a:extLst>
              <a:ext uri="{FF2B5EF4-FFF2-40B4-BE49-F238E27FC236}">
                <a16:creationId xmlns:a16="http://schemas.microsoft.com/office/drawing/2014/main" id="{649BAB01-23E3-4381-A01C-6A6BBC38EF47}"/>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54F8944D-E6FD-457E-B805-7F4FF1280C23}"/>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394104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2A83C17-D67C-400B-8FD6-C49B6DC4DBE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8620124-0417-44D8-ACEF-4CA653AEDF6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64251DB5-82CD-4210-8361-0AE7C562DA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0BB2C27A-2CAF-416F-A3FA-07C4BE1431CF}"/>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6" name="Segnaposto piè di pagina 5">
            <a:extLst>
              <a:ext uri="{FF2B5EF4-FFF2-40B4-BE49-F238E27FC236}">
                <a16:creationId xmlns:a16="http://schemas.microsoft.com/office/drawing/2014/main" id="{04DA4502-5B08-4B39-9DC7-A186C1262542}"/>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16900C4-75AB-41B5-96FF-ED9AD57C491A}"/>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4012127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C76C38-5F4A-481F-8351-70CB304586E3}"/>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BC8F9BBB-A72F-4090-8B1F-CFFED56855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C25933E2-C5F1-4B70-ABC8-66A0C55D3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384D93B6-5CF9-4B46-8711-A12B61ED5FA6}"/>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6" name="Segnaposto piè di pagina 5">
            <a:extLst>
              <a:ext uri="{FF2B5EF4-FFF2-40B4-BE49-F238E27FC236}">
                <a16:creationId xmlns:a16="http://schemas.microsoft.com/office/drawing/2014/main" id="{7D4452FA-9EF9-4C49-ACE4-9DF8EF7BEF6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80598EB8-87FB-4211-BB03-2128252247D9}"/>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1557962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EF17FD-A795-4F61-A8EE-596B959DAFB3}"/>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ED1EDF4-C0BB-437A-8A28-41D69F3F7F01}"/>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A1EC6E1-87E6-47CB-B1B8-B8805A650BCF}"/>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5127D845-AF68-4025-8CE3-9B6C914CA95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BC6D0C1-03A1-4D41-9CA4-6DC4321533C6}"/>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1311798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96860A82-4694-4856-9C87-EDF2A53220D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FC2A4C49-0E6A-4F29-A589-85F0E274FC69}"/>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B3BA47D-3854-464F-8D6E-ECD45D6C43A8}"/>
              </a:ext>
            </a:extLst>
          </p:cNvPr>
          <p:cNvSpPr>
            <a:spLocks noGrp="1"/>
          </p:cNvSpPr>
          <p:nvPr>
            <p:ph type="dt" sz="half" idx="10"/>
          </p:nvPr>
        </p:nvSpPr>
        <p:spPr/>
        <p:txBody>
          <a:body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59268218-9CB6-4A65-B8EB-A5F2711FC27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8D986F9E-89E8-460D-9069-221B2277ED3A}"/>
              </a:ext>
            </a:extLst>
          </p:cNvPr>
          <p:cNvSpPr>
            <a:spLocks noGrp="1"/>
          </p:cNvSpPr>
          <p:nvPr>
            <p:ph type="sldNum" sz="quarter" idx="12"/>
          </p:nvPr>
        </p:nvSpPr>
        <p:spPr/>
        <p:txBody>
          <a:bodyPr/>
          <a:lstStyle/>
          <a:p>
            <a:fld id="{005BCFCE-BD46-4581-824C-FED15BC03999}" type="slidenum">
              <a:rPr lang="it-IT" smtClean="0"/>
              <a:t>‹N›</a:t>
            </a:fld>
            <a:endParaRPr lang="it-IT"/>
          </a:p>
        </p:txBody>
      </p:sp>
    </p:spTree>
    <p:extLst>
      <p:ext uri="{BB962C8B-B14F-4D97-AF65-F5344CB8AC3E}">
        <p14:creationId xmlns:p14="http://schemas.microsoft.com/office/powerpoint/2010/main" val="4142198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DD8FC06-E3E5-4E91-811A-41EE74940A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07C17413-8EF0-4E68-AE2D-A60B0EF82E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1A16FD4-71CA-4014-9395-56F1D1B28C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86338F-41F8-44A0-B5D6-7FF0EA5DEDF6}" type="datetimeFigureOut">
              <a:rPr lang="it-IT" smtClean="0"/>
              <a:t>18/05/2024</a:t>
            </a:fld>
            <a:endParaRPr lang="it-IT"/>
          </a:p>
        </p:txBody>
      </p:sp>
      <p:sp>
        <p:nvSpPr>
          <p:cNvPr id="5" name="Segnaposto piè di pagina 4">
            <a:extLst>
              <a:ext uri="{FF2B5EF4-FFF2-40B4-BE49-F238E27FC236}">
                <a16:creationId xmlns:a16="http://schemas.microsoft.com/office/drawing/2014/main" id="{EF97661B-6B2F-4741-BBC0-D74969F16B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3A39B01E-6A2D-4138-87A1-A2F0153F53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BCFCE-BD46-4581-824C-FED15BC03999}" type="slidenum">
              <a:rPr lang="it-IT" smtClean="0"/>
              <a:t>‹N›</a:t>
            </a:fld>
            <a:endParaRPr lang="it-IT"/>
          </a:p>
        </p:txBody>
      </p:sp>
    </p:spTree>
    <p:extLst>
      <p:ext uri="{BB962C8B-B14F-4D97-AF65-F5344CB8AC3E}">
        <p14:creationId xmlns:p14="http://schemas.microsoft.com/office/powerpoint/2010/main" val="3211352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7/06/relationships/model3d" Target="../media/model3d1.glb"/><Relationship Id="rId1" Type="http://schemas.openxmlformats.org/officeDocument/2006/relationships/slideLayout" Target="../slideLayouts/slideLayout2.xml"/><Relationship Id="rId5" Type="http://schemas.openxmlformats.org/officeDocument/2006/relationships/image" Target="../media/image6.png"/><Relationship Id="rId4" Type="http://schemas.microsoft.com/office/2017/06/relationships/model3d" Target="../media/model3d2.glb"/></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7/06/relationships/model3d" Target="../media/model3d1.glb"/><Relationship Id="rId1" Type="http://schemas.openxmlformats.org/officeDocument/2006/relationships/slideLayout" Target="../slideLayouts/slideLayout2.xml"/><Relationship Id="rId5" Type="http://schemas.openxmlformats.org/officeDocument/2006/relationships/image" Target="../media/image7.png"/><Relationship Id="rId4" Type="http://schemas.microsoft.com/office/2017/06/relationships/model3d" Target="../media/model3d2.glb"/></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7/06/relationships/model3d" Target="../media/model3d2.glb"/><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7/06/relationships/model3d" Target="../media/model3d2.glb"/><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5.png"/><Relationship Id="rId13" Type="http://schemas.microsoft.com/office/2017/06/relationships/model3d" Target="../media/model3d2.glb"/><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2" Type="http://schemas.microsoft.com/office/2017/06/relationships/model3d" Target="../media/model3d3.glb"/><Relationship Id="rId1" Type="http://schemas.openxmlformats.org/officeDocument/2006/relationships/slideLayout" Target="../slideLayouts/slideLayout2.xml"/><Relationship Id="rId6" Type="http://schemas.openxmlformats.org/officeDocument/2006/relationships/image" Target="../media/image13.png"/><Relationship Id="rId11" Type="http://schemas.microsoft.com/office/2017/06/relationships/model3d" Target="../media/model3d4.glb"/><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2" Type="http://schemas.microsoft.com/office/2017/06/relationships/model3d" Target="../media/model3d3.glb"/><Relationship Id="rId1" Type="http://schemas.openxmlformats.org/officeDocument/2006/relationships/slideLayout" Target="../slideLayouts/slideLayout2.xml"/><Relationship Id="rId6" Type="http://schemas.openxmlformats.org/officeDocument/2006/relationships/image" Target="../media/image13.png"/><Relationship Id="rId11" Type="http://schemas.microsoft.com/office/2017/06/relationships/model3d" Target="../media/model3d4.glb"/><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8.png"/><Relationship Id="rId2" Type="http://schemas.microsoft.com/office/2017/06/relationships/model3d" Target="../media/model3d3.glb"/><Relationship Id="rId1" Type="http://schemas.openxmlformats.org/officeDocument/2006/relationships/slideLayout" Target="../slideLayouts/slideLayout2.xml"/><Relationship Id="rId6" Type="http://schemas.openxmlformats.org/officeDocument/2006/relationships/image" Target="../media/image13.png"/><Relationship Id="rId11" Type="http://schemas.microsoft.com/office/2017/06/relationships/model3d" Target="../media/model3d4.glb"/><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25.gif"/><Relationship Id="rId3" Type="http://schemas.openxmlformats.org/officeDocument/2006/relationships/image" Target="../media/image20.png"/><Relationship Id="rId7" Type="http://schemas.openxmlformats.org/officeDocument/2006/relationships/image" Target="../media/image24.gif"/><Relationship Id="rId2" Type="http://schemas.microsoft.com/office/2017/06/relationships/model3d" Target="../media/model3d3.glb"/><Relationship Id="rId1" Type="http://schemas.openxmlformats.org/officeDocument/2006/relationships/slideLayout" Target="../slideLayouts/slideLayout2.xml"/><Relationship Id="rId6" Type="http://schemas.openxmlformats.org/officeDocument/2006/relationships/image" Target="../media/image23.gif"/><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8.gif"/><Relationship Id="rId3" Type="http://schemas.openxmlformats.org/officeDocument/2006/relationships/image" Target="../media/image26.png"/><Relationship Id="rId7" Type="http://schemas.openxmlformats.org/officeDocument/2006/relationships/image" Target="../media/image27.png"/><Relationship Id="rId2" Type="http://schemas.microsoft.com/office/2017/06/relationships/model3d" Target="../media/model3d5.glb"/><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microsoft.com/office/2017/06/relationships/model3d" Target="../media/model3d3.glb"/></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7/06/relationships/model3d" Target="../media/model3d3.glb"/><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7/06/relationships/model3d" Target="../media/model3d1.glb"/><Relationship Id="rId1" Type="http://schemas.openxmlformats.org/officeDocument/2006/relationships/slideLayout" Target="../slideLayouts/slideLayout2.xml"/><Relationship Id="rId5" Type="http://schemas.openxmlformats.org/officeDocument/2006/relationships/image" Target="../media/image29.png"/><Relationship Id="rId4" Type="http://schemas.microsoft.com/office/2017/06/relationships/model3d" Target="../media/model3d5.glb"/></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17/06/relationships/model3d" Target="../media/model3d2.glb"/><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microsoft.com/office/2017/06/relationships/model3d" Target="../media/model3d1.glb"/></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microsoft.com/office/2017/06/relationships/model3d" Target="../media/model3d2.glb"/><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3.png"/><Relationship Id="rId4" Type="http://schemas.microsoft.com/office/2017/06/relationships/model3d" Target="../media/model3d1.glb"/></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4.png"/><Relationship Id="rId7" Type="http://schemas.openxmlformats.org/officeDocument/2006/relationships/image" Target="../media/image35.png"/><Relationship Id="rId2" Type="http://schemas.microsoft.com/office/2017/06/relationships/model3d" Target="../media/model3d2.glb"/><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3.png"/><Relationship Id="rId4" Type="http://schemas.microsoft.com/office/2017/06/relationships/model3d" Target="../media/model3d1.glb"/><Relationship Id="rId9"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microsoft.com/office/2017/06/relationships/model3d" Target="../media/model3d2.glb"/><Relationship Id="rId1" Type="http://schemas.openxmlformats.org/officeDocument/2006/relationships/slideLayout" Target="../slideLayouts/slideLayout2.xml"/><Relationship Id="rId6" Type="http://schemas.microsoft.com/office/2017/06/relationships/model3d" Target="../media/model3d1.glb"/><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9.png"/><Relationship Id="rId2" Type="http://schemas.microsoft.com/office/2017/06/relationships/model3d" Target="../media/model3d2.glb"/><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microsoft.com/office/2017/06/relationships/model3d" Target="../media/model3d1.glb"/></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4.png"/><Relationship Id="rId7" Type="http://schemas.openxmlformats.org/officeDocument/2006/relationships/image" Target="../media/image41.png"/><Relationship Id="rId2" Type="http://schemas.microsoft.com/office/2017/06/relationships/model3d" Target="../media/model3d2.glb"/><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7.png"/><Relationship Id="rId4" Type="http://schemas.microsoft.com/office/2017/06/relationships/model3d" Target="../media/model3d1.glb"/><Relationship Id="rId9"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sellaDiTesto 10">
            <a:extLst>
              <a:ext uri="{FF2B5EF4-FFF2-40B4-BE49-F238E27FC236}">
                <a16:creationId xmlns:a16="http://schemas.microsoft.com/office/drawing/2014/main" id="{5B4140C5-0705-4258-8853-452F73CFB0B0}"/>
              </a:ext>
            </a:extLst>
          </p:cNvPr>
          <p:cNvSpPr txBox="1"/>
          <p:nvPr/>
        </p:nvSpPr>
        <p:spPr>
          <a:xfrm>
            <a:off x="2311400" y="5075362"/>
            <a:ext cx="7848600" cy="2215991"/>
          </a:xfrm>
          <a:prstGeom prst="rect">
            <a:avLst/>
          </a:prstGeom>
          <a:noFill/>
          <a:effectLst/>
        </p:spPr>
        <p:txBody>
          <a:bodyPr wrap="square" rtlCol="0">
            <a:spAutoFit/>
          </a:bodyPr>
          <a:lstStyle/>
          <a:p>
            <a:pPr>
              <a:spcBef>
                <a:spcPts val="2400"/>
              </a:spcBef>
            </a:pPr>
            <a:r>
              <a:rPr lang="en-US" sz="13800" dirty="0">
                <a:solidFill>
                  <a:srgbClr val="958F8F">
                    <a:alpha val="19000"/>
                  </a:srgbClr>
                </a:solidFill>
                <a:effectLst/>
                <a:latin typeface="Bebas Neue" panose="020B0606020202050201" pitchFamily="34" charset="0"/>
              </a:rPr>
              <a:t>C O N T E S T O</a:t>
            </a:r>
            <a:endParaRPr lang="it-IT" sz="4800" dirty="0">
              <a:solidFill>
                <a:srgbClr val="958F8F">
                  <a:alpha val="19000"/>
                </a:srgbClr>
              </a:solidFill>
              <a:effectLst/>
              <a:latin typeface="Bebas Neue" panose="020B0606020202050201" pitchFamily="34" charset="0"/>
            </a:endParaRPr>
          </a:p>
        </p:txBody>
      </p:sp>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8" cy="5698649"/>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CasellaDiTesto 4">
            <a:extLst>
              <a:ext uri="{FF2B5EF4-FFF2-40B4-BE49-F238E27FC236}">
                <a16:creationId xmlns:a16="http://schemas.microsoft.com/office/drawing/2014/main" id="{76AC8D7B-1569-41B3-9A7D-F81A22B4C8A9}"/>
              </a:ext>
            </a:extLst>
          </p:cNvPr>
          <p:cNvSpPr txBox="1"/>
          <p:nvPr/>
        </p:nvSpPr>
        <p:spPr>
          <a:xfrm>
            <a:off x="4864768" y="1323474"/>
            <a:ext cx="2462463" cy="584775"/>
          </a:xfrm>
          <a:prstGeom prst="rect">
            <a:avLst/>
          </a:prstGeom>
          <a:noFill/>
        </p:spPr>
        <p:txBody>
          <a:bodyPr wrap="square" rtlCol="0">
            <a:spAutoFit/>
          </a:bodyPr>
          <a:lstStyle/>
          <a:p>
            <a:r>
              <a:rPr lang="en-US" sz="3200" dirty="0">
                <a:solidFill>
                  <a:schemeClr val="bg1"/>
                </a:solidFill>
                <a:latin typeface="Bahnschrift Light" panose="020B0502040204020203" pitchFamily="34" charset="0"/>
              </a:rPr>
              <a:t>ALGORITMO</a:t>
            </a:r>
            <a:endParaRPr lang="it-IT" sz="3200" dirty="0">
              <a:solidFill>
                <a:schemeClr val="bg1"/>
              </a:solidFill>
              <a:latin typeface="Bahnschrift Light" panose="020B0502040204020203" pitchFamily="34" charset="0"/>
            </a:endParaRPr>
          </a:p>
        </p:txBody>
      </p:sp>
      <p:sp>
        <p:nvSpPr>
          <p:cNvPr id="4" name="CasellaDiTesto 3">
            <a:extLst>
              <a:ext uri="{FF2B5EF4-FFF2-40B4-BE49-F238E27FC236}">
                <a16:creationId xmlns:a16="http://schemas.microsoft.com/office/drawing/2014/main" id="{E4D29553-2AC0-400E-8069-D2A44DFCDCC8}"/>
              </a:ext>
            </a:extLst>
          </p:cNvPr>
          <p:cNvSpPr txBox="1"/>
          <p:nvPr/>
        </p:nvSpPr>
        <p:spPr>
          <a:xfrm>
            <a:off x="1106906" y="1908249"/>
            <a:ext cx="9978189" cy="2646878"/>
          </a:xfrm>
          <a:prstGeom prst="rect">
            <a:avLst/>
          </a:prstGeom>
          <a:noFill/>
          <a:effectLst/>
        </p:spPr>
        <p:txBody>
          <a:bodyPr wrap="square" rtlCol="0">
            <a:spAutoFit/>
          </a:bodyPr>
          <a:lstStyle/>
          <a:p>
            <a:r>
              <a:rPr lang="en-US" sz="16600" dirty="0">
                <a:solidFill>
                  <a:srgbClr val="3C6E71">
                    <a:alpha val="64000"/>
                  </a:srgbClr>
                </a:solidFill>
                <a:effectLst/>
                <a:latin typeface="Bebas Neue" panose="020B0606020202050201" pitchFamily="34" charset="0"/>
              </a:rPr>
              <a:t>BELLMAN-FORD</a:t>
            </a:r>
            <a:endParaRPr lang="it-IT" sz="5400" dirty="0">
              <a:solidFill>
                <a:srgbClr val="3C6E71">
                  <a:alpha val="64000"/>
                </a:srgbClr>
              </a:solidFill>
              <a:effectLst/>
              <a:latin typeface="Bebas Neue" panose="020B0606020202050201" pitchFamily="34" charset="0"/>
            </a:endParaRPr>
          </a:p>
        </p:txBody>
      </p:sp>
      <mc:AlternateContent xmlns:mc="http://schemas.openxmlformats.org/markup-compatibility/2006">
        <mc:Choice xmlns:am3d="http://schemas.microsoft.com/office/drawing/2017/model3d" Requires="am3d">
          <p:graphicFrame>
            <p:nvGraphicFramePr>
              <p:cNvPr id="7" name="Modello 3D 6">
                <a:extLst>
                  <a:ext uri="{FF2B5EF4-FFF2-40B4-BE49-F238E27FC236}">
                    <a16:creationId xmlns:a16="http://schemas.microsoft.com/office/drawing/2014/main" id="{119A12A3-F07B-44F0-A6CB-6E573D1DBBF7}"/>
                  </a:ext>
                </a:extLst>
              </p:cNvPr>
              <p:cNvGraphicFramePr>
                <a:graphicFrameLocks noChangeAspect="1"/>
              </p:cNvGraphicFramePr>
              <p:nvPr/>
            </p:nvGraphicFramePr>
            <p:xfrm>
              <a:off x="3411064" y="890084"/>
              <a:ext cx="5369871" cy="5077831"/>
            </p:xfrm>
            <a:graphic>
              <a:graphicData uri="http://schemas.microsoft.com/office/drawing/2017/model3d">
                <am3d:model3d r:embed="rId2">
                  <am3d:spPr>
                    <a:xfrm>
                      <a:off x="0" y="0"/>
                      <a:ext cx="5369871" cy="507783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8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Modello 3D 6">
                <a:extLst>
                  <a:ext uri="{FF2B5EF4-FFF2-40B4-BE49-F238E27FC236}">
                    <a16:creationId xmlns:a16="http://schemas.microsoft.com/office/drawing/2014/main" id="{119A12A3-F07B-44F0-A6CB-6E573D1DBBF7}"/>
                  </a:ext>
                </a:extLst>
              </p:cNvPr>
              <p:cNvPicPr>
                <a:picLocks noGrp="1" noRot="1" noChangeAspect="1" noMove="1" noResize="1" noEditPoints="1" noAdjustHandles="1" noChangeArrowheads="1" noChangeShapeType="1" noCrop="1"/>
              </p:cNvPicPr>
              <p:nvPr/>
            </p:nvPicPr>
            <p:blipFill>
              <a:blip r:embed="rId3"/>
              <a:stretch>
                <a:fillRect/>
              </a:stretch>
            </p:blipFill>
            <p:spPr>
              <a:xfrm>
                <a:off x="3411064" y="890084"/>
                <a:ext cx="5369871" cy="5077831"/>
              </a:xfrm>
              <a:prstGeom prst="rect">
                <a:avLst/>
              </a:prstGeom>
            </p:spPr>
          </p:pic>
        </mc:Fallback>
      </mc:AlternateContent>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9" name="CasellaDiTesto 8">
            <a:extLst>
              <a:ext uri="{FF2B5EF4-FFF2-40B4-BE49-F238E27FC236}">
                <a16:creationId xmlns:a16="http://schemas.microsoft.com/office/drawing/2014/main" id="{BCBD6365-180D-48E6-B2E5-0F2CC944E73E}"/>
              </a:ext>
            </a:extLst>
          </p:cNvPr>
          <p:cNvSpPr txBox="1"/>
          <p:nvPr/>
        </p:nvSpPr>
        <p:spPr>
          <a:xfrm>
            <a:off x="4008405" y="-4647391"/>
            <a:ext cx="4069681" cy="3785652"/>
          </a:xfrm>
          <a:prstGeom prst="rect">
            <a:avLst/>
          </a:prstGeom>
          <a:noFill/>
        </p:spPr>
        <p:txBody>
          <a:bodyPr wrap="square" rtlCol="0">
            <a:spAutoFit/>
          </a:bodyPr>
          <a:lstStyle/>
          <a:p>
            <a:pPr algn="ctr"/>
            <a:r>
              <a:rPr lang="it-IT" sz="2400" dirty="0">
                <a:solidFill>
                  <a:schemeClr val="bg1"/>
                </a:solidFill>
                <a:latin typeface="Bahnschrift Light" panose="020B0502040204020203" pitchFamily="34" charset="0"/>
              </a:rPr>
              <a:t>BOCALE CRISTIAN</a:t>
            </a:r>
          </a:p>
          <a:p>
            <a:pPr algn="ctr"/>
            <a:r>
              <a:rPr lang="it-IT" sz="2400" dirty="0">
                <a:solidFill>
                  <a:schemeClr val="bg1"/>
                </a:solidFill>
                <a:latin typeface="Bahnschrift Light" panose="020B0502040204020203" pitchFamily="34" charset="0"/>
              </a:rPr>
              <a:t>DI MAGGIO FEDERICO</a:t>
            </a:r>
          </a:p>
          <a:p>
            <a:pPr algn="ctr"/>
            <a:r>
              <a:rPr lang="it-IT" sz="2400" dirty="0">
                <a:solidFill>
                  <a:schemeClr val="bg1"/>
                </a:solidFill>
                <a:latin typeface="Bahnschrift Light" panose="020B0502040204020203" pitchFamily="34" charset="0"/>
              </a:rPr>
              <a:t>DI STOLFO SIMONE</a:t>
            </a:r>
          </a:p>
          <a:p>
            <a:pPr algn="ctr"/>
            <a:r>
              <a:rPr lang="it-IT" sz="2400" dirty="0">
                <a:solidFill>
                  <a:schemeClr val="bg1"/>
                </a:solidFill>
                <a:latin typeface="Bahnschrift Light" panose="020B0502040204020203" pitchFamily="34" charset="0"/>
              </a:rPr>
              <a:t>LOTTI MASSIMO</a:t>
            </a:r>
          </a:p>
          <a:p>
            <a:pPr algn="ctr"/>
            <a:r>
              <a:rPr lang="it-IT" sz="2400" dirty="0">
                <a:solidFill>
                  <a:schemeClr val="bg1"/>
                </a:solidFill>
                <a:latin typeface="Bahnschrift Light" panose="020B0502040204020203" pitchFamily="34" charset="0"/>
              </a:rPr>
              <a:t>NOTARANGELO SIMONCARLO</a:t>
            </a:r>
          </a:p>
          <a:p>
            <a:pPr algn="ctr"/>
            <a:r>
              <a:rPr lang="it-IT" sz="2400" dirty="0">
                <a:solidFill>
                  <a:schemeClr val="bg1"/>
                </a:solidFill>
                <a:latin typeface="Bahnschrift Light" panose="020B0502040204020203" pitchFamily="34" charset="0"/>
              </a:rPr>
              <a:t>PIAZZA BIAGIO</a:t>
            </a:r>
          </a:p>
          <a:p>
            <a:pPr algn="ctr"/>
            <a:r>
              <a:rPr lang="it-IT" sz="2400" dirty="0">
                <a:solidFill>
                  <a:schemeClr val="bg1"/>
                </a:solidFill>
                <a:latin typeface="Bahnschrift Light" panose="020B0502040204020203" pitchFamily="34" charset="0"/>
              </a:rPr>
              <a:t>SCARALE MATTEO</a:t>
            </a:r>
          </a:p>
          <a:p>
            <a:pPr algn="ctr"/>
            <a:r>
              <a:rPr lang="it-IT" sz="2400" dirty="0">
                <a:solidFill>
                  <a:schemeClr val="bg1"/>
                </a:solidFill>
                <a:latin typeface="Bahnschrift Light" panose="020B0502040204020203" pitchFamily="34" charset="0"/>
              </a:rPr>
              <a:t>STEFANIA GIUSEPPE</a:t>
            </a:r>
          </a:p>
          <a:p>
            <a:pPr algn="ctr"/>
            <a:r>
              <a:rPr lang="it-IT" sz="2400" dirty="0">
                <a:solidFill>
                  <a:schemeClr val="bg1"/>
                </a:solidFill>
                <a:latin typeface="Bahnschrift Light" panose="020B0502040204020203" pitchFamily="34" charset="0"/>
              </a:rPr>
              <a:t>TURCO ANDREA</a:t>
            </a:r>
          </a:p>
        </p:txBody>
      </p:sp>
    </p:spTree>
    <p:extLst>
      <p:ext uri="{BB962C8B-B14F-4D97-AF65-F5344CB8AC3E}">
        <p14:creationId xmlns:p14="http://schemas.microsoft.com/office/powerpoint/2010/main" val="4062644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67408" y="-142220"/>
            <a:ext cx="8671992" cy="7142439"/>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 name="CasellaDiTesto 3">
            <a:extLst>
              <a:ext uri="{FF2B5EF4-FFF2-40B4-BE49-F238E27FC236}">
                <a16:creationId xmlns:a16="http://schemas.microsoft.com/office/drawing/2014/main" id="{E4D29553-2AC0-400E-8069-D2A44DFCDCC8}"/>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mc:AlternateContent xmlns:mc="http://schemas.openxmlformats.org/markup-compatibility/2006">
        <mc:Choice xmlns:am3d="http://schemas.microsoft.com/office/drawing/2017/model3d" Requires="am3d">
          <p:graphicFrame>
            <p:nvGraphicFramePr>
              <p:cNvPr id="8" name="Modello 3D 7">
                <a:extLst>
                  <a:ext uri="{FF2B5EF4-FFF2-40B4-BE49-F238E27FC236}">
                    <a16:creationId xmlns:a16="http://schemas.microsoft.com/office/drawing/2014/main" id="{57B1F917-D59C-4EEC-93FF-F0BA54348300}"/>
                  </a:ext>
                </a:extLst>
              </p:cNvPr>
              <p:cNvGraphicFramePr>
                <a:graphicFrameLocks noChangeAspect="1"/>
              </p:cNvGraphicFramePr>
              <p:nvPr>
                <p:extLst>
                  <p:ext uri="{D42A27DB-BD31-4B8C-83A1-F6EECF244321}">
                    <p14:modId xmlns:p14="http://schemas.microsoft.com/office/powerpoint/2010/main" val="2940753787"/>
                  </p:ext>
                </p:extLst>
              </p:nvPr>
            </p:nvGraphicFramePr>
            <p:xfrm>
              <a:off x="6330579" y="411254"/>
              <a:ext cx="5273914" cy="6035490"/>
            </p:xfrm>
            <a:graphic>
              <a:graphicData uri="http://schemas.microsoft.com/office/drawing/2017/model3d">
                <am3d:model3d r:embed="rId2">
                  <am3d:spPr>
                    <a:xfrm>
                      <a:off x="0" y="0"/>
                      <a:ext cx="5273914" cy="6035490"/>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737152" ay="-1975515" az="-405044"/>
                    <am3d:postTrans dx="0" dy="0" dz="0"/>
                  </am3d:trans>
                  <am3d:raster rName="Office3DRenderer" rVer="16.0.8326">
                    <am3d:blip r:embed="rId3"/>
                  </am3d:raster>
                  <am3d:objViewport viewportSz="757768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Modello 3D 7">
                <a:extLst>
                  <a:ext uri="{FF2B5EF4-FFF2-40B4-BE49-F238E27FC236}">
                    <a16:creationId xmlns:a16="http://schemas.microsoft.com/office/drawing/2014/main" id="{57B1F917-D59C-4EEC-93FF-F0BA54348300}"/>
                  </a:ext>
                </a:extLst>
              </p:cNvPr>
              <p:cNvPicPr>
                <a:picLocks noGrp="1" noRot="1" noChangeAspect="1" noMove="1" noResize="1" noEditPoints="1" noAdjustHandles="1" noChangeArrowheads="1" noChangeShapeType="1" noCrop="1"/>
              </p:cNvPicPr>
              <p:nvPr/>
            </p:nvPicPr>
            <p:blipFill>
              <a:blip r:embed="rId3"/>
              <a:stretch>
                <a:fillRect/>
              </a:stretch>
            </p:blipFill>
            <p:spPr>
              <a:xfrm>
                <a:off x="6330579" y="411254"/>
                <a:ext cx="5273914" cy="6035490"/>
              </a:xfrm>
              <a:prstGeom prst="rect">
                <a:avLst/>
              </a:prstGeom>
            </p:spPr>
          </p:pic>
        </mc:Fallback>
      </mc:AlternateContent>
      <p:sp>
        <p:nvSpPr>
          <p:cNvPr id="2" name="CasellaDiTesto 1">
            <a:extLst>
              <a:ext uri="{FF2B5EF4-FFF2-40B4-BE49-F238E27FC236}">
                <a16:creationId xmlns:a16="http://schemas.microsoft.com/office/drawing/2014/main" id="{B86BA432-5832-4CBA-A2C3-0F8315E511B2}"/>
              </a:ext>
            </a:extLst>
          </p:cNvPr>
          <p:cNvSpPr txBox="1"/>
          <p:nvPr/>
        </p:nvSpPr>
        <p:spPr>
          <a:xfrm>
            <a:off x="587506" y="1507528"/>
            <a:ext cx="6114473" cy="1015663"/>
          </a:xfrm>
          <a:prstGeom prst="rect">
            <a:avLst/>
          </a:prstGeom>
          <a:noFill/>
        </p:spPr>
        <p:txBody>
          <a:bodyPr wrap="square" rtlCol="0">
            <a:spAutoFit/>
          </a:bodyPr>
          <a:lstStyle/>
          <a:p>
            <a:r>
              <a:rPr lang="en-US" sz="6000" dirty="0">
                <a:solidFill>
                  <a:schemeClr val="bg1"/>
                </a:solidFill>
                <a:latin typeface="LEMON MILK" panose="00000500000000000000" pitchFamily="50" charset="0"/>
              </a:rPr>
              <a:t>routing</a:t>
            </a:r>
            <a:endParaRPr lang="en-US" sz="3200"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672810" y="2391881"/>
            <a:ext cx="3793263"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3859A517-3E27-488F-A1D9-3B3317EBCD30}"/>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1900777"/>
          </a:xfrm>
          <a:prstGeom prst="rect">
            <a:avLst/>
          </a:prstGeom>
          <a:noFill/>
        </p:spPr>
        <p:txBody>
          <a:bodyPr wrap="square">
            <a:spAutoFit/>
          </a:bodyPr>
          <a:lstStyle/>
          <a:p>
            <a:pPr>
              <a:lnSpc>
                <a:spcPct val="150000"/>
              </a:lnSpc>
            </a:pPr>
            <a:r>
              <a:rPr lang="it-IT" sz="1600" b="0" i="0" dirty="0">
                <a:solidFill>
                  <a:srgbClr val="FFFFFF"/>
                </a:solidFill>
                <a:effectLst/>
                <a:latin typeface="Corbel Light" panose="020B0303020204020204" pitchFamily="34" charset="0"/>
              </a:rPr>
              <a:t>Uno degli aspetti più importanti di </a:t>
            </a:r>
            <a:r>
              <a:rPr lang="it-IT" sz="1600" b="1" i="0" dirty="0">
                <a:solidFill>
                  <a:srgbClr val="FFFFFF"/>
                </a:solidFill>
                <a:effectLst/>
                <a:latin typeface="Corbel Light" panose="020B0303020204020204" pitchFamily="34" charset="0"/>
              </a:rPr>
              <a:t>internet</a:t>
            </a:r>
            <a:r>
              <a:rPr lang="it-IT" sz="1600" b="0" i="0" dirty="0">
                <a:solidFill>
                  <a:srgbClr val="FFFFFF"/>
                </a:solidFill>
                <a:effectLst/>
                <a:latin typeface="Corbel Light" panose="020B0303020204020204" pitchFamily="34" charset="0"/>
              </a:rPr>
              <a:t> è la comunicazione tra </a:t>
            </a:r>
          </a:p>
          <a:p>
            <a:pPr>
              <a:lnSpc>
                <a:spcPct val="150000"/>
              </a:lnSpc>
            </a:pPr>
            <a:r>
              <a:rPr lang="it-IT" sz="1600" b="0" i="0" dirty="0">
                <a:solidFill>
                  <a:srgbClr val="FFFFFF"/>
                </a:solidFill>
                <a:effectLst/>
                <a:latin typeface="Corbel Light" panose="020B0303020204020204" pitchFamily="34" charset="0"/>
              </a:rPr>
              <a:t>dispositivi su reti diverse. In questo aspetto diventa fondamentale il </a:t>
            </a:r>
            <a:r>
              <a:rPr lang="it-IT" sz="1600" b="1" i="0" dirty="0">
                <a:solidFill>
                  <a:srgbClr val="FFFFFF"/>
                </a:solidFill>
                <a:effectLst/>
                <a:latin typeface="Corbel Light" panose="020B0303020204020204" pitchFamily="34" charset="0"/>
              </a:rPr>
              <a:t>processo di routing</a:t>
            </a:r>
            <a:r>
              <a:rPr lang="it-IT" sz="1600" b="0" i="0" dirty="0">
                <a:solidFill>
                  <a:srgbClr val="FFFFFF"/>
                </a:solidFill>
                <a:effectLst/>
                <a:latin typeface="Corbel Light" panose="020B0303020204020204" pitchFamily="34" charset="0"/>
              </a:rPr>
              <a:t> cioè la fase di instradamento dei pacchetti permettendo</a:t>
            </a:r>
          </a:p>
          <a:p>
            <a:pPr>
              <a:lnSpc>
                <a:spcPct val="150000"/>
              </a:lnSpc>
            </a:pPr>
            <a:r>
              <a:rPr lang="it-IT" sz="1600" b="0" i="0" dirty="0">
                <a:solidFill>
                  <a:srgbClr val="FFFFFF"/>
                </a:solidFill>
                <a:effectLst/>
                <a:latin typeface="Corbel Light" panose="020B0303020204020204" pitchFamily="34" charset="0"/>
              </a:rPr>
              <a:t>loro di </a:t>
            </a:r>
            <a:r>
              <a:rPr lang="it-IT" sz="1600" b="1" i="0" dirty="0">
                <a:solidFill>
                  <a:srgbClr val="FFFFFF"/>
                </a:solidFill>
                <a:effectLst/>
                <a:latin typeface="Corbel Light" panose="020B0303020204020204" pitchFamily="34" charset="0"/>
              </a:rPr>
              <a:t>raggiungere le corrette destinazioni</a:t>
            </a:r>
            <a:r>
              <a:rPr lang="it-IT" sz="1600" b="0" i="0" dirty="0">
                <a:solidFill>
                  <a:srgbClr val="FFFFFF"/>
                </a:solidFill>
                <a:effectLst/>
                <a:latin typeface="Corbel Light" panose="020B0303020204020204" pitchFamily="34" charset="0"/>
              </a:rPr>
              <a:t>. Il protagonista di questi</a:t>
            </a:r>
          </a:p>
          <a:p>
            <a:pPr>
              <a:lnSpc>
                <a:spcPct val="150000"/>
              </a:lnSpc>
            </a:pPr>
            <a:r>
              <a:rPr lang="it-IT" sz="1600" b="0" i="0" dirty="0">
                <a:solidFill>
                  <a:srgbClr val="FFFFFF"/>
                </a:solidFill>
                <a:effectLst/>
                <a:latin typeface="Corbel Light" panose="020B0303020204020204" pitchFamily="34" charset="0"/>
              </a:rPr>
              <a:t>processi è un dispositivo di livello 3: </a:t>
            </a:r>
            <a:r>
              <a:rPr lang="it-IT" sz="1600" b="1" i="0" dirty="0">
                <a:solidFill>
                  <a:srgbClr val="FFFFFF"/>
                </a:solidFill>
                <a:effectLst/>
                <a:latin typeface="Corbel Light" panose="020B0303020204020204" pitchFamily="34" charset="0"/>
              </a:rPr>
              <a:t>il Router.</a:t>
            </a:r>
            <a:endParaRPr lang="it-IT" sz="1600" dirty="0">
              <a:solidFill>
                <a:srgbClr val="FFFFFF"/>
              </a:solidFill>
              <a:effectLst/>
              <a:latin typeface="Corbel Light" panose="020B0303020204020204" pitchFamily="34" charset="0"/>
            </a:endParaRPr>
          </a:p>
        </p:txBody>
      </p:sp>
    </p:spTree>
    <p:extLst>
      <p:ext uri="{BB962C8B-B14F-4D97-AF65-F5344CB8AC3E}">
        <p14:creationId xmlns:p14="http://schemas.microsoft.com/office/powerpoint/2010/main" val="3178213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6308593" cy="7142439"/>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CasellaDiTesto 1">
            <a:extLst>
              <a:ext uri="{FF2B5EF4-FFF2-40B4-BE49-F238E27FC236}">
                <a16:creationId xmlns:a16="http://schemas.microsoft.com/office/drawing/2014/main" id="{B86BA432-5832-4CBA-A2C3-0F8315E511B2}"/>
              </a:ext>
            </a:extLst>
          </p:cNvPr>
          <p:cNvSpPr txBox="1"/>
          <p:nvPr/>
        </p:nvSpPr>
        <p:spPr>
          <a:xfrm>
            <a:off x="587506" y="1509851"/>
            <a:ext cx="6114473" cy="830997"/>
          </a:xfrm>
          <a:prstGeom prst="rect">
            <a:avLst/>
          </a:prstGeom>
          <a:noFill/>
        </p:spPr>
        <p:txBody>
          <a:bodyPr wrap="square" rtlCol="0">
            <a:spAutoFit/>
          </a:bodyPr>
          <a:lstStyle/>
          <a:p>
            <a:r>
              <a:rPr lang="en-US" sz="4800" dirty="0">
                <a:solidFill>
                  <a:schemeClr val="bg1"/>
                </a:solidFill>
                <a:latin typeface="LEMON MILK" panose="00000500000000000000" pitchFamily="50" charset="0"/>
              </a:rPr>
              <a:t>routing</a:t>
            </a:r>
            <a:endParaRPr lang="en-US"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672811" y="2391881"/>
            <a:ext cx="2908590"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mc:AlternateContent xmlns:mc="http://schemas.openxmlformats.org/markup-compatibility/2006">
        <mc:Choice xmlns:am3d="http://schemas.microsoft.com/office/drawing/2017/model3d" Requires="am3d">
          <p:graphicFrame>
            <p:nvGraphicFramePr>
              <p:cNvPr id="9" name="Modello 3D 8">
                <a:extLst>
                  <a:ext uri="{FF2B5EF4-FFF2-40B4-BE49-F238E27FC236}">
                    <a16:creationId xmlns:a16="http://schemas.microsoft.com/office/drawing/2014/main" id="{DFCD005A-1FB9-40E1-9D48-AF001C0FF1F4}"/>
                  </a:ext>
                </a:extLst>
              </p:cNvPr>
              <p:cNvGraphicFramePr>
                <a:graphicFrameLocks noChangeAspect="1"/>
              </p:cNvGraphicFramePr>
              <p:nvPr>
                <p:extLst>
                  <p:ext uri="{D42A27DB-BD31-4B8C-83A1-F6EECF244321}">
                    <p14:modId xmlns:p14="http://schemas.microsoft.com/office/powerpoint/2010/main" val="844011773"/>
                  </p:ext>
                </p:extLst>
              </p:nvPr>
            </p:nvGraphicFramePr>
            <p:xfrm>
              <a:off x="3478081" y="903414"/>
              <a:ext cx="5235835" cy="5007361"/>
            </p:xfrm>
            <a:graphic>
              <a:graphicData uri="http://schemas.microsoft.com/office/drawing/2017/model3d">
                <am3d:model3d r:embed="rId2">
                  <am3d:spPr>
                    <a:xfrm>
                      <a:off x="0" y="0"/>
                      <a:ext cx="5235835" cy="500736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9" name="Modello 3D 8">
                <a:extLst>
                  <a:ext uri="{FF2B5EF4-FFF2-40B4-BE49-F238E27FC236}">
                    <a16:creationId xmlns:a16="http://schemas.microsoft.com/office/drawing/2014/main" id="{DFCD005A-1FB9-40E1-9D48-AF001C0FF1F4}"/>
                  </a:ext>
                </a:extLst>
              </p:cNvPr>
              <p:cNvPicPr>
                <a:picLocks noGrp="1" noRot="1" noChangeAspect="1" noMove="1" noResize="1" noEditPoints="1" noAdjustHandles="1" noChangeArrowheads="1" noChangeShapeType="1" noCrop="1"/>
              </p:cNvPicPr>
              <p:nvPr/>
            </p:nvPicPr>
            <p:blipFill>
              <a:blip r:embed="rId3"/>
              <a:stretch>
                <a:fillRect/>
              </a:stretch>
            </p:blipFill>
            <p:spPr>
              <a:xfrm>
                <a:off x="3478081" y="903414"/>
                <a:ext cx="5235835" cy="5007361"/>
              </a:xfrm>
              <a:prstGeom prst="rect">
                <a:avLst/>
              </a:prstGeom>
            </p:spPr>
          </p:pic>
        </mc:Fallback>
      </mc:AlternateContent>
      <p:sp>
        <p:nvSpPr>
          <p:cNvPr id="10" name="CasellaDiTesto 9">
            <a:extLst>
              <a:ext uri="{FF2B5EF4-FFF2-40B4-BE49-F238E27FC236}">
                <a16:creationId xmlns:a16="http://schemas.microsoft.com/office/drawing/2014/main" id="{C58CF636-DA25-454F-B12A-DE74C8FF83AD}"/>
              </a:ext>
            </a:extLst>
          </p:cNvPr>
          <p:cNvSpPr txBox="1"/>
          <p:nvPr/>
        </p:nvSpPr>
        <p:spPr>
          <a:xfrm>
            <a:off x="587506" y="2608782"/>
            <a:ext cx="6308593" cy="423449"/>
          </a:xfrm>
          <a:prstGeom prst="rect">
            <a:avLst/>
          </a:prstGeom>
          <a:noFill/>
        </p:spPr>
        <p:txBody>
          <a:bodyPr wrap="square">
            <a:spAutoFit/>
          </a:bodyPr>
          <a:lstStyle/>
          <a:p>
            <a:pPr>
              <a:lnSpc>
                <a:spcPct val="150000"/>
              </a:lnSpc>
            </a:pPr>
            <a:r>
              <a:rPr lang="it-IT" sz="1600" dirty="0">
                <a:solidFill>
                  <a:srgbClr val="FFFFFF"/>
                </a:solidFill>
                <a:effectLst/>
                <a:latin typeface="Corbel Light" panose="020B0303020204020204" pitchFamily="34" charset="0"/>
              </a:rPr>
              <a:t>Esistono 2 tipi di instradamento:</a:t>
            </a:r>
          </a:p>
        </p:txBody>
      </p:sp>
      <p:sp>
        <p:nvSpPr>
          <p:cNvPr id="12" name="CasellaDiTesto 11">
            <a:extLst>
              <a:ext uri="{FF2B5EF4-FFF2-40B4-BE49-F238E27FC236}">
                <a16:creationId xmlns:a16="http://schemas.microsoft.com/office/drawing/2014/main" id="{85EE87B2-B0FD-41B6-A02D-4FE37C50C6B6}"/>
              </a:ext>
            </a:extLst>
          </p:cNvPr>
          <p:cNvSpPr txBox="1"/>
          <p:nvPr/>
        </p:nvSpPr>
        <p:spPr>
          <a:xfrm>
            <a:off x="853855" y="5064312"/>
            <a:ext cx="6308593" cy="464871"/>
          </a:xfrm>
          <a:prstGeom prst="rect">
            <a:avLst/>
          </a:prstGeom>
          <a:noFill/>
        </p:spPr>
        <p:txBody>
          <a:bodyPr wrap="square">
            <a:spAutoFit/>
          </a:bodyPr>
          <a:lstStyle/>
          <a:p>
            <a:pPr>
              <a:lnSpc>
                <a:spcPct val="150000"/>
              </a:lnSpc>
            </a:pPr>
            <a:r>
              <a:rPr lang="en-US" dirty="0">
                <a:solidFill>
                  <a:srgbClr val="FFFFFF"/>
                </a:solidFill>
                <a:effectLst/>
                <a:latin typeface="Corbel Light" panose="020B0303020204020204" pitchFamily="34" charset="0"/>
              </a:rPr>
              <a:t>DIRETTO</a:t>
            </a:r>
            <a:endParaRPr lang="it-IT" dirty="0">
              <a:solidFill>
                <a:srgbClr val="FFFFFF"/>
              </a:solidFill>
              <a:effectLst/>
              <a:latin typeface="Corbel Light" panose="020B0303020204020204" pitchFamily="34" charset="0"/>
            </a:endParaRPr>
          </a:p>
        </p:txBody>
      </p:sp>
      <p:sp>
        <p:nvSpPr>
          <p:cNvPr id="14" name="CasellaDiTesto 13">
            <a:extLst>
              <a:ext uri="{FF2B5EF4-FFF2-40B4-BE49-F238E27FC236}">
                <a16:creationId xmlns:a16="http://schemas.microsoft.com/office/drawing/2014/main" id="{B644269D-03B3-463A-A73B-253376DCC1C0}"/>
              </a:ext>
            </a:extLst>
          </p:cNvPr>
          <p:cNvSpPr txBox="1"/>
          <p:nvPr/>
        </p:nvSpPr>
        <p:spPr>
          <a:xfrm>
            <a:off x="836071" y="3028460"/>
            <a:ext cx="6308593" cy="464871"/>
          </a:xfrm>
          <a:prstGeom prst="rect">
            <a:avLst/>
          </a:prstGeom>
          <a:noFill/>
        </p:spPr>
        <p:txBody>
          <a:bodyPr wrap="square">
            <a:spAutoFit/>
          </a:bodyPr>
          <a:lstStyle/>
          <a:p>
            <a:pPr>
              <a:lnSpc>
                <a:spcPct val="150000"/>
              </a:lnSpc>
            </a:pPr>
            <a:r>
              <a:rPr lang="en-US" dirty="0">
                <a:solidFill>
                  <a:srgbClr val="FFFFFF"/>
                </a:solidFill>
                <a:latin typeface="Corbel Light" panose="020B0303020204020204" pitchFamily="34" charset="0"/>
              </a:rPr>
              <a:t>INDIRETTO</a:t>
            </a:r>
            <a:endParaRPr lang="it-IT" sz="1600" dirty="0">
              <a:solidFill>
                <a:srgbClr val="FFFFFF"/>
              </a:solidFill>
              <a:effectLst/>
              <a:latin typeface="Corbel Light" panose="020B0303020204020204" pitchFamily="34" charset="0"/>
            </a:endParaRPr>
          </a:p>
        </p:txBody>
      </p:sp>
      <p:sp>
        <p:nvSpPr>
          <p:cNvPr id="15" name="CasellaDiTesto 14">
            <a:extLst>
              <a:ext uri="{FF2B5EF4-FFF2-40B4-BE49-F238E27FC236}">
                <a16:creationId xmlns:a16="http://schemas.microsoft.com/office/drawing/2014/main" id="{3CD4075A-E996-42DF-9896-129BBCC07CAA}"/>
              </a:ext>
            </a:extLst>
          </p:cNvPr>
          <p:cNvSpPr txBox="1"/>
          <p:nvPr/>
        </p:nvSpPr>
        <p:spPr>
          <a:xfrm>
            <a:off x="690595" y="5501333"/>
            <a:ext cx="6148386" cy="830997"/>
          </a:xfrm>
          <a:prstGeom prst="rect">
            <a:avLst/>
          </a:prstGeom>
          <a:noFill/>
        </p:spPr>
        <p:txBody>
          <a:bodyPr wrap="square">
            <a:spAutoFit/>
          </a:bodyPr>
          <a:lstStyle/>
          <a:p>
            <a:r>
              <a:rPr lang="it-IT" sz="1600" dirty="0">
                <a:solidFill>
                  <a:srgbClr val="FFFFFF"/>
                </a:solidFill>
                <a:latin typeface="Corbel Light" panose="020B0303020204020204" pitchFamily="34" charset="0"/>
              </a:rPr>
              <a:t>Quando lo scambio dei </a:t>
            </a:r>
          </a:p>
          <a:p>
            <a:r>
              <a:rPr lang="it-IT" sz="1600" dirty="0">
                <a:solidFill>
                  <a:srgbClr val="FFFFFF"/>
                </a:solidFill>
                <a:latin typeface="Corbel Light" panose="020B0303020204020204" pitchFamily="34" charset="0"/>
              </a:rPr>
              <a:t>pacchetti IP avviene su una</a:t>
            </a:r>
          </a:p>
          <a:p>
            <a:r>
              <a:rPr lang="it-IT" sz="1600" dirty="0">
                <a:solidFill>
                  <a:srgbClr val="FFFFFF"/>
                </a:solidFill>
                <a:latin typeface="Corbel Light" panose="020B0303020204020204" pitchFamily="34" charset="0"/>
              </a:rPr>
              <a:t>sola rete logica senza coinvolgere router intermedi.</a:t>
            </a:r>
          </a:p>
        </p:txBody>
      </p:sp>
      <p:sp>
        <p:nvSpPr>
          <p:cNvPr id="16" name="CasellaDiTesto 15">
            <a:extLst>
              <a:ext uri="{FF2B5EF4-FFF2-40B4-BE49-F238E27FC236}">
                <a16:creationId xmlns:a16="http://schemas.microsoft.com/office/drawing/2014/main" id="{A6B6246B-BE47-46E7-857B-229579635C05}"/>
              </a:ext>
            </a:extLst>
          </p:cNvPr>
          <p:cNvSpPr txBox="1"/>
          <p:nvPr/>
        </p:nvSpPr>
        <p:spPr>
          <a:xfrm>
            <a:off x="747713" y="3427847"/>
            <a:ext cx="6148386" cy="1323439"/>
          </a:xfrm>
          <a:prstGeom prst="rect">
            <a:avLst/>
          </a:prstGeom>
          <a:noFill/>
        </p:spPr>
        <p:txBody>
          <a:bodyPr wrap="square">
            <a:spAutoFit/>
          </a:bodyPr>
          <a:lstStyle>
            <a:defPPr>
              <a:defRPr lang="it-IT"/>
            </a:defPPr>
            <a:lvl1pPr>
              <a:defRPr sz="1600">
                <a:solidFill>
                  <a:srgbClr val="FFFFFF"/>
                </a:solidFill>
                <a:latin typeface="Corbel Light" panose="020B0303020204020204" pitchFamily="34" charset="0"/>
              </a:defRPr>
            </a:lvl1pPr>
          </a:lstStyle>
          <a:p>
            <a:r>
              <a:rPr lang="it-IT" dirty="0"/>
              <a:t>Quando la comunicazione avviene tra</a:t>
            </a:r>
          </a:p>
          <a:p>
            <a:r>
              <a:rPr lang="it-IT" dirty="0"/>
              <a:t>dispositivi su reti logiche diverse attraverso </a:t>
            </a:r>
          </a:p>
          <a:p>
            <a:r>
              <a:rPr lang="it-IT" dirty="0"/>
              <a:t>router intermedi; il mittente dovrà però </a:t>
            </a:r>
          </a:p>
          <a:p>
            <a:r>
              <a:rPr lang="it-IT" dirty="0"/>
              <a:t>fornire o il next-hop oppure il </a:t>
            </a:r>
          </a:p>
          <a:p>
            <a:r>
              <a:rPr lang="it-IT" dirty="0"/>
              <a:t>default gateway</a:t>
            </a:r>
          </a:p>
        </p:txBody>
      </p:sp>
      <p:sp>
        <p:nvSpPr>
          <p:cNvPr id="17" name="Rettangolo 16">
            <a:extLst>
              <a:ext uri="{FF2B5EF4-FFF2-40B4-BE49-F238E27FC236}">
                <a16:creationId xmlns:a16="http://schemas.microsoft.com/office/drawing/2014/main" id="{B0F4BE0F-3F72-43CF-82A8-F282CF746643}"/>
              </a:ext>
            </a:extLst>
          </p:cNvPr>
          <p:cNvSpPr/>
          <p:nvPr/>
        </p:nvSpPr>
        <p:spPr>
          <a:xfrm>
            <a:off x="690595" y="3225968"/>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1C662FD7-1647-4F28-A747-427407D187A4}"/>
              </a:ext>
            </a:extLst>
          </p:cNvPr>
          <p:cNvSpPr/>
          <p:nvPr/>
        </p:nvSpPr>
        <p:spPr>
          <a:xfrm>
            <a:off x="708379" y="5265024"/>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CasellaDiTesto 18">
            <a:extLst>
              <a:ext uri="{FF2B5EF4-FFF2-40B4-BE49-F238E27FC236}">
                <a16:creationId xmlns:a16="http://schemas.microsoft.com/office/drawing/2014/main" id="{7BC847BE-E5DC-4E5B-8446-8BF79F5ACF32}"/>
              </a:ext>
            </a:extLst>
          </p:cNvPr>
          <p:cNvSpPr txBox="1"/>
          <p:nvPr/>
        </p:nvSpPr>
        <p:spPr>
          <a:xfrm>
            <a:off x="9057685" y="1670220"/>
            <a:ext cx="2652940" cy="1077218"/>
          </a:xfrm>
          <a:prstGeom prst="rect">
            <a:avLst/>
          </a:prstGeom>
          <a:noFill/>
        </p:spPr>
        <p:txBody>
          <a:bodyPr wrap="square" rtlCol="0">
            <a:spAutoFit/>
          </a:bodyPr>
          <a:lstStyle/>
          <a:p>
            <a:pPr algn="ctr"/>
            <a:r>
              <a:rPr lang="en-US" sz="3200" dirty="0" err="1">
                <a:solidFill>
                  <a:srgbClr val="3B3838"/>
                </a:solidFill>
                <a:latin typeface="LEMON MILK" panose="00000500000000000000" pitchFamily="50" charset="0"/>
              </a:rPr>
              <a:t>Tabella</a:t>
            </a:r>
            <a:r>
              <a:rPr lang="en-US" sz="3200" dirty="0">
                <a:solidFill>
                  <a:srgbClr val="3B3838"/>
                </a:solidFill>
                <a:latin typeface="LEMON MILK" panose="00000500000000000000" pitchFamily="50" charset="0"/>
              </a:rPr>
              <a:t> di</a:t>
            </a:r>
          </a:p>
          <a:p>
            <a:pPr algn="ctr"/>
            <a:r>
              <a:rPr lang="en-US" sz="3200" dirty="0">
                <a:solidFill>
                  <a:srgbClr val="3B3838"/>
                </a:solidFill>
                <a:latin typeface="LEMON MILK" panose="00000500000000000000" pitchFamily="50" charset="0"/>
              </a:rPr>
              <a:t>routing</a:t>
            </a:r>
            <a:endParaRPr lang="en-US" sz="1100" dirty="0">
              <a:solidFill>
                <a:srgbClr val="3B3838"/>
              </a:solidFill>
              <a:latin typeface="LEMON MILK" panose="00000500000000000000" pitchFamily="50" charset="0"/>
            </a:endParaRPr>
          </a:p>
        </p:txBody>
      </p:sp>
      <p:sp>
        <p:nvSpPr>
          <p:cNvPr id="21" name="CasellaDiTesto 20">
            <a:extLst>
              <a:ext uri="{FF2B5EF4-FFF2-40B4-BE49-F238E27FC236}">
                <a16:creationId xmlns:a16="http://schemas.microsoft.com/office/drawing/2014/main" id="{3D673725-319F-424A-A128-2A0A17C3E3FA}"/>
              </a:ext>
            </a:extLst>
          </p:cNvPr>
          <p:cNvSpPr txBox="1"/>
          <p:nvPr/>
        </p:nvSpPr>
        <p:spPr>
          <a:xfrm>
            <a:off x="8446371" y="2747438"/>
            <a:ext cx="3875568" cy="3293209"/>
          </a:xfrm>
          <a:prstGeom prst="rect">
            <a:avLst/>
          </a:prstGeom>
          <a:noFill/>
        </p:spPr>
        <p:txBody>
          <a:bodyPr wrap="square">
            <a:spAutoFit/>
          </a:bodyPr>
          <a:lstStyle/>
          <a:p>
            <a:r>
              <a:rPr lang="it-IT" sz="1600" dirty="0">
                <a:latin typeface="Corbel Light" panose="020B0303020204020204" pitchFamily="34" charset="0"/>
              </a:rPr>
              <a:t>I protocolli di instradamento si basano su tabelle chiamate “</a:t>
            </a:r>
            <a:r>
              <a:rPr lang="it-IT" sz="1600" b="1" dirty="0">
                <a:latin typeface="Corbel Light" panose="020B0303020204020204" pitchFamily="34" charset="0"/>
              </a:rPr>
              <a:t>routing </a:t>
            </a:r>
            <a:r>
              <a:rPr lang="it-IT" sz="1600" b="1" dirty="0" err="1">
                <a:latin typeface="Corbel Light" panose="020B0303020204020204" pitchFamily="34" charset="0"/>
              </a:rPr>
              <a:t>table</a:t>
            </a:r>
            <a:r>
              <a:rPr lang="it-IT" sz="1600" dirty="0">
                <a:latin typeface="Corbel Light" panose="020B0303020204020204" pitchFamily="34" charset="0"/>
              </a:rPr>
              <a:t>”, presenti su </a:t>
            </a:r>
            <a:r>
              <a:rPr lang="it-IT" sz="1600" dirty="0" err="1">
                <a:latin typeface="Corbel Light" panose="020B0303020204020204" pitchFamily="34" charset="0"/>
              </a:rPr>
              <a:t>host</a:t>
            </a:r>
            <a:r>
              <a:rPr lang="it-IT" sz="1600" dirty="0">
                <a:latin typeface="Corbel Light" panose="020B0303020204020204" pitchFamily="34" charset="0"/>
              </a:rPr>
              <a:t> e router e strutturate secondo il seguente modello: </a:t>
            </a:r>
          </a:p>
          <a:p>
            <a:r>
              <a:rPr lang="it-IT" sz="1600" dirty="0">
                <a:latin typeface="Corbel Light" panose="020B0303020204020204" pitchFamily="34" charset="0"/>
              </a:rPr>
              <a:t>Quando nella tabella viene trovata corrispondenza,</a:t>
            </a:r>
          </a:p>
          <a:p>
            <a:r>
              <a:rPr lang="it-IT" sz="1600" dirty="0">
                <a:latin typeface="Corbel Light" panose="020B0303020204020204" pitchFamily="34" charset="0"/>
              </a:rPr>
              <a:t>allora il router invierà i pacchetti </a:t>
            </a:r>
          </a:p>
          <a:p>
            <a:r>
              <a:rPr lang="it-IT" sz="1600" dirty="0">
                <a:latin typeface="Corbel Light" panose="020B0303020204020204" pitchFamily="34" charset="0"/>
              </a:rPr>
              <a:t>direttamente sul percorso stabilito,</a:t>
            </a:r>
          </a:p>
          <a:p>
            <a:r>
              <a:rPr lang="it-IT" sz="1600" dirty="0">
                <a:latin typeface="Corbel Light" panose="020B0303020204020204" pitchFamily="34" charset="0"/>
              </a:rPr>
              <a:t>      quando invece nella tabella non viene         </a:t>
            </a:r>
          </a:p>
          <a:p>
            <a:r>
              <a:rPr lang="it-IT" sz="1600" dirty="0">
                <a:latin typeface="Corbel Light" panose="020B0303020204020204" pitchFamily="34" charset="0"/>
              </a:rPr>
              <a:t>      trovata nessuna corrispondenza specifica </a:t>
            </a:r>
          </a:p>
          <a:p>
            <a:r>
              <a:rPr lang="it-IT" sz="1600" dirty="0">
                <a:latin typeface="Corbel Light" panose="020B0303020204020204" pitchFamily="34" charset="0"/>
              </a:rPr>
              <a:t>      con la destinazione, allora il pacchetto  </a:t>
            </a:r>
          </a:p>
          <a:p>
            <a:r>
              <a:rPr lang="it-IT" sz="1600" dirty="0">
                <a:latin typeface="Corbel Light" panose="020B0303020204020204" pitchFamily="34" charset="0"/>
              </a:rPr>
              <a:t>      viene mandato su un percorso predefinito chiamato default </a:t>
            </a:r>
            <a:r>
              <a:rPr lang="it-IT" sz="1600" dirty="0" err="1">
                <a:latin typeface="Corbel Light" panose="020B0303020204020204" pitchFamily="34" charset="0"/>
              </a:rPr>
              <a:t>route</a:t>
            </a:r>
            <a:endParaRPr lang="it-IT" sz="1600" dirty="0">
              <a:latin typeface="Corbel Light" panose="020B0303020204020204" pitchFamily="34" charset="0"/>
            </a:endParaRPr>
          </a:p>
        </p:txBody>
      </p:sp>
      <p:sp>
        <p:nvSpPr>
          <p:cNvPr id="27" name="CasellaDiTesto 26">
            <a:extLst>
              <a:ext uri="{FF2B5EF4-FFF2-40B4-BE49-F238E27FC236}">
                <a16:creationId xmlns:a16="http://schemas.microsoft.com/office/drawing/2014/main" id="{AD1708E5-EE9F-44AE-8014-AFE7749A3A85}"/>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8" name="CasellaDiTesto 27">
            <a:extLst>
              <a:ext uri="{FF2B5EF4-FFF2-40B4-BE49-F238E27FC236}">
                <a16:creationId xmlns:a16="http://schemas.microsoft.com/office/drawing/2014/main" id="{BC5A74E5-E317-4B91-ABBC-4C8DA55D62AB}"/>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1505851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7" y="-164123"/>
            <a:ext cx="3785032" cy="7142439"/>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CasellaDiTesto 1">
            <a:extLst>
              <a:ext uri="{FF2B5EF4-FFF2-40B4-BE49-F238E27FC236}">
                <a16:creationId xmlns:a16="http://schemas.microsoft.com/office/drawing/2014/main" id="{B86BA432-5832-4CBA-A2C3-0F8315E511B2}"/>
              </a:ext>
            </a:extLst>
          </p:cNvPr>
          <p:cNvSpPr txBox="1"/>
          <p:nvPr/>
        </p:nvSpPr>
        <p:spPr>
          <a:xfrm>
            <a:off x="-4723202" y="1509851"/>
            <a:ext cx="6114473" cy="830997"/>
          </a:xfrm>
          <a:prstGeom prst="rect">
            <a:avLst/>
          </a:prstGeom>
          <a:noFill/>
        </p:spPr>
        <p:txBody>
          <a:bodyPr wrap="square" rtlCol="0">
            <a:spAutoFit/>
          </a:bodyPr>
          <a:lstStyle/>
          <a:p>
            <a:r>
              <a:rPr lang="en-US" sz="4800" dirty="0">
                <a:solidFill>
                  <a:schemeClr val="bg1"/>
                </a:solidFill>
                <a:latin typeface="LEMON MILK" panose="00000500000000000000" pitchFamily="50" charset="0"/>
              </a:rPr>
              <a:t>routing</a:t>
            </a:r>
            <a:endParaRPr lang="en-US"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4637897" y="2391881"/>
            <a:ext cx="2908590"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10" name="CasellaDiTesto 9">
            <a:extLst>
              <a:ext uri="{FF2B5EF4-FFF2-40B4-BE49-F238E27FC236}">
                <a16:creationId xmlns:a16="http://schemas.microsoft.com/office/drawing/2014/main" id="{C58CF636-DA25-454F-B12A-DE74C8FF83AD}"/>
              </a:ext>
            </a:extLst>
          </p:cNvPr>
          <p:cNvSpPr txBox="1"/>
          <p:nvPr/>
        </p:nvSpPr>
        <p:spPr>
          <a:xfrm>
            <a:off x="-4723202" y="2608782"/>
            <a:ext cx="6308593" cy="423449"/>
          </a:xfrm>
          <a:prstGeom prst="rect">
            <a:avLst/>
          </a:prstGeom>
          <a:noFill/>
        </p:spPr>
        <p:txBody>
          <a:bodyPr wrap="square">
            <a:spAutoFit/>
          </a:bodyPr>
          <a:lstStyle/>
          <a:p>
            <a:pPr>
              <a:lnSpc>
                <a:spcPct val="150000"/>
              </a:lnSpc>
            </a:pPr>
            <a:r>
              <a:rPr lang="it-IT" sz="1600" dirty="0">
                <a:solidFill>
                  <a:srgbClr val="FFFFFF"/>
                </a:solidFill>
                <a:effectLst/>
                <a:latin typeface="Corbel Light" panose="020B0303020204020204" pitchFamily="34" charset="0"/>
              </a:rPr>
              <a:t>Esistono 2 tipi di instradamento:</a:t>
            </a:r>
          </a:p>
        </p:txBody>
      </p:sp>
      <p:sp>
        <p:nvSpPr>
          <p:cNvPr id="12" name="CasellaDiTesto 11">
            <a:extLst>
              <a:ext uri="{FF2B5EF4-FFF2-40B4-BE49-F238E27FC236}">
                <a16:creationId xmlns:a16="http://schemas.microsoft.com/office/drawing/2014/main" id="{85EE87B2-B0FD-41B6-A02D-4FE37C50C6B6}"/>
              </a:ext>
            </a:extLst>
          </p:cNvPr>
          <p:cNvSpPr txBox="1"/>
          <p:nvPr/>
        </p:nvSpPr>
        <p:spPr>
          <a:xfrm>
            <a:off x="-4456853" y="5084978"/>
            <a:ext cx="6308593" cy="423449"/>
          </a:xfrm>
          <a:prstGeom prst="rect">
            <a:avLst/>
          </a:prstGeom>
          <a:noFill/>
        </p:spPr>
        <p:txBody>
          <a:bodyPr wrap="square">
            <a:spAutoFit/>
          </a:bodyPr>
          <a:lstStyle/>
          <a:p>
            <a:pPr>
              <a:lnSpc>
                <a:spcPct val="150000"/>
              </a:lnSpc>
            </a:pPr>
            <a:r>
              <a:rPr lang="en-US" sz="1600" dirty="0">
                <a:solidFill>
                  <a:srgbClr val="FFFFFF"/>
                </a:solidFill>
                <a:effectLst/>
                <a:latin typeface="Corbel Light" panose="020B0303020204020204" pitchFamily="34" charset="0"/>
              </a:rPr>
              <a:t>DIRETTO</a:t>
            </a:r>
            <a:endParaRPr lang="it-IT" sz="1600" dirty="0">
              <a:solidFill>
                <a:srgbClr val="FFFFFF"/>
              </a:solidFill>
              <a:effectLst/>
              <a:latin typeface="Corbel Light" panose="020B0303020204020204" pitchFamily="34" charset="0"/>
            </a:endParaRPr>
          </a:p>
        </p:txBody>
      </p:sp>
      <p:sp>
        <p:nvSpPr>
          <p:cNvPr id="14" name="CasellaDiTesto 13">
            <a:extLst>
              <a:ext uri="{FF2B5EF4-FFF2-40B4-BE49-F238E27FC236}">
                <a16:creationId xmlns:a16="http://schemas.microsoft.com/office/drawing/2014/main" id="{B644269D-03B3-463A-A73B-253376DCC1C0}"/>
              </a:ext>
            </a:extLst>
          </p:cNvPr>
          <p:cNvSpPr txBox="1"/>
          <p:nvPr/>
        </p:nvSpPr>
        <p:spPr>
          <a:xfrm>
            <a:off x="-4474637" y="3051439"/>
            <a:ext cx="6308593" cy="423449"/>
          </a:xfrm>
          <a:prstGeom prst="rect">
            <a:avLst/>
          </a:prstGeom>
          <a:noFill/>
        </p:spPr>
        <p:txBody>
          <a:bodyPr wrap="square">
            <a:spAutoFit/>
          </a:bodyPr>
          <a:lstStyle/>
          <a:p>
            <a:pPr>
              <a:lnSpc>
                <a:spcPct val="150000"/>
              </a:lnSpc>
            </a:pPr>
            <a:r>
              <a:rPr lang="en-US" sz="1600" dirty="0">
                <a:solidFill>
                  <a:srgbClr val="FFFFFF"/>
                </a:solidFill>
                <a:latin typeface="Corbel Light" panose="020B0303020204020204" pitchFamily="34" charset="0"/>
              </a:rPr>
              <a:t>INDIRETTO</a:t>
            </a:r>
            <a:endParaRPr lang="it-IT" sz="1600" dirty="0">
              <a:solidFill>
                <a:srgbClr val="FFFFFF"/>
              </a:solidFill>
              <a:effectLst/>
              <a:latin typeface="Corbel Light" panose="020B0303020204020204" pitchFamily="34" charset="0"/>
            </a:endParaRPr>
          </a:p>
        </p:txBody>
      </p:sp>
      <p:sp>
        <p:nvSpPr>
          <p:cNvPr id="15" name="CasellaDiTesto 14">
            <a:extLst>
              <a:ext uri="{FF2B5EF4-FFF2-40B4-BE49-F238E27FC236}">
                <a16:creationId xmlns:a16="http://schemas.microsoft.com/office/drawing/2014/main" id="{3CD4075A-E996-42DF-9896-129BBCC07CAA}"/>
              </a:ext>
            </a:extLst>
          </p:cNvPr>
          <p:cNvSpPr txBox="1"/>
          <p:nvPr/>
        </p:nvSpPr>
        <p:spPr>
          <a:xfrm>
            <a:off x="-4620113" y="5501333"/>
            <a:ext cx="6148386" cy="830997"/>
          </a:xfrm>
          <a:prstGeom prst="rect">
            <a:avLst/>
          </a:prstGeom>
          <a:noFill/>
        </p:spPr>
        <p:txBody>
          <a:bodyPr wrap="square">
            <a:spAutoFit/>
          </a:bodyPr>
          <a:lstStyle/>
          <a:p>
            <a:r>
              <a:rPr lang="it-IT" sz="1600" dirty="0">
                <a:solidFill>
                  <a:srgbClr val="FFFFFF"/>
                </a:solidFill>
                <a:latin typeface="Corbel Light" panose="020B0303020204020204" pitchFamily="34" charset="0"/>
              </a:rPr>
              <a:t>Quando lo scambio dei </a:t>
            </a:r>
          </a:p>
          <a:p>
            <a:r>
              <a:rPr lang="it-IT" sz="1600" dirty="0">
                <a:solidFill>
                  <a:srgbClr val="FFFFFF"/>
                </a:solidFill>
                <a:latin typeface="Corbel Light" panose="020B0303020204020204" pitchFamily="34" charset="0"/>
              </a:rPr>
              <a:t>pacchetti IP avviene su una</a:t>
            </a:r>
          </a:p>
          <a:p>
            <a:r>
              <a:rPr lang="it-IT" sz="1600" dirty="0">
                <a:solidFill>
                  <a:srgbClr val="FFFFFF"/>
                </a:solidFill>
                <a:latin typeface="Corbel Light" panose="020B0303020204020204" pitchFamily="34" charset="0"/>
              </a:rPr>
              <a:t>sola rete logica senza coinvolgere router intermedi.</a:t>
            </a:r>
          </a:p>
        </p:txBody>
      </p:sp>
      <p:sp>
        <p:nvSpPr>
          <p:cNvPr id="16" name="CasellaDiTesto 15">
            <a:extLst>
              <a:ext uri="{FF2B5EF4-FFF2-40B4-BE49-F238E27FC236}">
                <a16:creationId xmlns:a16="http://schemas.microsoft.com/office/drawing/2014/main" id="{A6B6246B-BE47-46E7-857B-229579635C05}"/>
              </a:ext>
            </a:extLst>
          </p:cNvPr>
          <p:cNvSpPr txBox="1"/>
          <p:nvPr/>
        </p:nvSpPr>
        <p:spPr>
          <a:xfrm>
            <a:off x="-4562995" y="3427847"/>
            <a:ext cx="6148386" cy="1323439"/>
          </a:xfrm>
          <a:prstGeom prst="rect">
            <a:avLst/>
          </a:prstGeom>
          <a:noFill/>
        </p:spPr>
        <p:txBody>
          <a:bodyPr wrap="square">
            <a:spAutoFit/>
          </a:bodyPr>
          <a:lstStyle>
            <a:defPPr>
              <a:defRPr lang="it-IT"/>
            </a:defPPr>
            <a:lvl1pPr>
              <a:defRPr sz="1600">
                <a:solidFill>
                  <a:srgbClr val="FFFFFF"/>
                </a:solidFill>
                <a:latin typeface="Corbel Light" panose="020B0303020204020204" pitchFamily="34" charset="0"/>
              </a:defRPr>
            </a:lvl1pPr>
          </a:lstStyle>
          <a:p>
            <a:r>
              <a:rPr lang="it-IT" dirty="0"/>
              <a:t>Quando la comunicazione avviene tra</a:t>
            </a:r>
          </a:p>
          <a:p>
            <a:r>
              <a:rPr lang="it-IT" dirty="0"/>
              <a:t>dispositivi su reti logiche diverse attraverso </a:t>
            </a:r>
          </a:p>
          <a:p>
            <a:r>
              <a:rPr lang="it-IT" dirty="0"/>
              <a:t>router intermedi; il mittente dovrà però </a:t>
            </a:r>
          </a:p>
          <a:p>
            <a:r>
              <a:rPr lang="it-IT" dirty="0"/>
              <a:t>fornire o il next-hop oppure il </a:t>
            </a:r>
          </a:p>
          <a:p>
            <a:r>
              <a:rPr lang="it-IT" dirty="0"/>
              <a:t>default gateway</a:t>
            </a:r>
          </a:p>
        </p:txBody>
      </p:sp>
      <p:sp>
        <p:nvSpPr>
          <p:cNvPr id="17" name="Rettangolo 16">
            <a:extLst>
              <a:ext uri="{FF2B5EF4-FFF2-40B4-BE49-F238E27FC236}">
                <a16:creationId xmlns:a16="http://schemas.microsoft.com/office/drawing/2014/main" id="{B0F4BE0F-3F72-43CF-82A8-F282CF746643}"/>
              </a:ext>
            </a:extLst>
          </p:cNvPr>
          <p:cNvSpPr/>
          <p:nvPr/>
        </p:nvSpPr>
        <p:spPr>
          <a:xfrm>
            <a:off x="-4620113" y="3225968"/>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1C662FD7-1647-4F28-A747-427407D187A4}"/>
              </a:ext>
            </a:extLst>
          </p:cNvPr>
          <p:cNvSpPr/>
          <p:nvPr/>
        </p:nvSpPr>
        <p:spPr>
          <a:xfrm>
            <a:off x="-4602329" y="5265024"/>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3237E52D-5AF8-460B-8414-382D50DA1587}"/>
                  </a:ext>
                </a:extLst>
              </p:cNvPr>
              <p:cNvGraphicFramePr>
                <a:graphicFrameLocks noChangeAspect="1"/>
              </p:cNvGraphicFramePr>
              <p:nvPr>
                <p:extLst>
                  <p:ext uri="{D42A27DB-BD31-4B8C-83A1-F6EECF244321}">
                    <p14:modId xmlns:p14="http://schemas.microsoft.com/office/powerpoint/2010/main" val="2096982659"/>
                  </p:ext>
                </p:extLst>
              </p:nvPr>
            </p:nvGraphicFramePr>
            <p:xfrm>
              <a:off x="558947" y="436949"/>
              <a:ext cx="5292954" cy="5940292"/>
            </p:xfrm>
            <a:graphic>
              <a:graphicData uri="http://schemas.microsoft.com/office/drawing/2017/model3d">
                <am3d:model3d r:embed="rId2">
                  <am3d:spPr>
                    <a:xfrm>
                      <a:off x="0" y="0"/>
                      <a:ext cx="5292954" cy="5940292"/>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631470" ay="2007968" az="350965"/>
                    <am3d:postTrans dx="0" dy="0" dz="0"/>
                  </am3d:trans>
                  <am3d:raster rName="Office3DRenderer" rVer="16.0.8326">
                    <am3d:blip r:embed="rId3"/>
                  </am3d:raster>
                  <am3d:objViewport viewportSz="757768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3237E52D-5AF8-460B-8414-382D50DA1587}"/>
                  </a:ext>
                </a:extLst>
              </p:cNvPr>
              <p:cNvPicPr>
                <a:picLocks noGrp="1" noRot="1" noChangeAspect="1" noMove="1" noResize="1" noEditPoints="1" noAdjustHandles="1" noChangeArrowheads="1" noChangeShapeType="1" noCrop="1"/>
              </p:cNvPicPr>
              <p:nvPr/>
            </p:nvPicPr>
            <p:blipFill>
              <a:blip r:embed="rId3"/>
              <a:stretch>
                <a:fillRect/>
              </a:stretch>
            </p:blipFill>
            <p:spPr>
              <a:xfrm>
                <a:off x="558947" y="436949"/>
                <a:ext cx="5292954" cy="5940292"/>
              </a:xfrm>
              <a:prstGeom prst="rect">
                <a:avLst/>
              </a:prstGeom>
            </p:spPr>
          </p:pic>
        </mc:Fallback>
      </mc:AlternateContent>
      <p:sp>
        <p:nvSpPr>
          <p:cNvPr id="23" name="CasellaDiTesto 22">
            <a:extLst>
              <a:ext uri="{FF2B5EF4-FFF2-40B4-BE49-F238E27FC236}">
                <a16:creationId xmlns:a16="http://schemas.microsoft.com/office/drawing/2014/main" id="{52629137-2AB4-4511-A2BD-01B73D80F79A}"/>
              </a:ext>
            </a:extLst>
          </p:cNvPr>
          <p:cNvSpPr txBox="1"/>
          <p:nvPr/>
        </p:nvSpPr>
        <p:spPr>
          <a:xfrm>
            <a:off x="6021875" y="1432907"/>
            <a:ext cx="5011658" cy="1815882"/>
          </a:xfrm>
          <a:prstGeom prst="rect">
            <a:avLst/>
          </a:prstGeom>
          <a:noFill/>
        </p:spPr>
        <p:txBody>
          <a:bodyPr wrap="square">
            <a:spAutoFit/>
          </a:bodyPr>
          <a:lstStyle/>
          <a:p>
            <a:pPr algn="ctr"/>
            <a:r>
              <a:rPr lang="it-IT" sz="1600" dirty="0">
                <a:latin typeface="Corbel Light" panose="020B0303020204020204" pitchFamily="34" charset="0"/>
              </a:rPr>
              <a:t>Il routing statico coinvolge la configurazione manuale delle rotte da parte dell'amministratore di rete, creando una routing </a:t>
            </a:r>
            <a:r>
              <a:rPr lang="it-IT" sz="1600" dirty="0" err="1">
                <a:latin typeface="Corbel Light" panose="020B0303020204020204" pitchFamily="34" charset="0"/>
              </a:rPr>
              <a:t>table</a:t>
            </a:r>
            <a:r>
              <a:rPr lang="it-IT" sz="1600" dirty="0">
                <a:latin typeface="Corbel Light" panose="020B0303020204020204" pitchFamily="34" charset="0"/>
              </a:rPr>
              <a:t> fissa. Questo metodo non è adattabile ai cambiamenti della rete ed è meno scalabile, poiché richiede aggiornamenti manuali delle rotte per qualsiasi modifica. È tipicamente utilizzato in reti di dimensioni ridotte o con topologie stabili e prevedibili.</a:t>
            </a:r>
          </a:p>
        </p:txBody>
      </p:sp>
      <p:sp>
        <p:nvSpPr>
          <p:cNvPr id="25" name="CasellaDiTesto 24">
            <a:extLst>
              <a:ext uri="{FF2B5EF4-FFF2-40B4-BE49-F238E27FC236}">
                <a16:creationId xmlns:a16="http://schemas.microsoft.com/office/drawing/2014/main" id="{21E0E28C-D42E-4527-8DB5-5765012C9A6E}"/>
              </a:ext>
            </a:extLst>
          </p:cNvPr>
          <p:cNvSpPr txBox="1"/>
          <p:nvPr/>
        </p:nvSpPr>
        <p:spPr>
          <a:xfrm>
            <a:off x="5919255" y="4502559"/>
            <a:ext cx="5114278" cy="1815882"/>
          </a:xfrm>
          <a:prstGeom prst="rect">
            <a:avLst/>
          </a:prstGeom>
          <a:noFill/>
        </p:spPr>
        <p:txBody>
          <a:bodyPr wrap="square">
            <a:spAutoFit/>
          </a:bodyPr>
          <a:lstStyle/>
          <a:p>
            <a:pPr algn="ctr"/>
            <a:r>
              <a:rPr lang="it-IT" sz="1600" dirty="0">
                <a:latin typeface="Corbel Light" panose="020B0303020204020204" pitchFamily="34" charset="0"/>
              </a:rPr>
              <a:t>Il routing dinamico si basa su algoritmi che calcolano automaticamente i percorsi ottimali. Questo approccio si adatta dinamicamente ai cambiamenti della rete, fornendo un'efficienza superiore in reti più grandi o in evoluzione continua. Elimina la necessità per l'amministratore di rete di configurare manualmente le rotte, migliorando la velocità e l'efficacia complessiva della rete.</a:t>
            </a:r>
          </a:p>
        </p:txBody>
      </p:sp>
      <p:sp>
        <p:nvSpPr>
          <p:cNvPr id="26" name="CasellaDiTesto 25">
            <a:extLst>
              <a:ext uri="{FF2B5EF4-FFF2-40B4-BE49-F238E27FC236}">
                <a16:creationId xmlns:a16="http://schemas.microsoft.com/office/drawing/2014/main" id="{C03F4653-6DF4-4E57-81E0-A66C3F4BDB23}"/>
              </a:ext>
            </a:extLst>
          </p:cNvPr>
          <p:cNvSpPr txBox="1"/>
          <p:nvPr/>
        </p:nvSpPr>
        <p:spPr>
          <a:xfrm>
            <a:off x="6296464" y="868054"/>
            <a:ext cx="4474307" cy="584775"/>
          </a:xfrm>
          <a:prstGeom prst="rect">
            <a:avLst/>
          </a:prstGeom>
          <a:noFill/>
        </p:spPr>
        <p:txBody>
          <a:bodyPr wrap="square" rtlCol="0">
            <a:spAutoFit/>
          </a:bodyPr>
          <a:lstStyle/>
          <a:p>
            <a:pPr algn="ctr"/>
            <a:r>
              <a:rPr lang="en-US" sz="3200" dirty="0">
                <a:solidFill>
                  <a:srgbClr val="3B3838"/>
                </a:solidFill>
                <a:latin typeface="LEMON MILK" panose="00000500000000000000" pitchFamily="50" charset="0"/>
              </a:rPr>
              <a:t>Routing </a:t>
            </a:r>
            <a:r>
              <a:rPr lang="en-US" sz="3200" dirty="0" err="1">
                <a:solidFill>
                  <a:srgbClr val="3B3838"/>
                </a:solidFill>
                <a:latin typeface="LEMON MILK" panose="00000500000000000000" pitchFamily="50" charset="0"/>
              </a:rPr>
              <a:t>statico</a:t>
            </a:r>
            <a:endParaRPr lang="en-US" sz="3200" dirty="0">
              <a:solidFill>
                <a:srgbClr val="3B3838"/>
              </a:solidFill>
              <a:latin typeface="LEMON MILK" panose="00000500000000000000" pitchFamily="50" charset="0"/>
            </a:endParaRPr>
          </a:p>
        </p:txBody>
      </p:sp>
      <p:sp>
        <p:nvSpPr>
          <p:cNvPr id="27" name="CasellaDiTesto 26">
            <a:extLst>
              <a:ext uri="{FF2B5EF4-FFF2-40B4-BE49-F238E27FC236}">
                <a16:creationId xmlns:a16="http://schemas.microsoft.com/office/drawing/2014/main" id="{98DD157F-CBD0-4783-A4D2-1E079432665F}"/>
              </a:ext>
            </a:extLst>
          </p:cNvPr>
          <p:cNvSpPr txBox="1"/>
          <p:nvPr/>
        </p:nvSpPr>
        <p:spPr>
          <a:xfrm>
            <a:off x="6296464" y="3982775"/>
            <a:ext cx="4474307" cy="584775"/>
          </a:xfrm>
          <a:prstGeom prst="rect">
            <a:avLst/>
          </a:prstGeom>
          <a:noFill/>
        </p:spPr>
        <p:txBody>
          <a:bodyPr wrap="square" rtlCol="0">
            <a:spAutoFit/>
          </a:bodyPr>
          <a:lstStyle/>
          <a:p>
            <a:pPr algn="ctr"/>
            <a:r>
              <a:rPr lang="en-US" sz="3200" dirty="0">
                <a:solidFill>
                  <a:srgbClr val="3B3838"/>
                </a:solidFill>
                <a:latin typeface="LEMON MILK" panose="00000500000000000000" pitchFamily="50" charset="0"/>
              </a:rPr>
              <a:t>Routing </a:t>
            </a:r>
            <a:r>
              <a:rPr lang="en-US" sz="3200" dirty="0" err="1">
                <a:solidFill>
                  <a:srgbClr val="3B3838"/>
                </a:solidFill>
                <a:latin typeface="LEMON MILK" panose="00000500000000000000" pitchFamily="50" charset="0"/>
              </a:rPr>
              <a:t>dinamico</a:t>
            </a:r>
            <a:endParaRPr lang="en-US" sz="3200" dirty="0">
              <a:solidFill>
                <a:srgbClr val="3B3838"/>
              </a:solidFill>
              <a:latin typeface="LEMON MILK" panose="00000500000000000000" pitchFamily="50" charset="0"/>
            </a:endParaRPr>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31" name="Rettangolo 30">
            <a:extLst>
              <a:ext uri="{FF2B5EF4-FFF2-40B4-BE49-F238E27FC236}">
                <a16:creationId xmlns:a16="http://schemas.microsoft.com/office/drawing/2014/main" id="{CC61E7E1-7D32-4476-95C1-AD43B053C65E}"/>
              </a:ext>
            </a:extLst>
          </p:cNvPr>
          <p:cNvSpPr/>
          <p:nvPr/>
        </p:nvSpPr>
        <p:spPr>
          <a:xfrm>
            <a:off x="6713112" y="3563493"/>
            <a:ext cx="3793263"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009662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7" cy="3639011"/>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CasellaDiTesto 1">
            <a:extLst>
              <a:ext uri="{FF2B5EF4-FFF2-40B4-BE49-F238E27FC236}">
                <a16:creationId xmlns:a16="http://schemas.microsoft.com/office/drawing/2014/main" id="{B86BA432-5832-4CBA-A2C3-0F8315E511B2}"/>
              </a:ext>
            </a:extLst>
          </p:cNvPr>
          <p:cNvSpPr txBox="1"/>
          <p:nvPr/>
        </p:nvSpPr>
        <p:spPr>
          <a:xfrm>
            <a:off x="-4723202" y="1509851"/>
            <a:ext cx="6114473" cy="830997"/>
          </a:xfrm>
          <a:prstGeom prst="rect">
            <a:avLst/>
          </a:prstGeom>
          <a:noFill/>
        </p:spPr>
        <p:txBody>
          <a:bodyPr wrap="square" rtlCol="0">
            <a:spAutoFit/>
          </a:bodyPr>
          <a:lstStyle/>
          <a:p>
            <a:r>
              <a:rPr lang="en-US" sz="4800" dirty="0">
                <a:solidFill>
                  <a:schemeClr val="bg1"/>
                </a:solidFill>
                <a:latin typeface="LEMON MILK" panose="00000500000000000000" pitchFamily="50" charset="0"/>
              </a:rPr>
              <a:t>routing</a:t>
            </a:r>
            <a:endParaRPr lang="en-US"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4637897" y="2391881"/>
            <a:ext cx="2908590"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10" name="CasellaDiTesto 9">
            <a:extLst>
              <a:ext uri="{FF2B5EF4-FFF2-40B4-BE49-F238E27FC236}">
                <a16:creationId xmlns:a16="http://schemas.microsoft.com/office/drawing/2014/main" id="{C58CF636-DA25-454F-B12A-DE74C8FF83AD}"/>
              </a:ext>
            </a:extLst>
          </p:cNvPr>
          <p:cNvSpPr txBox="1"/>
          <p:nvPr/>
        </p:nvSpPr>
        <p:spPr>
          <a:xfrm>
            <a:off x="-4723202" y="2608782"/>
            <a:ext cx="6308593" cy="423449"/>
          </a:xfrm>
          <a:prstGeom prst="rect">
            <a:avLst/>
          </a:prstGeom>
          <a:noFill/>
        </p:spPr>
        <p:txBody>
          <a:bodyPr wrap="square">
            <a:spAutoFit/>
          </a:bodyPr>
          <a:lstStyle/>
          <a:p>
            <a:pPr>
              <a:lnSpc>
                <a:spcPct val="150000"/>
              </a:lnSpc>
            </a:pPr>
            <a:r>
              <a:rPr lang="it-IT" sz="1600" dirty="0">
                <a:solidFill>
                  <a:srgbClr val="FFFFFF"/>
                </a:solidFill>
                <a:effectLst/>
                <a:latin typeface="Corbel Light" panose="020B0303020204020204" pitchFamily="34" charset="0"/>
              </a:rPr>
              <a:t>Esistono 2 tipi di instradamento:</a:t>
            </a:r>
          </a:p>
        </p:txBody>
      </p:sp>
      <p:sp>
        <p:nvSpPr>
          <p:cNvPr id="12" name="CasellaDiTesto 11">
            <a:extLst>
              <a:ext uri="{FF2B5EF4-FFF2-40B4-BE49-F238E27FC236}">
                <a16:creationId xmlns:a16="http://schemas.microsoft.com/office/drawing/2014/main" id="{85EE87B2-B0FD-41B6-A02D-4FE37C50C6B6}"/>
              </a:ext>
            </a:extLst>
          </p:cNvPr>
          <p:cNvSpPr txBox="1"/>
          <p:nvPr/>
        </p:nvSpPr>
        <p:spPr>
          <a:xfrm>
            <a:off x="-4456853" y="5084978"/>
            <a:ext cx="6308593" cy="423449"/>
          </a:xfrm>
          <a:prstGeom prst="rect">
            <a:avLst/>
          </a:prstGeom>
          <a:noFill/>
        </p:spPr>
        <p:txBody>
          <a:bodyPr wrap="square">
            <a:spAutoFit/>
          </a:bodyPr>
          <a:lstStyle/>
          <a:p>
            <a:pPr>
              <a:lnSpc>
                <a:spcPct val="150000"/>
              </a:lnSpc>
            </a:pPr>
            <a:r>
              <a:rPr lang="en-US" sz="1600" dirty="0">
                <a:solidFill>
                  <a:srgbClr val="FFFFFF"/>
                </a:solidFill>
                <a:effectLst/>
                <a:latin typeface="Corbel Light" panose="020B0303020204020204" pitchFamily="34" charset="0"/>
              </a:rPr>
              <a:t>DIRETTO</a:t>
            </a:r>
            <a:endParaRPr lang="it-IT" sz="1600" dirty="0">
              <a:solidFill>
                <a:srgbClr val="FFFFFF"/>
              </a:solidFill>
              <a:effectLst/>
              <a:latin typeface="Corbel Light" panose="020B0303020204020204" pitchFamily="34" charset="0"/>
            </a:endParaRPr>
          </a:p>
        </p:txBody>
      </p:sp>
      <p:sp>
        <p:nvSpPr>
          <p:cNvPr id="14" name="CasellaDiTesto 13">
            <a:extLst>
              <a:ext uri="{FF2B5EF4-FFF2-40B4-BE49-F238E27FC236}">
                <a16:creationId xmlns:a16="http://schemas.microsoft.com/office/drawing/2014/main" id="{B644269D-03B3-463A-A73B-253376DCC1C0}"/>
              </a:ext>
            </a:extLst>
          </p:cNvPr>
          <p:cNvSpPr txBox="1"/>
          <p:nvPr/>
        </p:nvSpPr>
        <p:spPr>
          <a:xfrm>
            <a:off x="-4474637" y="3051439"/>
            <a:ext cx="6308593" cy="423449"/>
          </a:xfrm>
          <a:prstGeom prst="rect">
            <a:avLst/>
          </a:prstGeom>
          <a:noFill/>
        </p:spPr>
        <p:txBody>
          <a:bodyPr wrap="square">
            <a:spAutoFit/>
          </a:bodyPr>
          <a:lstStyle/>
          <a:p>
            <a:pPr>
              <a:lnSpc>
                <a:spcPct val="150000"/>
              </a:lnSpc>
            </a:pPr>
            <a:r>
              <a:rPr lang="en-US" sz="1600" dirty="0">
                <a:solidFill>
                  <a:srgbClr val="FFFFFF"/>
                </a:solidFill>
                <a:latin typeface="Corbel Light" panose="020B0303020204020204" pitchFamily="34" charset="0"/>
              </a:rPr>
              <a:t>INDIRETTO</a:t>
            </a:r>
            <a:endParaRPr lang="it-IT" sz="1600" dirty="0">
              <a:solidFill>
                <a:srgbClr val="FFFFFF"/>
              </a:solidFill>
              <a:effectLst/>
              <a:latin typeface="Corbel Light" panose="020B0303020204020204" pitchFamily="34" charset="0"/>
            </a:endParaRPr>
          </a:p>
        </p:txBody>
      </p:sp>
      <p:sp>
        <p:nvSpPr>
          <p:cNvPr id="15" name="CasellaDiTesto 14">
            <a:extLst>
              <a:ext uri="{FF2B5EF4-FFF2-40B4-BE49-F238E27FC236}">
                <a16:creationId xmlns:a16="http://schemas.microsoft.com/office/drawing/2014/main" id="{3CD4075A-E996-42DF-9896-129BBCC07CAA}"/>
              </a:ext>
            </a:extLst>
          </p:cNvPr>
          <p:cNvSpPr txBox="1"/>
          <p:nvPr/>
        </p:nvSpPr>
        <p:spPr>
          <a:xfrm>
            <a:off x="-4620113" y="5501333"/>
            <a:ext cx="6148386" cy="830997"/>
          </a:xfrm>
          <a:prstGeom prst="rect">
            <a:avLst/>
          </a:prstGeom>
          <a:noFill/>
        </p:spPr>
        <p:txBody>
          <a:bodyPr wrap="square">
            <a:spAutoFit/>
          </a:bodyPr>
          <a:lstStyle/>
          <a:p>
            <a:r>
              <a:rPr lang="it-IT" sz="1600" dirty="0">
                <a:solidFill>
                  <a:srgbClr val="FFFFFF"/>
                </a:solidFill>
                <a:latin typeface="Corbel Light" panose="020B0303020204020204" pitchFamily="34" charset="0"/>
              </a:rPr>
              <a:t>Quando lo scambio dei </a:t>
            </a:r>
          </a:p>
          <a:p>
            <a:r>
              <a:rPr lang="it-IT" sz="1600" dirty="0">
                <a:solidFill>
                  <a:srgbClr val="FFFFFF"/>
                </a:solidFill>
                <a:latin typeface="Corbel Light" panose="020B0303020204020204" pitchFamily="34" charset="0"/>
              </a:rPr>
              <a:t>pacchetti IP avviene su una</a:t>
            </a:r>
          </a:p>
          <a:p>
            <a:r>
              <a:rPr lang="it-IT" sz="1600" dirty="0">
                <a:solidFill>
                  <a:srgbClr val="FFFFFF"/>
                </a:solidFill>
                <a:latin typeface="Corbel Light" panose="020B0303020204020204" pitchFamily="34" charset="0"/>
              </a:rPr>
              <a:t>sola rete logica senza coinvolgere router intermedi.</a:t>
            </a:r>
          </a:p>
        </p:txBody>
      </p:sp>
      <p:sp>
        <p:nvSpPr>
          <p:cNvPr id="16" name="CasellaDiTesto 15">
            <a:extLst>
              <a:ext uri="{FF2B5EF4-FFF2-40B4-BE49-F238E27FC236}">
                <a16:creationId xmlns:a16="http://schemas.microsoft.com/office/drawing/2014/main" id="{A6B6246B-BE47-46E7-857B-229579635C05}"/>
              </a:ext>
            </a:extLst>
          </p:cNvPr>
          <p:cNvSpPr txBox="1"/>
          <p:nvPr/>
        </p:nvSpPr>
        <p:spPr>
          <a:xfrm>
            <a:off x="-4562995" y="3427847"/>
            <a:ext cx="6148386" cy="1323439"/>
          </a:xfrm>
          <a:prstGeom prst="rect">
            <a:avLst/>
          </a:prstGeom>
          <a:noFill/>
        </p:spPr>
        <p:txBody>
          <a:bodyPr wrap="square">
            <a:spAutoFit/>
          </a:bodyPr>
          <a:lstStyle>
            <a:defPPr>
              <a:defRPr lang="it-IT"/>
            </a:defPPr>
            <a:lvl1pPr>
              <a:defRPr sz="1600">
                <a:solidFill>
                  <a:srgbClr val="FFFFFF"/>
                </a:solidFill>
                <a:latin typeface="Corbel Light" panose="020B0303020204020204" pitchFamily="34" charset="0"/>
              </a:defRPr>
            </a:lvl1pPr>
          </a:lstStyle>
          <a:p>
            <a:r>
              <a:rPr lang="it-IT" dirty="0"/>
              <a:t>Quando la comunicazione avviene tra</a:t>
            </a:r>
          </a:p>
          <a:p>
            <a:r>
              <a:rPr lang="it-IT" dirty="0"/>
              <a:t>dispositivi su reti logiche diverse attraverso </a:t>
            </a:r>
          </a:p>
          <a:p>
            <a:r>
              <a:rPr lang="it-IT" dirty="0"/>
              <a:t>router intermedi; il mittente dovrà però </a:t>
            </a:r>
          </a:p>
          <a:p>
            <a:r>
              <a:rPr lang="it-IT" dirty="0"/>
              <a:t>fornire o il next-hop oppure il </a:t>
            </a:r>
          </a:p>
          <a:p>
            <a:r>
              <a:rPr lang="it-IT" dirty="0"/>
              <a:t>default gateway</a:t>
            </a:r>
          </a:p>
        </p:txBody>
      </p:sp>
      <p:sp>
        <p:nvSpPr>
          <p:cNvPr id="17" name="Rettangolo 16">
            <a:extLst>
              <a:ext uri="{FF2B5EF4-FFF2-40B4-BE49-F238E27FC236}">
                <a16:creationId xmlns:a16="http://schemas.microsoft.com/office/drawing/2014/main" id="{B0F4BE0F-3F72-43CF-82A8-F282CF746643}"/>
              </a:ext>
            </a:extLst>
          </p:cNvPr>
          <p:cNvSpPr/>
          <p:nvPr/>
        </p:nvSpPr>
        <p:spPr>
          <a:xfrm>
            <a:off x="-4620113" y="3225968"/>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1C662FD7-1647-4F28-A747-427407D187A4}"/>
              </a:ext>
            </a:extLst>
          </p:cNvPr>
          <p:cNvSpPr/>
          <p:nvPr/>
        </p:nvSpPr>
        <p:spPr>
          <a:xfrm>
            <a:off x="-4602329" y="5265024"/>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3237E52D-5AF8-460B-8414-382D50DA1587}"/>
                  </a:ext>
                </a:extLst>
              </p:cNvPr>
              <p:cNvGraphicFramePr>
                <a:graphicFrameLocks noChangeAspect="1"/>
              </p:cNvGraphicFramePr>
              <p:nvPr>
                <p:extLst>
                  <p:ext uri="{D42A27DB-BD31-4B8C-83A1-F6EECF244321}">
                    <p14:modId xmlns:p14="http://schemas.microsoft.com/office/powerpoint/2010/main" val="3999938407"/>
                  </p:ext>
                </p:extLst>
              </p:nvPr>
            </p:nvGraphicFramePr>
            <p:xfrm>
              <a:off x="3478083" y="1609407"/>
              <a:ext cx="5235835" cy="5007361"/>
            </p:xfrm>
            <a:graphic>
              <a:graphicData uri="http://schemas.microsoft.com/office/drawing/2017/model3d">
                <am3d:model3d r:embed="rId2">
                  <am3d:spPr>
                    <a:xfrm>
                      <a:off x="0" y="0"/>
                      <a:ext cx="5235835" cy="500736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3237E52D-5AF8-460B-8414-382D50DA1587}"/>
                  </a:ext>
                </a:extLst>
              </p:cNvPr>
              <p:cNvPicPr>
                <a:picLocks noGrp="1" noRot="1" noChangeAspect="1" noMove="1" noResize="1" noEditPoints="1" noAdjustHandles="1" noChangeArrowheads="1" noChangeShapeType="1" noCrop="1"/>
              </p:cNvPicPr>
              <p:nvPr/>
            </p:nvPicPr>
            <p:blipFill>
              <a:blip r:embed="rId3"/>
              <a:stretch>
                <a:fillRect/>
              </a:stretch>
            </p:blipFill>
            <p:spPr>
              <a:xfrm>
                <a:off x="3478083" y="1609407"/>
                <a:ext cx="5235835" cy="5007361"/>
              </a:xfrm>
              <a:prstGeom prst="rect">
                <a:avLst/>
              </a:prstGeom>
            </p:spPr>
          </p:pic>
        </mc:Fallback>
      </mc:AlternateContent>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1" name="CasellaDiTesto 20">
            <a:extLst>
              <a:ext uri="{FF2B5EF4-FFF2-40B4-BE49-F238E27FC236}">
                <a16:creationId xmlns:a16="http://schemas.microsoft.com/office/drawing/2014/main" id="{CE34A99D-4589-4D3E-9593-C913B355B8AF}"/>
              </a:ext>
            </a:extLst>
          </p:cNvPr>
          <p:cNvSpPr txBox="1"/>
          <p:nvPr/>
        </p:nvSpPr>
        <p:spPr>
          <a:xfrm>
            <a:off x="1087693" y="850918"/>
            <a:ext cx="10016614" cy="1569660"/>
          </a:xfrm>
          <a:prstGeom prst="rect">
            <a:avLst/>
          </a:prstGeom>
          <a:noFill/>
        </p:spPr>
        <p:txBody>
          <a:bodyPr wrap="square" rtlCol="0">
            <a:spAutoFit/>
          </a:bodyPr>
          <a:lstStyle/>
          <a:p>
            <a:pPr algn="ctr"/>
            <a:r>
              <a:rPr lang="en-US" sz="4800" dirty="0" err="1">
                <a:solidFill>
                  <a:schemeClr val="bg1"/>
                </a:solidFill>
                <a:latin typeface="LEMON MILK" panose="00000500000000000000" pitchFamily="50" charset="0"/>
              </a:rPr>
              <a:t>Politiche</a:t>
            </a:r>
            <a:r>
              <a:rPr lang="en-US" sz="4800" dirty="0">
                <a:solidFill>
                  <a:schemeClr val="bg1"/>
                </a:solidFill>
                <a:latin typeface="LEMON MILK" panose="00000500000000000000" pitchFamily="50" charset="0"/>
              </a:rPr>
              <a:t> di </a:t>
            </a:r>
          </a:p>
          <a:p>
            <a:pPr algn="ctr"/>
            <a:r>
              <a:rPr lang="en-US" sz="4800" dirty="0" err="1">
                <a:solidFill>
                  <a:schemeClr val="bg1"/>
                </a:solidFill>
                <a:latin typeface="LEMON MILK" panose="00000500000000000000" pitchFamily="50" charset="0"/>
              </a:rPr>
              <a:t>instradamento</a:t>
            </a:r>
            <a:endParaRPr lang="en-US" dirty="0">
              <a:solidFill>
                <a:schemeClr val="bg1"/>
              </a:solidFill>
              <a:latin typeface="LEMON MILK" panose="00000500000000000000" pitchFamily="50" charset="0"/>
            </a:endParaRPr>
          </a:p>
        </p:txBody>
      </p:sp>
      <p:sp>
        <p:nvSpPr>
          <p:cNvPr id="24" name="CasellaDiTesto 23">
            <a:extLst>
              <a:ext uri="{FF2B5EF4-FFF2-40B4-BE49-F238E27FC236}">
                <a16:creationId xmlns:a16="http://schemas.microsoft.com/office/drawing/2014/main" id="{61DCEB86-DD5C-4069-85F4-A26F32116764}"/>
              </a:ext>
            </a:extLst>
          </p:cNvPr>
          <p:cNvSpPr txBox="1"/>
          <p:nvPr/>
        </p:nvSpPr>
        <p:spPr>
          <a:xfrm>
            <a:off x="3590171" y="-4051611"/>
            <a:ext cx="5011658"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scelta del cammino nella rete per pacchetti dipende dalla politica di routing adottata che differiscono tra loro da quando e come ricevono le informazioni, dalla frequenza di revisione delle loro decisioni e dalla metrica di valutazione che adottano.</a:t>
            </a:r>
          </a:p>
        </p:txBody>
      </p:sp>
      <p:sp>
        <p:nvSpPr>
          <p:cNvPr id="30" name="Rettangolo 29">
            <a:extLst>
              <a:ext uri="{FF2B5EF4-FFF2-40B4-BE49-F238E27FC236}">
                <a16:creationId xmlns:a16="http://schemas.microsoft.com/office/drawing/2014/main" id="{E5CA172E-0FF8-4A23-AF2B-669D2C09AA61}"/>
              </a:ext>
            </a:extLst>
          </p:cNvPr>
          <p:cNvSpPr/>
          <p:nvPr/>
        </p:nvSpPr>
        <p:spPr>
          <a:xfrm>
            <a:off x="3336602" y="2340848"/>
            <a:ext cx="5464497" cy="51033"/>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22" name="Modello 3D 21">
                <a:extLst>
                  <a:ext uri="{FF2B5EF4-FFF2-40B4-BE49-F238E27FC236}">
                    <a16:creationId xmlns:a16="http://schemas.microsoft.com/office/drawing/2014/main" id="{1B435CE4-9820-4897-AF83-D477995FBEE6}"/>
                  </a:ext>
                </a:extLst>
              </p:cNvPr>
              <p:cNvGraphicFramePr>
                <a:graphicFrameLocks noChangeAspect="1"/>
              </p:cNvGraphicFramePr>
              <p:nvPr>
                <p:extLst>
                  <p:ext uri="{D42A27DB-BD31-4B8C-83A1-F6EECF244321}">
                    <p14:modId xmlns:p14="http://schemas.microsoft.com/office/powerpoint/2010/main" val="4179968169"/>
                  </p:ext>
                </p:extLst>
              </p:nvPr>
            </p:nvGraphicFramePr>
            <p:xfrm rot="159769">
              <a:off x="3866490" y="-3177957"/>
              <a:ext cx="4404720" cy="2884378"/>
            </p:xfrm>
            <a:graphic>
              <a:graphicData uri="http://schemas.microsoft.com/office/drawing/2017/model3d">
                <am3d:model3d r:embed="rId4">
                  <am3d:spPr>
                    <a:xfrm rot="159769">
                      <a:off x="0" y="0"/>
                      <a:ext cx="4404720" cy="2884378"/>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3453890" ay="66308" az="104297"/>
                    <am3d:postTrans dx="0" dy="0" dz="0"/>
                  </am3d:trans>
                  <am3d:raster rName="Office3DRenderer" rVer="16.0.8326">
                    <am3d:blip r:embed="rId5"/>
                  </am3d:raster>
                  <am3d:objViewport viewportSz="511427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Modello 3D 21">
                <a:extLst>
                  <a:ext uri="{FF2B5EF4-FFF2-40B4-BE49-F238E27FC236}">
                    <a16:creationId xmlns:a16="http://schemas.microsoft.com/office/drawing/2014/main" id="{1B435CE4-9820-4897-AF83-D477995FBEE6}"/>
                  </a:ext>
                </a:extLst>
              </p:cNvPr>
              <p:cNvPicPr>
                <a:picLocks noGrp="1" noRot="1" noChangeAspect="1" noMove="1" noResize="1" noEditPoints="1" noAdjustHandles="1" noChangeArrowheads="1" noChangeShapeType="1" noCrop="1"/>
              </p:cNvPicPr>
              <p:nvPr/>
            </p:nvPicPr>
            <p:blipFill>
              <a:blip r:embed="rId5"/>
              <a:stretch>
                <a:fillRect/>
              </a:stretch>
            </p:blipFill>
            <p:spPr>
              <a:xfrm rot="159769">
                <a:off x="3866490" y="-3177957"/>
                <a:ext cx="4404720" cy="2884378"/>
              </a:xfrm>
              <a:prstGeom prst="rect">
                <a:avLst/>
              </a:prstGeom>
            </p:spPr>
          </p:pic>
        </mc:Fallback>
      </mc:AlternateContent>
    </p:spTree>
    <p:extLst>
      <p:ext uri="{BB962C8B-B14F-4D97-AF65-F5344CB8AC3E}">
        <p14:creationId xmlns:p14="http://schemas.microsoft.com/office/powerpoint/2010/main" val="8348398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7"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3237E52D-5AF8-460B-8414-382D50DA1587}"/>
                  </a:ext>
                </a:extLst>
              </p:cNvPr>
              <p:cNvGraphicFramePr>
                <a:graphicFrameLocks noChangeAspect="1"/>
              </p:cNvGraphicFramePr>
              <p:nvPr>
                <p:extLst>
                  <p:ext uri="{D42A27DB-BD31-4B8C-83A1-F6EECF244321}">
                    <p14:modId xmlns:p14="http://schemas.microsoft.com/office/powerpoint/2010/main" val="1897975982"/>
                  </p:ext>
                </p:extLst>
              </p:nvPr>
            </p:nvGraphicFramePr>
            <p:xfrm>
              <a:off x="3478082" y="6662670"/>
              <a:ext cx="5235835" cy="5007361"/>
            </p:xfrm>
            <a:graphic>
              <a:graphicData uri="http://schemas.microsoft.com/office/drawing/2017/model3d">
                <am3d:model3d r:embed="rId2">
                  <am3d:spPr>
                    <a:xfrm>
                      <a:off x="0" y="0"/>
                      <a:ext cx="5235835" cy="500736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3237E52D-5AF8-460B-8414-382D50DA1587}"/>
                  </a:ext>
                </a:extLst>
              </p:cNvPr>
              <p:cNvPicPr>
                <a:picLocks noGrp="1" noRot="1" noChangeAspect="1" noMove="1" noResize="1" noEditPoints="1" noAdjustHandles="1" noChangeArrowheads="1" noChangeShapeType="1" noCrop="1"/>
              </p:cNvPicPr>
              <p:nvPr/>
            </p:nvPicPr>
            <p:blipFill>
              <a:blip r:embed="rId3"/>
              <a:stretch>
                <a:fillRect/>
              </a:stretch>
            </p:blipFill>
            <p:spPr>
              <a:xfrm>
                <a:off x="3478082" y="6662670"/>
                <a:ext cx="5235835" cy="5007361"/>
              </a:xfrm>
              <a:prstGeom prst="rect">
                <a:avLst/>
              </a:prstGeom>
            </p:spPr>
          </p:pic>
        </mc:Fallback>
      </mc:AlternateContent>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1" name="CasellaDiTesto 20">
            <a:extLst>
              <a:ext uri="{FF2B5EF4-FFF2-40B4-BE49-F238E27FC236}">
                <a16:creationId xmlns:a16="http://schemas.microsoft.com/office/drawing/2014/main" id="{6AF3FFC2-E373-4442-9B12-B3B3A1C9F4DE}"/>
              </a:ext>
            </a:extLst>
          </p:cNvPr>
          <p:cNvSpPr txBox="1"/>
          <p:nvPr/>
        </p:nvSpPr>
        <p:spPr>
          <a:xfrm>
            <a:off x="1283135" y="4585383"/>
            <a:ext cx="10016614" cy="1569660"/>
          </a:xfrm>
          <a:prstGeom prst="rect">
            <a:avLst/>
          </a:prstGeom>
          <a:noFill/>
        </p:spPr>
        <p:txBody>
          <a:bodyPr wrap="square" rtlCol="0">
            <a:spAutoFit/>
          </a:bodyPr>
          <a:lstStyle/>
          <a:p>
            <a:pPr algn="ctr"/>
            <a:r>
              <a:rPr lang="en-US" sz="4800" dirty="0" err="1">
                <a:solidFill>
                  <a:schemeClr val="bg1"/>
                </a:solidFill>
                <a:latin typeface="LEMON MILK" panose="00000500000000000000" pitchFamily="50" charset="0"/>
              </a:rPr>
              <a:t>Politiche</a:t>
            </a:r>
            <a:r>
              <a:rPr lang="en-US" sz="4800" dirty="0">
                <a:solidFill>
                  <a:schemeClr val="bg1"/>
                </a:solidFill>
                <a:latin typeface="LEMON MILK" panose="00000500000000000000" pitchFamily="50" charset="0"/>
              </a:rPr>
              <a:t> di </a:t>
            </a:r>
          </a:p>
          <a:p>
            <a:pPr algn="ctr"/>
            <a:r>
              <a:rPr lang="en-US" sz="4800" dirty="0" err="1">
                <a:solidFill>
                  <a:schemeClr val="bg1"/>
                </a:solidFill>
                <a:latin typeface="LEMON MILK" panose="00000500000000000000" pitchFamily="50" charset="0"/>
              </a:rPr>
              <a:t>instradamento</a:t>
            </a:r>
            <a:endParaRPr lang="en-US" dirty="0">
              <a:solidFill>
                <a:schemeClr val="bg1"/>
              </a:solidFill>
              <a:latin typeface="LEMON MILK" panose="00000500000000000000" pitchFamily="50" charset="0"/>
            </a:endParaRPr>
          </a:p>
        </p:txBody>
      </p:sp>
      <p:sp>
        <p:nvSpPr>
          <p:cNvPr id="22" name="CasellaDiTesto 21">
            <a:extLst>
              <a:ext uri="{FF2B5EF4-FFF2-40B4-BE49-F238E27FC236}">
                <a16:creationId xmlns:a16="http://schemas.microsoft.com/office/drawing/2014/main" id="{CE268D2C-041E-48A7-BA88-4E66242B3867}"/>
              </a:ext>
            </a:extLst>
          </p:cNvPr>
          <p:cNvSpPr txBox="1"/>
          <p:nvPr/>
        </p:nvSpPr>
        <p:spPr>
          <a:xfrm>
            <a:off x="3785613" y="1088191"/>
            <a:ext cx="5011658"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scelta del cammino nella rete per pacchetti dipende dalla politica di routing adottata che differiscono tra loro da quando e come ricevono le informazioni, dalla frequenza di revisione delle loro decisioni e dalla metrica di valutazione che adottano.</a:t>
            </a:r>
          </a:p>
        </p:txBody>
      </p:sp>
      <p:sp>
        <p:nvSpPr>
          <p:cNvPr id="24" name="Rettangolo 23">
            <a:extLst>
              <a:ext uri="{FF2B5EF4-FFF2-40B4-BE49-F238E27FC236}">
                <a16:creationId xmlns:a16="http://schemas.microsoft.com/office/drawing/2014/main" id="{5C3ED9D7-F4D1-48DC-B1AA-9EEA05BB8AAB}"/>
              </a:ext>
            </a:extLst>
          </p:cNvPr>
          <p:cNvSpPr/>
          <p:nvPr/>
        </p:nvSpPr>
        <p:spPr>
          <a:xfrm>
            <a:off x="3559194" y="6082658"/>
            <a:ext cx="5464497" cy="51033"/>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11" name="Modello 3D 10">
                <a:extLst>
                  <a:ext uri="{FF2B5EF4-FFF2-40B4-BE49-F238E27FC236}">
                    <a16:creationId xmlns:a16="http://schemas.microsoft.com/office/drawing/2014/main" id="{32EC45B0-78D0-47B0-83AA-591F9407CF35}"/>
                  </a:ext>
                </a:extLst>
              </p:cNvPr>
              <p:cNvGraphicFramePr>
                <a:graphicFrameLocks noChangeAspect="1"/>
              </p:cNvGraphicFramePr>
              <p:nvPr>
                <p:extLst>
                  <p:ext uri="{D42A27DB-BD31-4B8C-83A1-F6EECF244321}">
                    <p14:modId xmlns:p14="http://schemas.microsoft.com/office/powerpoint/2010/main" val="2868989686"/>
                  </p:ext>
                </p:extLst>
              </p:nvPr>
            </p:nvGraphicFramePr>
            <p:xfrm>
              <a:off x="4626610" y="2299511"/>
              <a:ext cx="3329663" cy="2258976"/>
            </p:xfrm>
            <a:graphic>
              <a:graphicData uri="http://schemas.microsoft.com/office/drawing/2017/model3d">
                <am3d:model3d r:embed="rId4">
                  <am3d:spPr>
                    <a:xfrm>
                      <a:off x="0" y="0"/>
                      <a:ext cx="3329663" cy="2258976"/>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3843464" ay="14074" az="28891"/>
                    <am3d:postTrans dx="0" dy="0" dz="0"/>
                  </am3d:trans>
                  <am3d:raster rName="Office3DRenderer" rVer="16.0.8326">
                    <am3d:blip r:embed="rId5"/>
                  </am3d:raster>
                  <am3d:objViewport viewportSz="4019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Modello 3D 10">
                <a:extLst>
                  <a:ext uri="{FF2B5EF4-FFF2-40B4-BE49-F238E27FC236}">
                    <a16:creationId xmlns:a16="http://schemas.microsoft.com/office/drawing/2014/main" id="{32EC45B0-78D0-47B0-83AA-591F9407CF35}"/>
                  </a:ext>
                </a:extLst>
              </p:cNvPr>
              <p:cNvPicPr>
                <a:picLocks noGrp="1" noRot="1" noChangeAspect="1" noMove="1" noResize="1" noEditPoints="1" noAdjustHandles="1" noChangeArrowheads="1" noChangeShapeType="1" noCrop="1"/>
              </p:cNvPicPr>
              <p:nvPr/>
            </p:nvPicPr>
            <p:blipFill>
              <a:blip r:embed="rId5"/>
              <a:stretch>
                <a:fillRect/>
              </a:stretch>
            </p:blipFill>
            <p:spPr>
              <a:xfrm>
                <a:off x="4626610" y="2299511"/>
                <a:ext cx="3329663" cy="2258976"/>
              </a:xfrm>
              <a:prstGeom prst="rect">
                <a:avLst/>
              </a:prstGeom>
            </p:spPr>
          </p:pic>
        </mc:Fallback>
      </mc:AlternateContent>
    </p:spTree>
    <p:extLst>
      <p:ext uri="{BB962C8B-B14F-4D97-AF65-F5344CB8AC3E}">
        <p14:creationId xmlns:p14="http://schemas.microsoft.com/office/powerpoint/2010/main" val="2265290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4701185"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1" name="CasellaDiTesto 20">
            <a:extLst>
              <a:ext uri="{FF2B5EF4-FFF2-40B4-BE49-F238E27FC236}">
                <a16:creationId xmlns:a16="http://schemas.microsoft.com/office/drawing/2014/main" id="{6AF3FFC2-E373-4442-9B12-B3B3A1C9F4DE}"/>
              </a:ext>
            </a:extLst>
          </p:cNvPr>
          <p:cNvSpPr txBox="1"/>
          <p:nvPr/>
        </p:nvSpPr>
        <p:spPr>
          <a:xfrm>
            <a:off x="222351" y="4838082"/>
            <a:ext cx="6308593" cy="1200329"/>
          </a:xfrm>
          <a:prstGeom prst="rect">
            <a:avLst/>
          </a:prstGeom>
          <a:noFill/>
        </p:spPr>
        <p:txBody>
          <a:bodyPr wrap="square" rtlCol="0">
            <a:spAutoFit/>
          </a:bodyPr>
          <a:lstStyle/>
          <a:p>
            <a:r>
              <a:rPr lang="en-US" sz="3600" dirty="0" err="1">
                <a:solidFill>
                  <a:schemeClr val="bg1"/>
                </a:solidFill>
                <a:latin typeface="LEMON MILK" panose="00000500000000000000" pitchFamily="50" charset="0"/>
              </a:rPr>
              <a:t>Politiche</a:t>
            </a:r>
            <a:r>
              <a:rPr lang="en-US" sz="3600" dirty="0">
                <a:solidFill>
                  <a:schemeClr val="bg1"/>
                </a:solidFill>
                <a:latin typeface="LEMON MILK" panose="00000500000000000000" pitchFamily="50" charset="0"/>
              </a:rPr>
              <a:t> di </a:t>
            </a:r>
          </a:p>
          <a:p>
            <a:r>
              <a:rPr lang="en-US" sz="3600" dirty="0" err="1">
                <a:solidFill>
                  <a:schemeClr val="bg1"/>
                </a:solidFill>
                <a:latin typeface="LEMON MILK" panose="00000500000000000000" pitchFamily="50" charset="0"/>
              </a:rPr>
              <a:t>instradamento</a:t>
            </a:r>
            <a:endParaRPr lang="en-US" sz="1200" dirty="0">
              <a:solidFill>
                <a:schemeClr val="bg1"/>
              </a:solidFill>
              <a:latin typeface="LEMON MILK" panose="00000500000000000000" pitchFamily="50" charset="0"/>
            </a:endParaRPr>
          </a:p>
        </p:txBody>
      </p:sp>
      <p:sp>
        <p:nvSpPr>
          <p:cNvPr id="22" name="CasellaDiTesto 21">
            <a:extLst>
              <a:ext uri="{FF2B5EF4-FFF2-40B4-BE49-F238E27FC236}">
                <a16:creationId xmlns:a16="http://schemas.microsoft.com/office/drawing/2014/main" id="{CE268D2C-041E-48A7-BA88-4E66242B3867}"/>
              </a:ext>
            </a:extLst>
          </p:cNvPr>
          <p:cNvSpPr txBox="1"/>
          <p:nvPr/>
        </p:nvSpPr>
        <p:spPr>
          <a:xfrm>
            <a:off x="6780292" y="1291315"/>
            <a:ext cx="5011658" cy="4154984"/>
          </a:xfrm>
          <a:prstGeom prst="rect">
            <a:avLst/>
          </a:prstGeom>
          <a:noFill/>
        </p:spPr>
        <p:txBody>
          <a:bodyPr wrap="square">
            <a:spAutoFit/>
          </a:bodyPr>
          <a:lstStyle/>
          <a:p>
            <a:r>
              <a:rPr lang="it-IT" dirty="0">
                <a:latin typeface="Corbel Light" panose="020B0303020204020204" pitchFamily="34" charset="0"/>
              </a:rPr>
              <a:t>ISOLATE</a:t>
            </a:r>
          </a:p>
          <a:p>
            <a:r>
              <a:rPr lang="it-IT" sz="1600" dirty="0">
                <a:latin typeface="Corbel Light" panose="020B0303020204020204" pitchFamily="34" charset="0"/>
              </a:rPr>
              <a:t>Calcolo del routing basandosi solo sulla </a:t>
            </a:r>
          </a:p>
          <a:p>
            <a:r>
              <a:rPr lang="it-IT" sz="1600" dirty="0">
                <a:latin typeface="Corbel Light" panose="020B0303020204020204" pitchFamily="34" charset="0"/>
              </a:rPr>
              <a:t>situazione locale della rete.</a:t>
            </a:r>
          </a:p>
          <a:p>
            <a:endParaRPr lang="it-IT" sz="1600" dirty="0">
              <a:latin typeface="Corbel Light" panose="020B0303020204020204" pitchFamily="34" charset="0"/>
            </a:endParaRPr>
          </a:p>
          <a:p>
            <a:r>
              <a:rPr lang="it-IT" dirty="0">
                <a:latin typeface="Corbel Light" panose="020B0303020204020204" pitchFamily="34" charset="0"/>
              </a:rPr>
              <a:t>DISTRIBUITE</a:t>
            </a:r>
          </a:p>
          <a:p>
            <a:r>
              <a:rPr lang="it-IT" sz="1600" dirty="0">
                <a:latin typeface="Corbel Light" panose="020B0303020204020204" pitchFamily="34" charset="0"/>
              </a:rPr>
              <a:t>Politiche in cui i vari router della rete </a:t>
            </a:r>
          </a:p>
          <a:p>
            <a:r>
              <a:rPr lang="it-IT" sz="1600" dirty="0">
                <a:latin typeface="Corbel Light" panose="020B0303020204020204" pitchFamily="34" charset="0"/>
              </a:rPr>
              <a:t>comunicano costantemente tra loro.</a:t>
            </a:r>
          </a:p>
          <a:p>
            <a:endParaRPr lang="it-IT" sz="1600" dirty="0">
              <a:latin typeface="Corbel Light" panose="020B0303020204020204" pitchFamily="34" charset="0"/>
            </a:endParaRPr>
          </a:p>
          <a:p>
            <a:r>
              <a:rPr lang="it-IT" dirty="0">
                <a:latin typeface="Corbel Light" panose="020B0303020204020204" pitchFamily="34" charset="0"/>
              </a:rPr>
              <a:t>CENTRALIZZATE</a:t>
            </a:r>
          </a:p>
          <a:p>
            <a:r>
              <a:rPr lang="it-IT" sz="1600" dirty="0">
                <a:latin typeface="Corbel Light" panose="020B0303020204020204" pitchFamily="34" charset="0"/>
              </a:rPr>
              <a:t>Un centro di controllo conosce la</a:t>
            </a:r>
          </a:p>
          <a:p>
            <a:r>
              <a:rPr lang="it-IT" sz="1600" dirty="0">
                <a:latin typeface="Corbel Light" panose="020B0303020204020204" pitchFamily="34" charset="0"/>
              </a:rPr>
              <a:t> situazione di tutta la rete e</a:t>
            </a:r>
          </a:p>
          <a:p>
            <a:r>
              <a:rPr lang="it-IT" sz="1600" dirty="0">
                <a:latin typeface="Corbel Light" panose="020B0303020204020204" pitchFamily="34" charset="0"/>
              </a:rPr>
              <a:t>definisce tutti i percorsi ottimali per tutte le coppie sorgente-destinazione. </a:t>
            </a:r>
          </a:p>
          <a:p>
            <a:endParaRPr lang="it-IT" sz="1600" dirty="0">
              <a:latin typeface="Corbel Light" panose="020B0303020204020204" pitchFamily="34" charset="0"/>
            </a:endParaRPr>
          </a:p>
          <a:p>
            <a:r>
              <a:rPr lang="it-IT" dirty="0">
                <a:latin typeface="Corbel Light" panose="020B0303020204020204" pitchFamily="34" charset="0"/>
              </a:rPr>
              <a:t>MISTE</a:t>
            </a:r>
          </a:p>
          <a:p>
            <a:r>
              <a:rPr lang="it-IT" sz="1600" dirty="0">
                <a:latin typeface="Corbel Light" panose="020B0303020204020204" pitchFamily="34" charset="0"/>
              </a:rPr>
              <a:t>Combina le prime due politiche.</a:t>
            </a:r>
          </a:p>
        </p:txBody>
      </p:sp>
      <p:sp>
        <p:nvSpPr>
          <p:cNvPr id="24" name="Rettangolo 23">
            <a:extLst>
              <a:ext uri="{FF2B5EF4-FFF2-40B4-BE49-F238E27FC236}">
                <a16:creationId xmlns:a16="http://schemas.microsoft.com/office/drawing/2014/main" id="{0AD443C6-6348-4F72-A6BD-C64862D637F6}"/>
              </a:ext>
            </a:extLst>
          </p:cNvPr>
          <p:cNvSpPr/>
          <p:nvPr/>
        </p:nvSpPr>
        <p:spPr>
          <a:xfrm>
            <a:off x="317554" y="6108821"/>
            <a:ext cx="4149671"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Rettangolo 24">
            <a:extLst>
              <a:ext uri="{FF2B5EF4-FFF2-40B4-BE49-F238E27FC236}">
                <a16:creationId xmlns:a16="http://schemas.microsoft.com/office/drawing/2014/main" id="{76860B0B-3EBC-46FA-ADC5-FF42E9CA7762}"/>
              </a:ext>
            </a:extLst>
          </p:cNvPr>
          <p:cNvSpPr/>
          <p:nvPr/>
        </p:nvSpPr>
        <p:spPr>
          <a:xfrm>
            <a:off x="6634816" y="1390042"/>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Rettangolo 25">
            <a:extLst>
              <a:ext uri="{FF2B5EF4-FFF2-40B4-BE49-F238E27FC236}">
                <a16:creationId xmlns:a16="http://schemas.microsoft.com/office/drawing/2014/main" id="{46451589-D044-4023-8C68-181D2682BD58}"/>
              </a:ext>
            </a:extLst>
          </p:cNvPr>
          <p:cNvSpPr/>
          <p:nvPr/>
        </p:nvSpPr>
        <p:spPr>
          <a:xfrm>
            <a:off x="6644341" y="2409217"/>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Rettangolo 26">
            <a:extLst>
              <a:ext uri="{FF2B5EF4-FFF2-40B4-BE49-F238E27FC236}">
                <a16:creationId xmlns:a16="http://schemas.microsoft.com/office/drawing/2014/main" id="{0D89AF54-0CDE-48D6-88E9-B5A48AA34AA7}"/>
              </a:ext>
            </a:extLst>
          </p:cNvPr>
          <p:cNvSpPr/>
          <p:nvPr/>
        </p:nvSpPr>
        <p:spPr>
          <a:xfrm>
            <a:off x="6644341" y="3419973"/>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0" name="Rettangolo 29">
            <a:extLst>
              <a:ext uri="{FF2B5EF4-FFF2-40B4-BE49-F238E27FC236}">
                <a16:creationId xmlns:a16="http://schemas.microsoft.com/office/drawing/2014/main" id="{CE9EA87F-8D30-4C7B-9321-B73B7A4FB2DC}"/>
              </a:ext>
            </a:extLst>
          </p:cNvPr>
          <p:cNvSpPr/>
          <p:nvPr/>
        </p:nvSpPr>
        <p:spPr>
          <a:xfrm>
            <a:off x="6634816" y="4905102"/>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14" name="Modello 3D 13">
                <a:extLst>
                  <a:ext uri="{FF2B5EF4-FFF2-40B4-BE49-F238E27FC236}">
                    <a16:creationId xmlns:a16="http://schemas.microsoft.com/office/drawing/2014/main" id="{FFBBC80A-D108-424A-BCFA-E181A6618C0A}"/>
                  </a:ext>
                </a:extLst>
              </p:cNvPr>
              <p:cNvGraphicFramePr>
                <a:graphicFrameLocks noChangeAspect="1"/>
              </p:cNvGraphicFramePr>
              <p:nvPr>
                <p:extLst>
                  <p:ext uri="{D42A27DB-BD31-4B8C-83A1-F6EECF244321}">
                    <p14:modId xmlns:p14="http://schemas.microsoft.com/office/powerpoint/2010/main" val="1497985925"/>
                  </p:ext>
                </p:extLst>
              </p:nvPr>
            </p:nvGraphicFramePr>
            <p:xfrm>
              <a:off x="1081545" y="1706507"/>
              <a:ext cx="3852571" cy="3000202"/>
            </p:xfrm>
            <a:graphic>
              <a:graphicData uri="http://schemas.microsoft.com/office/drawing/2017/model3d">
                <am3d:model3d r:embed="rId2">
                  <am3d:spPr>
                    <a:xfrm>
                      <a:off x="0" y="0"/>
                      <a:ext cx="3852571" cy="300020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2921052" ay="904300" az="988702"/>
                    <am3d:postTrans dx="0" dy="0" dz="0"/>
                  </am3d:trans>
                  <am3d:raster rName="Office3DRenderer" rVer="16.0.8326">
                    <am3d:blip r:embed="rId3"/>
                  </am3d:raster>
                  <am3d:objViewport viewportSz="40196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Modello 3D 13">
                <a:extLst>
                  <a:ext uri="{FF2B5EF4-FFF2-40B4-BE49-F238E27FC236}">
                    <a16:creationId xmlns:a16="http://schemas.microsoft.com/office/drawing/2014/main" id="{FFBBC80A-D108-424A-BCFA-E181A6618C0A}"/>
                  </a:ext>
                </a:extLst>
              </p:cNvPr>
              <p:cNvPicPr>
                <a:picLocks noGrp="1" noRot="1" noChangeAspect="1" noMove="1" noResize="1" noEditPoints="1" noAdjustHandles="1" noChangeArrowheads="1" noChangeShapeType="1" noCrop="1"/>
              </p:cNvPicPr>
              <p:nvPr/>
            </p:nvPicPr>
            <p:blipFill>
              <a:blip r:embed="rId3"/>
              <a:stretch>
                <a:fillRect/>
              </a:stretch>
            </p:blipFill>
            <p:spPr>
              <a:xfrm>
                <a:off x="1081545" y="1706507"/>
                <a:ext cx="3852571" cy="3000202"/>
              </a:xfrm>
              <a:prstGeom prst="rect">
                <a:avLst/>
              </a:prstGeom>
            </p:spPr>
          </p:pic>
        </mc:Fallback>
      </mc:AlternateContent>
    </p:spTree>
    <p:extLst>
      <p:ext uri="{BB962C8B-B14F-4D97-AF65-F5344CB8AC3E}">
        <p14:creationId xmlns:p14="http://schemas.microsoft.com/office/powerpoint/2010/main" val="10661544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6308593"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1" name="CasellaDiTesto 20">
            <a:extLst>
              <a:ext uri="{FF2B5EF4-FFF2-40B4-BE49-F238E27FC236}">
                <a16:creationId xmlns:a16="http://schemas.microsoft.com/office/drawing/2014/main" id="{6AF3FFC2-E373-4442-9B12-B3B3A1C9F4DE}"/>
              </a:ext>
            </a:extLst>
          </p:cNvPr>
          <p:cNvSpPr txBox="1"/>
          <p:nvPr/>
        </p:nvSpPr>
        <p:spPr>
          <a:xfrm>
            <a:off x="2941704" y="4838081"/>
            <a:ext cx="6308593" cy="1200329"/>
          </a:xfrm>
          <a:prstGeom prst="rect">
            <a:avLst/>
          </a:prstGeom>
          <a:noFill/>
        </p:spPr>
        <p:txBody>
          <a:bodyPr wrap="square" rtlCol="0">
            <a:spAutoFit/>
          </a:bodyPr>
          <a:lstStyle/>
          <a:p>
            <a:pPr algn="ctr"/>
            <a:r>
              <a:rPr lang="en-US" sz="3600" dirty="0" err="1">
                <a:solidFill>
                  <a:schemeClr val="bg1"/>
                </a:solidFill>
                <a:latin typeface="LEMON MILK" panose="00000500000000000000" pitchFamily="50" charset="0"/>
              </a:rPr>
              <a:t>Politiche</a:t>
            </a:r>
            <a:r>
              <a:rPr lang="en-US" sz="3600" dirty="0">
                <a:solidFill>
                  <a:schemeClr val="bg1"/>
                </a:solidFill>
                <a:latin typeface="LEMON MILK" panose="00000500000000000000" pitchFamily="50" charset="0"/>
              </a:rPr>
              <a:t> di </a:t>
            </a:r>
          </a:p>
          <a:p>
            <a:pPr algn="ctr"/>
            <a:r>
              <a:rPr lang="en-US" sz="3600" dirty="0" err="1">
                <a:solidFill>
                  <a:schemeClr val="bg1"/>
                </a:solidFill>
                <a:latin typeface="LEMON MILK" panose="00000500000000000000" pitchFamily="50" charset="0"/>
              </a:rPr>
              <a:t>instradamento</a:t>
            </a:r>
            <a:endParaRPr lang="en-US" sz="1200" dirty="0">
              <a:solidFill>
                <a:schemeClr val="bg1"/>
              </a:solidFill>
              <a:latin typeface="LEMON MILK" panose="00000500000000000000" pitchFamily="50" charset="0"/>
            </a:endParaRPr>
          </a:p>
        </p:txBody>
      </p:sp>
      <p:sp>
        <p:nvSpPr>
          <p:cNvPr id="24" name="Rettangolo 23">
            <a:extLst>
              <a:ext uri="{FF2B5EF4-FFF2-40B4-BE49-F238E27FC236}">
                <a16:creationId xmlns:a16="http://schemas.microsoft.com/office/drawing/2014/main" id="{0AD443C6-6348-4F72-A6BD-C64862D637F6}"/>
              </a:ext>
            </a:extLst>
          </p:cNvPr>
          <p:cNvSpPr/>
          <p:nvPr/>
        </p:nvSpPr>
        <p:spPr>
          <a:xfrm>
            <a:off x="4039996" y="6108821"/>
            <a:ext cx="4149671"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a:extLst>
              <a:ext uri="{FF2B5EF4-FFF2-40B4-BE49-F238E27FC236}">
                <a16:creationId xmlns:a16="http://schemas.microsoft.com/office/drawing/2014/main" id="{534D68C5-2940-42AB-979D-730603C03F8E}"/>
              </a:ext>
            </a:extLst>
          </p:cNvPr>
          <p:cNvSpPr txBox="1"/>
          <p:nvPr/>
        </p:nvSpPr>
        <p:spPr>
          <a:xfrm>
            <a:off x="3512807" y="4841695"/>
            <a:ext cx="4796637" cy="1200329"/>
          </a:xfrm>
          <a:prstGeom prst="rect">
            <a:avLst/>
          </a:prstGeom>
          <a:noFill/>
        </p:spPr>
        <p:txBody>
          <a:bodyPr wrap="square" rtlCol="0">
            <a:spAutoFit/>
          </a:bodyPr>
          <a:lstStyle/>
          <a:p>
            <a:pPr algn="ctr"/>
            <a:r>
              <a:rPr lang="en-US" sz="3600" dirty="0">
                <a:solidFill>
                  <a:srgbClr val="3B3838"/>
                </a:solidFill>
                <a:latin typeface="LEMON MILK" panose="00000500000000000000" pitchFamily="50" charset="0"/>
              </a:rPr>
              <a:t>              </a:t>
            </a:r>
            <a:r>
              <a:rPr lang="en-US" sz="3600" dirty="0" err="1">
                <a:solidFill>
                  <a:srgbClr val="3B3838"/>
                </a:solidFill>
                <a:latin typeface="LEMON MILK" panose="00000500000000000000" pitchFamily="50" charset="0"/>
              </a:rPr>
              <a:t>che</a:t>
            </a:r>
            <a:r>
              <a:rPr lang="en-US" sz="3600" dirty="0">
                <a:solidFill>
                  <a:srgbClr val="3B3838"/>
                </a:solidFill>
                <a:latin typeface="LEMON MILK" panose="00000500000000000000" pitchFamily="50" charset="0"/>
              </a:rPr>
              <a:t> di </a:t>
            </a:r>
          </a:p>
          <a:p>
            <a:pPr algn="ctr"/>
            <a:r>
              <a:rPr lang="en-US" sz="3600" dirty="0">
                <a:solidFill>
                  <a:srgbClr val="3B3838"/>
                </a:solidFill>
                <a:latin typeface="LEMON MILK" panose="00000500000000000000" pitchFamily="50" charset="0"/>
              </a:rPr>
              <a:t>                  </a:t>
            </a:r>
            <a:r>
              <a:rPr lang="en-US" sz="3600" dirty="0" err="1">
                <a:solidFill>
                  <a:srgbClr val="3B3838"/>
                </a:solidFill>
                <a:latin typeface="LEMON MILK" panose="00000500000000000000" pitchFamily="50" charset="0"/>
              </a:rPr>
              <a:t>amento</a:t>
            </a:r>
            <a:endParaRPr lang="en-US" sz="1200" dirty="0">
              <a:solidFill>
                <a:srgbClr val="3B3838"/>
              </a:solidFill>
              <a:latin typeface="LEMON MILK" panose="00000500000000000000" pitchFamily="50" charset="0"/>
            </a:endParaRPr>
          </a:p>
        </p:txBody>
      </p:sp>
      <p:sp>
        <p:nvSpPr>
          <p:cNvPr id="23" name="CasellaDiTesto 22">
            <a:extLst>
              <a:ext uri="{FF2B5EF4-FFF2-40B4-BE49-F238E27FC236}">
                <a16:creationId xmlns:a16="http://schemas.microsoft.com/office/drawing/2014/main" id="{EA28F89D-95EE-4567-96B7-292EBB880427}"/>
              </a:ext>
            </a:extLst>
          </p:cNvPr>
          <p:cNvSpPr txBox="1"/>
          <p:nvPr/>
        </p:nvSpPr>
        <p:spPr>
          <a:xfrm>
            <a:off x="3456750" y="997209"/>
            <a:ext cx="6148386" cy="1569660"/>
          </a:xfrm>
          <a:prstGeom prst="rect">
            <a:avLst/>
          </a:prstGeom>
          <a:noFill/>
          <a:ln>
            <a:noFill/>
          </a:ln>
          <a:effectLst>
            <a:glow>
              <a:schemeClr val="bg1"/>
            </a:glow>
            <a:outerShdw dist="12700" dir="4140000" algn="ctr" rotWithShape="0">
              <a:schemeClr val="bg1">
                <a:alpha val="0"/>
              </a:schemeClr>
            </a:outerShdw>
          </a:effectLst>
        </p:spPr>
        <p:txBody>
          <a:bodyPr wrap="square">
            <a:spAutoFit/>
          </a:bodyPr>
          <a:lstStyle/>
          <a:p>
            <a:r>
              <a:rPr lang="it-IT" sz="1600" dirty="0">
                <a:effectLst>
                  <a:glow>
                    <a:schemeClr val="accent1">
                      <a:alpha val="40000"/>
                    </a:schemeClr>
                  </a:glow>
                </a:effectLst>
                <a:latin typeface="Corbel Light" panose="020B0303020204020204" pitchFamily="34" charset="0"/>
              </a:rPr>
              <a:t>Una rete GAN come internet è un aggregazione di LAN chiamati “</a:t>
            </a:r>
            <a:r>
              <a:rPr lang="it-IT" sz="1600" dirty="0" err="1">
                <a:effectLst>
                  <a:glow>
                    <a:schemeClr val="accent1">
                      <a:alpha val="40000"/>
                    </a:schemeClr>
                  </a:glow>
                </a:effectLst>
                <a:latin typeface="Corbel Light" panose="020B0303020204020204" pitchFamily="34" charset="0"/>
              </a:rPr>
              <a:t>Autonomous</a:t>
            </a:r>
            <a:r>
              <a:rPr lang="it-IT" sz="1600" dirty="0">
                <a:effectLst>
                  <a:glow>
                    <a:schemeClr val="accent1">
                      <a:alpha val="40000"/>
                    </a:schemeClr>
                  </a:glow>
                </a:effectLst>
                <a:latin typeface="Corbel Light" panose="020B0303020204020204" pitchFamily="34" charset="0"/>
              </a:rPr>
              <a:t> System” dove definiamo dei router di confine chiamati “</a:t>
            </a:r>
            <a:r>
              <a:rPr lang="it-IT" sz="1600" dirty="0" err="1">
                <a:effectLst>
                  <a:glow>
                    <a:schemeClr val="accent1">
                      <a:alpha val="40000"/>
                    </a:schemeClr>
                  </a:glow>
                </a:effectLst>
                <a:latin typeface="Corbel Light" panose="020B0303020204020204" pitchFamily="34" charset="0"/>
              </a:rPr>
              <a:t>Border</a:t>
            </a:r>
            <a:r>
              <a:rPr lang="it-IT" sz="1600" dirty="0">
                <a:effectLst>
                  <a:glow>
                    <a:schemeClr val="accent1">
                      <a:alpha val="40000"/>
                    </a:schemeClr>
                  </a:glow>
                </a:effectLst>
                <a:latin typeface="Corbel Light" panose="020B0303020204020204" pitchFamily="34" charset="0"/>
              </a:rPr>
              <a:t>” per la comunicazione con altre reti; qui troviamo protocolli interni “IGP” e protocolli esterni “EGP”.</a:t>
            </a:r>
          </a:p>
          <a:p>
            <a:r>
              <a:rPr lang="it-IT" sz="1600" dirty="0">
                <a:effectLst>
                  <a:glow>
                    <a:schemeClr val="accent1">
                      <a:alpha val="40000"/>
                    </a:schemeClr>
                  </a:glow>
                </a:effectLst>
                <a:latin typeface="Corbel Light" panose="020B0303020204020204" pitchFamily="34" charset="0"/>
              </a:rPr>
              <a:t>Nel routing distribuito la tabella di rete e calcolata dai router stessi comunicando con altri </a:t>
            </a:r>
            <a:r>
              <a:rPr lang="it-IT" sz="1600" dirty="0" err="1">
                <a:effectLst>
                  <a:glow>
                    <a:schemeClr val="accent1">
                      <a:alpha val="40000"/>
                    </a:schemeClr>
                  </a:glow>
                </a:effectLst>
                <a:latin typeface="Corbel Light" panose="020B0303020204020204" pitchFamily="34" charset="0"/>
              </a:rPr>
              <a:t>route</a:t>
            </a:r>
            <a:r>
              <a:rPr lang="it-IT" sz="1600" dirty="0">
                <a:effectLst>
                  <a:glow>
                    <a:schemeClr val="accent1">
                      <a:alpha val="40000"/>
                    </a:schemeClr>
                  </a:glow>
                </a:effectLst>
                <a:latin typeface="Corbel Light" panose="020B0303020204020204" pitchFamily="34" charset="0"/>
              </a:rPr>
              <a:t>, ci sono due approcci principali: </a:t>
            </a:r>
          </a:p>
        </p:txBody>
      </p:sp>
      <p:sp>
        <p:nvSpPr>
          <p:cNvPr id="32" name="CasellaDiTesto 31">
            <a:extLst>
              <a:ext uri="{FF2B5EF4-FFF2-40B4-BE49-F238E27FC236}">
                <a16:creationId xmlns:a16="http://schemas.microsoft.com/office/drawing/2014/main" id="{52F09412-7C39-41A9-9280-9EA3DDD161B5}"/>
              </a:ext>
            </a:extLst>
          </p:cNvPr>
          <p:cNvSpPr txBox="1"/>
          <p:nvPr/>
        </p:nvSpPr>
        <p:spPr>
          <a:xfrm>
            <a:off x="216934" y="3168923"/>
            <a:ext cx="3500620" cy="3077766"/>
          </a:xfrm>
          <a:prstGeom prst="rect">
            <a:avLst/>
          </a:prstGeom>
          <a:noFill/>
        </p:spPr>
        <p:txBody>
          <a:bodyPr wrap="square">
            <a:spAutoFit/>
          </a:bodyPr>
          <a:lstStyle/>
          <a:p>
            <a:endParaRPr lang="it-IT" dirty="0">
              <a:solidFill>
                <a:schemeClr val="bg1"/>
              </a:solidFill>
              <a:effectLst/>
              <a:latin typeface="YAFdtQi73Xs 0"/>
            </a:endParaRPr>
          </a:p>
          <a:p>
            <a:r>
              <a:rPr lang="it-IT" sz="1600" dirty="0">
                <a:solidFill>
                  <a:schemeClr val="bg1"/>
                </a:solidFill>
                <a:latin typeface="Corbel Light" panose="020B0303020204020204" pitchFamily="34" charset="0"/>
              </a:rPr>
              <a:t>I router conoscono la topologia della rete e mandano le informazioni dei propri vicini con un messaggio di broadcast chiamato “LSP (Link State </a:t>
            </a:r>
            <a:r>
              <a:rPr lang="it-IT" sz="1600" dirty="0" err="1">
                <a:solidFill>
                  <a:schemeClr val="bg1"/>
                </a:solidFill>
                <a:latin typeface="Corbel Light" panose="020B0303020204020204" pitchFamily="34" charset="0"/>
              </a:rPr>
              <a:t>Packet</a:t>
            </a:r>
            <a:r>
              <a:rPr lang="it-IT" sz="1600" dirty="0">
                <a:solidFill>
                  <a:schemeClr val="bg1"/>
                </a:solidFill>
                <a:latin typeface="Corbel Light" panose="020B0303020204020204" pitchFamily="34" charset="0"/>
              </a:rPr>
              <a:t>)” ma solo quando avviene un cambiamento; siccome tutti conoscono la topologia di rete ogni router saprà calcolare in modo autonomo il miglior hop per ogni destinazione, non è adatto per reti di grandi dimensioni con cambiamenti frequenti.</a:t>
            </a:r>
          </a:p>
        </p:txBody>
      </p:sp>
      <p:sp>
        <p:nvSpPr>
          <p:cNvPr id="33" name="CasellaDiTesto 32">
            <a:extLst>
              <a:ext uri="{FF2B5EF4-FFF2-40B4-BE49-F238E27FC236}">
                <a16:creationId xmlns:a16="http://schemas.microsoft.com/office/drawing/2014/main" id="{B3FCD270-9796-43C3-9556-BE425CFA19BC}"/>
              </a:ext>
            </a:extLst>
          </p:cNvPr>
          <p:cNvSpPr txBox="1"/>
          <p:nvPr/>
        </p:nvSpPr>
        <p:spPr>
          <a:xfrm>
            <a:off x="8732410" y="3384914"/>
            <a:ext cx="3183730" cy="2554545"/>
          </a:xfrm>
          <a:prstGeom prst="rect">
            <a:avLst/>
          </a:prstGeom>
          <a:noFill/>
        </p:spPr>
        <p:txBody>
          <a:bodyPr wrap="square">
            <a:spAutoFit/>
          </a:bodyPr>
          <a:lstStyle/>
          <a:p>
            <a:r>
              <a:rPr lang="it-IT" sz="1600" dirty="0">
                <a:solidFill>
                  <a:srgbClr val="3B3838"/>
                </a:solidFill>
                <a:latin typeface="Corbel Light" panose="020B0303020204020204" pitchFamily="34" charset="0"/>
              </a:rPr>
              <a:t>Qui invece i router non possiedono informazioni sulla topologia di rete ma comunicano con altri router che permetteranno di configurare la tabella di routing, questo processo di aggiornamento continua finché non arriviamo ad una configurazione stabile. Uno degli algoritmi dinamici più famosi e più utilizzati è l’algoritmo di </a:t>
            </a:r>
            <a:r>
              <a:rPr lang="it-IT" sz="1600" dirty="0" err="1">
                <a:solidFill>
                  <a:srgbClr val="3B3838"/>
                </a:solidFill>
                <a:latin typeface="Corbel Light" panose="020B0303020204020204" pitchFamily="34" charset="0"/>
              </a:rPr>
              <a:t>Bellman-ford</a:t>
            </a:r>
            <a:r>
              <a:rPr lang="it-IT" sz="1600" dirty="0">
                <a:solidFill>
                  <a:srgbClr val="3B3838"/>
                </a:solidFill>
                <a:latin typeface="Corbel Light" panose="020B0303020204020204" pitchFamily="34" charset="0"/>
              </a:rPr>
              <a:t>.</a:t>
            </a:r>
          </a:p>
        </p:txBody>
      </p:sp>
      <mc:AlternateContent xmlns:mc="http://schemas.openxmlformats.org/markup-compatibility/2006">
        <mc:Choice xmlns:am3d="http://schemas.microsoft.com/office/drawing/2017/model3d" Requires="am3d">
          <p:graphicFrame>
            <p:nvGraphicFramePr>
              <p:cNvPr id="14" name="Modello 3D 13">
                <a:extLst>
                  <a:ext uri="{FF2B5EF4-FFF2-40B4-BE49-F238E27FC236}">
                    <a16:creationId xmlns:a16="http://schemas.microsoft.com/office/drawing/2014/main" id="{D7C79D36-FC86-4F78-B045-45F0904CF3E6}"/>
                  </a:ext>
                </a:extLst>
              </p:cNvPr>
              <p:cNvGraphicFramePr>
                <a:graphicFrameLocks noChangeAspect="1"/>
              </p:cNvGraphicFramePr>
              <p:nvPr>
                <p:extLst>
                  <p:ext uri="{D42A27DB-BD31-4B8C-83A1-F6EECF244321}">
                    <p14:modId xmlns:p14="http://schemas.microsoft.com/office/powerpoint/2010/main" val="1394888172"/>
                  </p:ext>
                </p:extLst>
              </p:nvPr>
            </p:nvGraphicFramePr>
            <p:xfrm>
              <a:off x="4484354" y="2358134"/>
              <a:ext cx="3437461" cy="2141732"/>
            </p:xfrm>
            <a:graphic>
              <a:graphicData uri="http://schemas.microsoft.com/office/drawing/2017/model3d">
                <am3d:model3d r:embed="rId2">
                  <am3d:spPr>
                    <a:xfrm>
                      <a:off x="0" y="0"/>
                      <a:ext cx="3437461" cy="21417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3326840" ay="-14157" az="-20624"/>
                    <am3d:postTrans dx="0" dy="0" dz="0"/>
                  </am3d:trans>
                  <am3d:raster rName="Office3DRenderer" rVer="16.0.8326">
                    <am3d:blip r:embed="rId3"/>
                  </am3d:raster>
                  <am3d:objViewport viewportSz="401964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4" name="Modello 3D 13">
                <a:extLst>
                  <a:ext uri="{FF2B5EF4-FFF2-40B4-BE49-F238E27FC236}">
                    <a16:creationId xmlns:a16="http://schemas.microsoft.com/office/drawing/2014/main" id="{D7C79D36-FC86-4F78-B045-45F0904CF3E6}"/>
                  </a:ext>
                </a:extLst>
              </p:cNvPr>
              <p:cNvPicPr>
                <a:picLocks noGrp="1" noRot="1" noChangeAspect="1" noMove="1" noResize="1" noEditPoints="1" noAdjustHandles="1" noChangeArrowheads="1" noChangeShapeType="1" noCrop="1"/>
              </p:cNvPicPr>
              <p:nvPr/>
            </p:nvPicPr>
            <p:blipFill>
              <a:blip r:embed="rId3"/>
              <a:stretch>
                <a:fillRect/>
              </a:stretch>
            </p:blipFill>
            <p:spPr>
              <a:xfrm>
                <a:off x="4484354" y="2358134"/>
                <a:ext cx="3437461" cy="2141732"/>
              </a:xfrm>
              <a:prstGeom prst="rect">
                <a:avLst/>
              </a:prstGeom>
            </p:spPr>
          </p:pic>
        </mc:Fallback>
      </mc:AlternateContent>
    </p:spTree>
    <p:extLst>
      <p:ext uri="{BB962C8B-B14F-4D97-AF65-F5344CB8AC3E}">
        <p14:creationId xmlns:p14="http://schemas.microsoft.com/office/powerpoint/2010/main" val="1545169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7886534"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33" name="CasellaDiTesto 32">
            <a:extLst>
              <a:ext uri="{FF2B5EF4-FFF2-40B4-BE49-F238E27FC236}">
                <a16:creationId xmlns:a16="http://schemas.microsoft.com/office/drawing/2014/main" id="{B3FCD270-9796-43C3-9556-BE425CFA19BC}"/>
              </a:ext>
            </a:extLst>
          </p:cNvPr>
          <p:cNvSpPr txBox="1"/>
          <p:nvPr/>
        </p:nvSpPr>
        <p:spPr>
          <a:xfrm>
            <a:off x="13573931" y="3384914"/>
            <a:ext cx="3183730" cy="2554545"/>
          </a:xfrm>
          <a:prstGeom prst="rect">
            <a:avLst/>
          </a:prstGeom>
          <a:noFill/>
        </p:spPr>
        <p:txBody>
          <a:bodyPr wrap="square">
            <a:spAutoFit/>
          </a:bodyPr>
          <a:lstStyle/>
          <a:p>
            <a:r>
              <a:rPr lang="it-IT" sz="1600" dirty="0">
                <a:solidFill>
                  <a:srgbClr val="3B3838"/>
                </a:solidFill>
                <a:latin typeface="Corbel Light" panose="020B0303020204020204" pitchFamily="34" charset="0"/>
              </a:rPr>
              <a:t>Qui invece i router non possiedono informazioni sulla topologia di rete ma comunicano con altri router che permetteranno di configurare la tabella di routing, questo processo di aggiornamento continua finché non arriviamo ad una configurazione stabile. Uno degli algoritmi dinamici più famosi e più utilizzati è l’algoritmo di </a:t>
            </a:r>
            <a:r>
              <a:rPr lang="it-IT" sz="1600" dirty="0" err="1">
                <a:solidFill>
                  <a:srgbClr val="3B3838"/>
                </a:solidFill>
                <a:latin typeface="Corbel Light" panose="020B0303020204020204" pitchFamily="34" charset="0"/>
              </a:rPr>
              <a:t>Bellman-ford</a:t>
            </a:r>
            <a:r>
              <a:rPr lang="it-IT" sz="1600" dirty="0">
                <a:solidFill>
                  <a:srgbClr val="3B3838"/>
                </a:solidFill>
                <a:latin typeface="Corbel Light" panose="020B0303020204020204" pitchFamily="34" charset="0"/>
              </a:rPr>
              <a:t>.</a:t>
            </a:r>
          </a:p>
        </p:txBody>
      </p:sp>
      <p:sp>
        <p:nvSpPr>
          <p:cNvPr id="2" name="CasellaDiTesto 1">
            <a:extLst>
              <a:ext uri="{FF2B5EF4-FFF2-40B4-BE49-F238E27FC236}">
                <a16:creationId xmlns:a16="http://schemas.microsoft.com/office/drawing/2014/main" id="{8140CA5C-CBE5-453D-A0FA-C76A847C85CE}"/>
              </a:ext>
            </a:extLst>
          </p:cNvPr>
          <p:cNvSpPr txBox="1"/>
          <p:nvPr/>
        </p:nvSpPr>
        <p:spPr>
          <a:xfrm>
            <a:off x="1034689" y="1990415"/>
            <a:ext cx="3387971" cy="523220"/>
          </a:xfrm>
          <a:prstGeom prst="rect">
            <a:avLst/>
          </a:prstGeom>
          <a:noFill/>
        </p:spPr>
        <p:txBody>
          <a:bodyPr wrap="square" rtlCol="0">
            <a:spAutoFit/>
          </a:bodyPr>
          <a:lstStyle/>
          <a:p>
            <a:r>
              <a:rPr lang="it-IT" sz="1400" i="1" dirty="0">
                <a:solidFill>
                  <a:schemeClr val="bg1"/>
                </a:solidFill>
                <a:latin typeface="Corbel Light" panose="020B0303020204020204" pitchFamily="34" charset="0"/>
              </a:rPr>
              <a:t>È un insieme di nodi che ha degli archi che lo congiungono ad altri nodi.</a:t>
            </a:r>
          </a:p>
        </p:txBody>
      </p:sp>
      <p:sp>
        <p:nvSpPr>
          <p:cNvPr id="17" name="CasellaDiTesto 16">
            <a:extLst>
              <a:ext uri="{FF2B5EF4-FFF2-40B4-BE49-F238E27FC236}">
                <a16:creationId xmlns:a16="http://schemas.microsoft.com/office/drawing/2014/main" id="{423D6102-DE37-4B57-916D-9FA1745F360D}"/>
              </a:ext>
            </a:extLst>
          </p:cNvPr>
          <p:cNvSpPr txBox="1"/>
          <p:nvPr/>
        </p:nvSpPr>
        <p:spPr>
          <a:xfrm>
            <a:off x="1034689" y="4178082"/>
            <a:ext cx="8440946" cy="1107996"/>
          </a:xfrm>
          <a:prstGeom prst="rect">
            <a:avLst/>
          </a:prstGeom>
          <a:noFill/>
        </p:spPr>
        <p:txBody>
          <a:bodyPr wrap="square">
            <a:spAutoFit/>
          </a:bodyPr>
          <a:lstStyle/>
          <a:p>
            <a:r>
              <a:rPr lang="it-IT" b="1" dirty="0" err="1">
                <a:solidFill>
                  <a:schemeClr val="bg1"/>
                </a:solidFill>
                <a:latin typeface="Corbel Light" panose="020B0303020204020204" pitchFamily="34" charset="0"/>
              </a:rPr>
              <a:t>Shortest</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Path</a:t>
            </a:r>
            <a:endParaRPr lang="it-IT" sz="1600" dirty="0">
              <a:solidFill>
                <a:schemeClr val="bg1"/>
              </a:solidFill>
              <a:latin typeface="Corbel Light" panose="020B0303020204020204" pitchFamily="34" charset="0"/>
            </a:endParaRPr>
          </a:p>
          <a:p>
            <a:r>
              <a:rPr lang="it-IT" sz="1600" dirty="0">
                <a:solidFill>
                  <a:schemeClr val="bg1"/>
                </a:solidFill>
                <a:latin typeface="Corbel Light" panose="020B0303020204020204" pitchFamily="34" charset="0"/>
              </a:rPr>
              <a:t>L’algoritmo di </a:t>
            </a:r>
            <a:r>
              <a:rPr lang="it-IT" sz="1600" dirty="0" err="1">
                <a:solidFill>
                  <a:schemeClr val="bg1"/>
                </a:solidFill>
                <a:latin typeface="Corbel Light" panose="020B0303020204020204" pitchFamily="34" charset="0"/>
              </a:rPr>
              <a:t>Bellman</a:t>
            </a:r>
            <a:r>
              <a:rPr lang="it-IT" sz="1600" dirty="0">
                <a:solidFill>
                  <a:schemeClr val="bg1"/>
                </a:solidFill>
                <a:latin typeface="Corbel Light" panose="020B0303020204020204" pitchFamily="34" charset="0"/>
              </a:rPr>
              <a:t>-Ford calcola i cammini</a:t>
            </a:r>
          </a:p>
          <a:p>
            <a:r>
              <a:rPr lang="it-IT" sz="1600" dirty="0">
                <a:solidFill>
                  <a:schemeClr val="bg1"/>
                </a:solidFill>
                <a:latin typeface="Corbel Light" panose="020B0303020204020204" pitchFamily="34" charset="0"/>
              </a:rPr>
              <a:t>minimi di un’unica sorgente su un grafo diretto </a:t>
            </a:r>
          </a:p>
          <a:p>
            <a:r>
              <a:rPr lang="it-IT" sz="1600" dirty="0">
                <a:solidFill>
                  <a:schemeClr val="bg1"/>
                </a:solidFill>
                <a:latin typeface="Corbel Light" panose="020B0303020204020204" pitchFamily="34" charset="0"/>
              </a:rPr>
              <a:t>pesato(dove alcuni pesi degli archi possono anche essere negativi)</a:t>
            </a:r>
          </a:p>
        </p:txBody>
      </p:sp>
      <p:sp>
        <p:nvSpPr>
          <p:cNvPr id="18" name="CasellaDiTesto 17">
            <a:extLst>
              <a:ext uri="{FF2B5EF4-FFF2-40B4-BE49-F238E27FC236}">
                <a16:creationId xmlns:a16="http://schemas.microsoft.com/office/drawing/2014/main" id="{98E7C78B-1709-4F29-9232-378832BD949B}"/>
              </a:ext>
            </a:extLst>
          </p:cNvPr>
          <p:cNvSpPr txBox="1"/>
          <p:nvPr/>
        </p:nvSpPr>
        <p:spPr>
          <a:xfrm>
            <a:off x="1034689" y="2521081"/>
            <a:ext cx="8440946" cy="1569660"/>
          </a:xfrm>
          <a:prstGeom prst="rect">
            <a:avLst/>
          </a:prstGeom>
          <a:noFill/>
        </p:spPr>
        <p:txBody>
          <a:bodyPr wrap="square">
            <a:spAutoFit/>
          </a:bodyPr>
          <a:lstStyle/>
          <a:p>
            <a:r>
              <a:rPr lang="it-IT" sz="1600" dirty="0">
                <a:solidFill>
                  <a:schemeClr val="bg1"/>
                </a:solidFill>
                <a:latin typeface="Corbel Light" panose="020B0303020204020204" pitchFamily="34" charset="0"/>
              </a:rPr>
              <a:t>Ogni </a:t>
            </a:r>
            <a:r>
              <a:rPr lang="it-IT" sz="1600" dirty="0" err="1">
                <a:solidFill>
                  <a:schemeClr val="bg1"/>
                </a:solidFill>
                <a:latin typeface="Corbel Light" panose="020B0303020204020204" pitchFamily="34" charset="0"/>
              </a:rPr>
              <a:t>host</a:t>
            </a:r>
            <a:r>
              <a:rPr lang="it-IT" sz="1600" dirty="0">
                <a:solidFill>
                  <a:schemeClr val="bg1"/>
                </a:solidFill>
                <a:latin typeface="Corbel Light" panose="020B0303020204020204" pitchFamily="34" charset="0"/>
              </a:rPr>
              <a:t> è connesso a un router </a:t>
            </a:r>
            <a:r>
              <a:rPr lang="it-IT" sz="1600" dirty="0" err="1">
                <a:solidFill>
                  <a:schemeClr val="bg1"/>
                </a:solidFill>
                <a:latin typeface="Corbel Light" panose="020B0303020204020204" pitchFamily="34" charset="0"/>
              </a:rPr>
              <a:t>predefenito</a:t>
            </a:r>
            <a:r>
              <a:rPr lang="it-IT" sz="1600" dirty="0">
                <a:solidFill>
                  <a:schemeClr val="bg1"/>
                </a:solidFill>
                <a:latin typeface="Corbel Light" panose="020B0303020204020204" pitchFamily="34" charset="0"/>
              </a:rPr>
              <a:t> </a:t>
            </a:r>
          </a:p>
          <a:p>
            <a:r>
              <a:rPr lang="it-IT" sz="1600" dirty="0">
                <a:solidFill>
                  <a:schemeClr val="bg1"/>
                </a:solidFill>
                <a:latin typeface="Corbel Light" panose="020B0303020204020204" pitchFamily="34" charset="0"/>
              </a:rPr>
              <a:t>(del suo segmento di rete), chiamato anche router </a:t>
            </a:r>
          </a:p>
          <a:p>
            <a:r>
              <a:rPr lang="it-IT" sz="1600" dirty="0">
                <a:solidFill>
                  <a:schemeClr val="bg1"/>
                </a:solidFill>
                <a:latin typeface="Corbel Light" panose="020B0303020204020204" pitchFamily="34" charset="0"/>
              </a:rPr>
              <a:t>di primo hop. Possiamo identificare una rete </a:t>
            </a:r>
          </a:p>
          <a:p>
            <a:r>
              <a:rPr lang="it-IT" sz="1600" dirty="0">
                <a:solidFill>
                  <a:schemeClr val="bg1"/>
                </a:solidFill>
                <a:latin typeface="Corbel Light" panose="020B0303020204020204" pitchFamily="34" charset="0"/>
              </a:rPr>
              <a:t>di calcolatori con una struttura dinamica informatica, </a:t>
            </a:r>
          </a:p>
          <a:p>
            <a:r>
              <a:rPr lang="it-IT" sz="1600" dirty="0">
                <a:solidFill>
                  <a:schemeClr val="bg1"/>
                </a:solidFill>
                <a:latin typeface="Corbel Light" panose="020B0303020204020204" pitchFamily="34" charset="0"/>
              </a:rPr>
              <a:t>il GRAFO e, quindi effettuare la ricerca del </a:t>
            </a:r>
          </a:p>
          <a:p>
            <a:r>
              <a:rPr lang="it-IT" sz="1600" dirty="0">
                <a:solidFill>
                  <a:schemeClr val="bg1"/>
                </a:solidFill>
                <a:latin typeface="Corbel Light" panose="020B0303020204020204" pitchFamily="34" charset="0"/>
              </a:rPr>
              <a:t>cammino minimo tra due router.</a:t>
            </a:r>
          </a:p>
        </p:txBody>
      </p:sp>
      <p:sp>
        <p:nvSpPr>
          <p:cNvPr id="20" name="Rettangolo 19">
            <a:extLst>
              <a:ext uri="{FF2B5EF4-FFF2-40B4-BE49-F238E27FC236}">
                <a16:creationId xmlns:a16="http://schemas.microsoft.com/office/drawing/2014/main" id="{B09536D3-4D96-425D-AFA9-C39504FD98D0}"/>
              </a:ext>
            </a:extLst>
          </p:cNvPr>
          <p:cNvSpPr/>
          <p:nvPr/>
        </p:nvSpPr>
        <p:spPr>
          <a:xfrm>
            <a:off x="8005314" y="61088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7322267" y="48342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sp>
        <p:nvSpPr>
          <p:cNvPr id="25" name="CasellaDiTesto 24">
            <a:extLst>
              <a:ext uri="{FF2B5EF4-FFF2-40B4-BE49-F238E27FC236}">
                <a16:creationId xmlns:a16="http://schemas.microsoft.com/office/drawing/2014/main" id="{73B3388D-13F1-4795-96E3-A201B3CAE159}"/>
              </a:ext>
            </a:extLst>
          </p:cNvPr>
          <p:cNvSpPr txBox="1"/>
          <p:nvPr/>
        </p:nvSpPr>
        <p:spPr>
          <a:xfrm>
            <a:off x="400664" y="1159063"/>
            <a:ext cx="2652940" cy="646331"/>
          </a:xfrm>
          <a:prstGeom prst="rect">
            <a:avLst/>
          </a:prstGeom>
          <a:noFill/>
        </p:spPr>
        <p:txBody>
          <a:bodyPr wrap="square" rtlCol="0">
            <a:spAutoFit/>
          </a:bodyPr>
          <a:lstStyle/>
          <a:p>
            <a:pPr algn="ctr"/>
            <a:r>
              <a:rPr lang="en-US" sz="3600" dirty="0">
                <a:solidFill>
                  <a:schemeClr val="bg1"/>
                </a:solidFill>
                <a:latin typeface="LEMON MILK" panose="00000500000000000000" pitchFamily="50" charset="0"/>
              </a:rPr>
              <a:t>GRAFI</a:t>
            </a:r>
          </a:p>
        </p:txBody>
      </p:sp>
      <p:grpSp>
        <p:nvGrpSpPr>
          <p:cNvPr id="15" name="Gruppo 14">
            <a:extLst>
              <a:ext uri="{FF2B5EF4-FFF2-40B4-BE49-F238E27FC236}">
                <a16:creationId xmlns:a16="http://schemas.microsoft.com/office/drawing/2014/main" id="{3FACDDAB-E733-4713-A038-A0E7DDF91FFB}"/>
              </a:ext>
            </a:extLst>
          </p:cNvPr>
          <p:cNvGrpSpPr/>
          <p:nvPr/>
        </p:nvGrpSpPr>
        <p:grpSpPr>
          <a:xfrm>
            <a:off x="-767604" y="2630642"/>
            <a:ext cx="569246" cy="562145"/>
            <a:chOff x="7156642" y="2544529"/>
            <a:chExt cx="1083401" cy="1083401"/>
          </a:xfrm>
        </p:grpSpPr>
        <mc:AlternateContent xmlns:mc="http://schemas.openxmlformats.org/markup-compatibility/2006">
          <mc:Choice xmlns:am3d="http://schemas.microsoft.com/office/drawing/2017/model3d" Requires="am3d">
            <p:graphicFrame>
              <p:nvGraphicFramePr>
                <p:cNvPr id="16" name="Modello 3D 15" descr="Sfera grigio chiaro">
                  <a:extLst>
                    <a:ext uri="{FF2B5EF4-FFF2-40B4-BE49-F238E27FC236}">
                      <a16:creationId xmlns:a16="http://schemas.microsoft.com/office/drawing/2014/main" id="{E8E34D8D-07FF-4A46-AB60-4BC4DD93EE20}"/>
                    </a:ext>
                  </a:extLst>
                </p:cNvPr>
                <p:cNvGraphicFramePr>
                  <a:graphicFrameLocks noChangeAspect="1"/>
                </p:cNvGraphicFramePr>
                <p:nvPr>
                  <p:extLst>
                    <p:ext uri="{D42A27DB-BD31-4B8C-83A1-F6EECF244321}">
                      <p14:modId xmlns:p14="http://schemas.microsoft.com/office/powerpoint/2010/main" val="3589612334"/>
                    </p:ext>
                  </p:extLst>
                </p:nvPr>
              </p:nvGraphicFramePr>
              <p:xfrm>
                <a:off x="7156642" y="2544529"/>
                <a:ext cx="1083401" cy="1083401"/>
              </p:xfrm>
              <a:graphic>
                <a:graphicData uri="http://schemas.microsoft.com/office/drawing/2017/model3d">
                  <am3d:model3d r:embed="rId2">
                    <am3d:spPr>
                      <a:xfrm>
                        <a:off x="0" y="0"/>
                        <a:ext cx="1083401" cy="108340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8744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Modello 3D 15" descr="Sfera grigio chiaro">
                  <a:extLst>
                    <a:ext uri="{FF2B5EF4-FFF2-40B4-BE49-F238E27FC236}">
                      <a16:creationId xmlns:a16="http://schemas.microsoft.com/office/drawing/2014/main" id="{E8E34D8D-07FF-4A46-AB60-4BC4DD93EE20}"/>
                    </a:ext>
                  </a:extLst>
                </p:cNvPr>
                <p:cNvPicPr>
                  <a:picLocks noGrp="1" noRot="1" noChangeAspect="1" noMove="1" noResize="1" noEditPoints="1" noAdjustHandles="1" noChangeArrowheads="1" noChangeShapeType="1" noCrop="1"/>
                </p:cNvPicPr>
                <p:nvPr/>
              </p:nvPicPr>
              <p:blipFill>
                <a:blip r:embed="rId3"/>
                <a:stretch>
                  <a:fillRect/>
                </a:stretch>
              </p:blipFill>
              <p:spPr>
                <a:xfrm>
                  <a:off x="-767604" y="2630642"/>
                  <a:ext cx="569246" cy="562145"/>
                </a:xfrm>
                <a:prstGeom prst="rect">
                  <a:avLst/>
                </a:prstGeom>
              </p:spPr>
            </p:pic>
          </mc:Fallback>
        </mc:AlternateContent>
        <p:sp>
          <p:nvSpPr>
            <p:cNvPr id="21" name="CasellaDiTesto 20">
              <a:extLst>
                <a:ext uri="{FF2B5EF4-FFF2-40B4-BE49-F238E27FC236}">
                  <a16:creationId xmlns:a16="http://schemas.microsoft.com/office/drawing/2014/main" id="{2B538519-7AF9-4601-827A-657FE4754124}"/>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3" name="Gruppo 22">
            <a:extLst>
              <a:ext uri="{FF2B5EF4-FFF2-40B4-BE49-F238E27FC236}">
                <a16:creationId xmlns:a16="http://schemas.microsoft.com/office/drawing/2014/main" id="{FAB7DA68-8720-427A-9835-80DCE15DCFCA}"/>
              </a:ext>
            </a:extLst>
          </p:cNvPr>
          <p:cNvGrpSpPr/>
          <p:nvPr/>
        </p:nvGrpSpPr>
        <p:grpSpPr>
          <a:xfrm>
            <a:off x="-1876642" y="4311071"/>
            <a:ext cx="529776" cy="523168"/>
            <a:chOff x="2029030" y="3475956"/>
            <a:chExt cx="1008280" cy="1008281"/>
          </a:xfrm>
        </p:grpSpPr>
        <mc:AlternateContent xmlns:mc="http://schemas.openxmlformats.org/markup-compatibility/2006">
          <mc:Choice xmlns:am3d="http://schemas.microsoft.com/office/drawing/2017/model3d" Requires="am3d">
            <p:graphicFrame>
              <p:nvGraphicFramePr>
                <p:cNvPr id="24" name="Modello 3D 23" descr="Sfera grigio chiaro">
                  <a:extLst>
                    <a:ext uri="{FF2B5EF4-FFF2-40B4-BE49-F238E27FC236}">
                      <a16:creationId xmlns:a16="http://schemas.microsoft.com/office/drawing/2014/main" id="{8F2BF45E-D434-451B-9EA0-17A6F75B8CC5}"/>
                    </a:ext>
                  </a:extLst>
                </p:cNvPr>
                <p:cNvGraphicFramePr>
                  <a:graphicFrameLocks noChangeAspect="1"/>
                </p:cNvGraphicFramePr>
                <p:nvPr>
                  <p:extLst>
                    <p:ext uri="{D42A27DB-BD31-4B8C-83A1-F6EECF244321}">
                      <p14:modId xmlns:p14="http://schemas.microsoft.com/office/powerpoint/2010/main" val="385454282"/>
                    </p:ext>
                  </p:extLst>
                </p:nvPr>
              </p:nvGraphicFramePr>
              <p:xfrm>
                <a:off x="2029030" y="3475956"/>
                <a:ext cx="1008280" cy="1008281"/>
              </p:xfrm>
              <a:graphic>
                <a:graphicData uri="http://schemas.microsoft.com/office/drawing/2017/model3d">
                  <am3d:model3d r:embed="rId2">
                    <am3d:spPr>
                      <a:xfrm>
                        <a:off x="0" y="0"/>
                        <a:ext cx="1008280" cy="100828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84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Modello 3D 23" descr="Sfera grigio chiaro">
                  <a:extLst>
                    <a:ext uri="{FF2B5EF4-FFF2-40B4-BE49-F238E27FC236}">
                      <a16:creationId xmlns:a16="http://schemas.microsoft.com/office/drawing/2014/main" id="{8F2BF45E-D434-451B-9EA0-17A6F75B8CC5}"/>
                    </a:ext>
                  </a:extLst>
                </p:cNvPr>
                <p:cNvPicPr>
                  <a:picLocks noGrp="1" noRot="1" noChangeAspect="1" noMove="1" noResize="1" noEditPoints="1" noAdjustHandles="1" noChangeArrowheads="1" noChangeShapeType="1" noCrop="1"/>
                </p:cNvPicPr>
                <p:nvPr/>
              </p:nvPicPr>
              <p:blipFill>
                <a:blip r:embed="rId4"/>
                <a:stretch>
                  <a:fillRect/>
                </a:stretch>
              </p:blipFill>
              <p:spPr>
                <a:xfrm>
                  <a:off x="-1876642" y="4311071"/>
                  <a:ext cx="529776" cy="523168"/>
                </a:xfrm>
                <a:prstGeom prst="rect">
                  <a:avLst/>
                </a:prstGeom>
              </p:spPr>
            </p:pic>
          </mc:Fallback>
        </mc:AlternateContent>
        <p:sp>
          <p:nvSpPr>
            <p:cNvPr id="26" name="CasellaDiTesto 25">
              <a:extLst>
                <a:ext uri="{FF2B5EF4-FFF2-40B4-BE49-F238E27FC236}">
                  <a16:creationId xmlns:a16="http://schemas.microsoft.com/office/drawing/2014/main" id="{FDBFAAA8-F002-4CE3-89E6-7DD6C0B1C916}"/>
                </a:ext>
              </a:extLst>
            </p:cNvPr>
            <p:cNvSpPr txBox="1"/>
            <p:nvPr/>
          </p:nvSpPr>
          <p:spPr>
            <a:xfrm>
              <a:off x="2271076" y="3683512"/>
              <a:ext cx="496579" cy="593166"/>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grpSp>
        <p:nvGrpSpPr>
          <p:cNvPr id="27" name="Gruppo 26">
            <a:extLst>
              <a:ext uri="{FF2B5EF4-FFF2-40B4-BE49-F238E27FC236}">
                <a16:creationId xmlns:a16="http://schemas.microsoft.com/office/drawing/2014/main" id="{B8397CA9-69FE-4CA6-A148-98EE385E4437}"/>
              </a:ext>
            </a:extLst>
          </p:cNvPr>
          <p:cNvGrpSpPr/>
          <p:nvPr/>
        </p:nvGrpSpPr>
        <p:grpSpPr>
          <a:xfrm>
            <a:off x="-853957" y="4305868"/>
            <a:ext cx="535045" cy="528371"/>
            <a:chOff x="2096089" y="4934808"/>
            <a:chExt cx="1018309" cy="1018310"/>
          </a:xfrm>
        </p:grpSpPr>
        <mc:AlternateContent xmlns:mc="http://schemas.openxmlformats.org/markup-compatibility/2006">
          <mc:Choice xmlns:am3d="http://schemas.microsoft.com/office/drawing/2017/model3d" Requires="am3d">
            <p:graphicFrame>
              <p:nvGraphicFramePr>
                <p:cNvPr id="30" name="Modello 3D 29" descr="Sfera grigio chiaro">
                  <a:extLst>
                    <a:ext uri="{FF2B5EF4-FFF2-40B4-BE49-F238E27FC236}">
                      <a16:creationId xmlns:a16="http://schemas.microsoft.com/office/drawing/2014/main" id="{660DACD9-EDE7-42C5-BBCF-BEBA5577171D}"/>
                    </a:ext>
                  </a:extLst>
                </p:cNvPr>
                <p:cNvGraphicFramePr>
                  <a:graphicFrameLocks noChangeAspect="1"/>
                </p:cNvGraphicFramePr>
                <p:nvPr>
                  <p:extLst>
                    <p:ext uri="{D42A27DB-BD31-4B8C-83A1-F6EECF244321}">
                      <p14:modId xmlns:p14="http://schemas.microsoft.com/office/powerpoint/2010/main" val="1795946928"/>
                    </p:ext>
                  </p:extLst>
                </p:nvPr>
              </p:nvGraphicFramePr>
              <p:xfrm>
                <a:off x="2096089" y="4934808"/>
                <a:ext cx="1018309" cy="1018310"/>
              </p:xfrm>
              <a:graphic>
                <a:graphicData uri="http://schemas.microsoft.com/office/drawing/2017/model3d">
                  <am3d:model3d r:embed="rId2">
                    <am3d:spPr>
                      <a:xfrm>
                        <a:off x="0" y="0"/>
                        <a:ext cx="1018309" cy="101831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81790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 name="Modello 3D 29" descr="Sfera grigio chiaro">
                  <a:extLst>
                    <a:ext uri="{FF2B5EF4-FFF2-40B4-BE49-F238E27FC236}">
                      <a16:creationId xmlns:a16="http://schemas.microsoft.com/office/drawing/2014/main" id="{660DACD9-EDE7-42C5-BBCF-BEBA5577171D}"/>
                    </a:ext>
                  </a:extLst>
                </p:cNvPr>
                <p:cNvPicPr>
                  <a:picLocks noGrp="1" noRot="1" noChangeAspect="1" noMove="1" noResize="1" noEditPoints="1" noAdjustHandles="1" noChangeArrowheads="1" noChangeShapeType="1" noCrop="1"/>
                </p:cNvPicPr>
                <p:nvPr/>
              </p:nvPicPr>
              <p:blipFill>
                <a:blip r:embed="rId5"/>
                <a:stretch>
                  <a:fillRect/>
                </a:stretch>
              </p:blipFill>
              <p:spPr>
                <a:xfrm>
                  <a:off x="-853957" y="4305868"/>
                  <a:ext cx="535045" cy="528371"/>
                </a:xfrm>
                <a:prstGeom prst="rect">
                  <a:avLst/>
                </a:prstGeom>
              </p:spPr>
            </p:pic>
          </mc:Fallback>
        </mc:AlternateContent>
        <p:sp>
          <p:nvSpPr>
            <p:cNvPr id="31" name="CasellaDiTesto 30">
              <a:extLst>
                <a:ext uri="{FF2B5EF4-FFF2-40B4-BE49-F238E27FC236}">
                  <a16:creationId xmlns:a16="http://schemas.microsoft.com/office/drawing/2014/main" id="{515E18BE-F357-48FB-9911-23397BB0B6F8}"/>
                </a:ext>
              </a:extLst>
            </p:cNvPr>
            <p:cNvSpPr txBox="1"/>
            <p:nvPr/>
          </p:nvSpPr>
          <p:spPr>
            <a:xfrm>
              <a:off x="2278359" y="5060886"/>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32" name="Gruppo 31">
            <a:extLst>
              <a:ext uri="{FF2B5EF4-FFF2-40B4-BE49-F238E27FC236}">
                <a16:creationId xmlns:a16="http://schemas.microsoft.com/office/drawing/2014/main" id="{CFB50EF5-8824-47D7-A55B-F7D1B9FC89FF}"/>
              </a:ext>
            </a:extLst>
          </p:cNvPr>
          <p:cNvGrpSpPr/>
          <p:nvPr/>
        </p:nvGrpSpPr>
        <p:grpSpPr>
          <a:xfrm>
            <a:off x="-1287580" y="3116449"/>
            <a:ext cx="474077" cy="468163"/>
            <a:chOff x="6214478" y="3704781"/>
            <a:chExt cx="902273" cy="902272"/>
          </a:xfrm>
        </p:grpSpPr>
        <mc:AlternateContent xmlns:mc="http://schemas.openxmlformats.org/markup-compatibility/2006">
          <mc:Choice xmlns:am3d="http://schemas.microsoft.com/office/drawing/2017/model3d" Requires="am3d">
            <p:graphicFrame>
              <p:nvGraphicFramePr>
                <p:cNvPr id="34" name="Modello 3D 33" descr="Sfera grigio chiaro">
                  <a:extLst>
                    <a:ext uri="{FF2B5EF4-FFF2-40B4-BE49-F238E27FC236}">
                      <a16:creationId xmlns:a16="http://schemas.microsoft.com/office/drawing/2014/main" id="{39D5CEB3-92BE-41AD-964F-85657646C3FE}"/>
                    </a:ext>
                  </a:extLst>
                </p:cNvPr>
                <p:cNvGraphicFramePr>
                  <a:graphicFrameLocks noChangeAspect="1"/>
                </p:cNvGraphicFramePr>
                <p:nvPr>
                  <p:extLst>
                    <p:ext uri="{D42A27DB-BD31-4B8C-83A1-F6EECF244321}">
                      <p14:modId xmlns:p14="http://schemas.microsoft.com/office/powerpoint/2010/main" val="801748293"/>
                    </p:ext>
                  </p:extLst>
                </p:nvPr>
              </p:nvGraphicFramePr>
              <p:xfrm>
                <a:off x="6214478" y="3704781"/>
                <a:ext cx="902273" cy="902272"/>
              </p:xfrm>
              <a:graphic>
                <a:graphicData uri="http://schemas.microsoft.com/office/drawing/2017/model3d">
                  <am3d:model3d r:embed="rId2">
                    <am3d:spPr>
                      <a:xfrm>
                        <a:off x="0" y="0"/>
                        <a:ext cx="902273" cy="90227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1242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4" name="Modello 3D 33" descr="Sfera grigio chiaro">
                  <a:extLst>
                    <a:ext uri="{FF2B5EF4-FFF2-40B4-BE49-F238E27FC236}">
                      <a16:creationId xmlns:a16="http://schemas.microsoft.com/office/drawing/2014/main" id="{39D5CEB3-92BE-41AD-964F-85657646C3FE}"/>
                    </a:ext>
                  </a:extLst>
                </p:cNvPr>
                <p:cNvPicPr>
                  <a:picLocks noGrp="1" noRot="1" noChangeAspect="1" noMove="1" noResize="1" noEditPoints="1" noAdjustHandles="1" noChangeArrowheads="1" noChangeShapeType="1" noCrop="1"/>
                </p:cNvPicPr>
                <p:nvPr/>
              </p:nvPicPr>
              <p:blipFill>
                <a:blip r:embed="rId6"/>
                <a:stretch>
                  <a:fillRect/>
                </a:stretch>
              </p:blipFill>
              <p:spPr>
                <a:xfrm>
                  <a:off x="-1287580" y="3116449"/>
                  <a:ext cx="474077" cy="468163"/>
                </a:xfrm>
                <a:prstGeom prst="rect">
                  <a:avLst/>
                </a:prstGeom>
              </p:spPr>
            </p:pic>
          </mc:Fallback>
        </mc:AlternateContent>
        <p:sp>
          <p:nvSpPr>
            <p:cNvPr id="35" name="CasellaDiTesto 34">
              <a:extLst>
                <a:ext uri="{FF2B5EF4-FFF2-40B4-BE49-F238E27FC236}">
                  <a16:creationId xmlns:a16="http://schemas.microsoft.com/office/drawing/2014/main" id="{B33110CA-52AA-4C70-9A53-0C04B80ED6FB}"/>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36" name="Gruppo 35">
            <a:extLst>
              <a:ext uri="{FF2B5EF4-FFF2-40B4-BE49-F238E27FC236}">
                <a16:creationId xmlns:a16="http://schemas.microsoft.com/office/drawing/2014/main" id="{7E841F5B-4FB8-4BDD-AA36-4C07FC57D095}"/>
              </a:ext>
            </a:extLst>
          </p:cNvPr>
          <p:cNvGrpSpPr/>
          <p:nvPr/>
        </p:nvGrpSpPr>
        <p:grpSpPr>
          <a:xfrm>
            <a:off x="-2939134" y="4305870"/>
            <a:ext cx="473823" cy="467913"/>
            <a:chOff x="1286302" y="3979004"/>
            <a:chExt cx="901789" cy="901790"/>
          </a:xfrm>
        </p:grpSpPr>
        <mc:AlternateContent xmlns:mc="http://schemas.openxmlformats.org/markup-compatibility/2006">
          <mc:Choice xmlns:am3d="http://schemas.microsoft.com/office/drawing/2017/model3d" Requires="am3d">
            <p:graphicFrame>
              <p:nvGraphicFramePr>
                <p:cNvPr id="37" name="Modello 3D 36" descr="Sfera grigio chiaro">
                  <a:extLst>
                    <a:ext uri="{FF2B5EF4-FFF2-40B4-BE49-F238E27FC236}">
                      <a16:creationId xmlns:a16="http://schemas.microsoft.com/office/drawing/2014/main" id="{415FC715-7518-4E26-A5D9-A54894C5DD61}"/>
                    </a:ext>
                  </a:extLst>
                </p:cNvPr>
                <p:cNvGraphicFramePr>
                  <a:graphicFrameLocks noChangeAspect="1"/>
                </p:cNvGraphicFramePr>
                <p:nvPr>
                  <p:extLst>
                    <p:ext uri="{D42A27DB-BD31-4B8C-83A1-F6EECF244321}">
                      <p14:modId xmlns:p14="http://schemas.microsoft.com/office/powerpoint/2010/main" val="201555960"/>
                    </p:ext>
                  </p:extLst>
                </p:nvPr>
              </p:nvGraphicFramePr>
              <p:xfrm>
                <a:off x="1286302" y="3979004"/>
                <a:ext cx="901789" cy="901790"/>
              </p:xfrm>
              <a:graphic>
                <a:graphicData uri="http://schemas.microsoft.com/office/drawing/2017/model3d">
                  <am3d:model3d r:embed="rId2">
                    <am3d:spPr>
                      <a:xfrm>
                        <a:off x="0" y="0"/>
                        <a:ext cx="901789" cy="90179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120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Modello 3D 36" descr="Sfera grigio chiaro">
                  <a:extLst>
                    <a:ext uri="{FF2B5EF4-FFF2-40B4-BE49-F238E27FC236}">
                      <a16:creationId xmlns:a16="http://schemas.microsoft.com/office/drawing/2014/main" id="{415FC715-7518-4E26-A5D9-A54894C5DD61}"/>
                    </a:ext>
                  </a:extLst>
                </p:cNvPr>
                <p:cNvPicPr>
                  <a:picLocks noGrp="1" noRot="1" noChangeAspect="1" noMove="1" noResize="1" noEditPoints="1" noAdjustHandles="1" noChangeArrowheads="1" noChangeShapeType="1" noCrop="1"/>
                </p:cNvPicPr>
                <p:nvPr/>
              </p:nvPicPr>
              <p:blipFill>
                <a:blip r:embed="rId7"/>
                <a:stretch>
                  <a:fillRect/>
                </a:stretch>
              </p:blipFill>
              <p:spPr>
                <a:xfrm>
                  <a:off x="-2939134" y="4305870"/>
                  <a:ext cx="473823" cy="467913"/>
                </a:xfrm>
                <a:prstGeom prst="rect">
                  <a:avLst/>
                </a:prstGeom>
              </p:spPr>
            </p:pic>
          </mc:Fallback>
        </mc:AlternateContent>
        <p:sp>
          <p:nvSpPr>
            <p:cNvPr id="38" name="CasellaDiTesto 37">
              <a:extLst>
                <a:ext uri="{FF2B5EF4-FFF2-40B4-BE49-F238E27FC236}">
                  <a16:creationId xmlns:a16="http://schemas.microsoft.com/office/drawing/2014/main" id="{0B50D207-8924-4166-BEE6-65F842E00769}"/>
                </a:ext>
              </a:extLst>
            </p:cNvPr>
            <p:cNvSpPr txBox="1"/>
            <p:nvPr/>
          </p:nvSpPr>
          <p:spPr>
            <a:xfrm>
              <a:off x="1452556" y="4095056"/>
              <a:ext cx="496578" cy="593166"/>
            </a:xfrm>
            <a:prstGeom prst="rect">
              <a:avLst/>
            </a:prstGeom>
            <a:noFill/>
          </p:spPr>
          <p:txBody>
            <a:bodyPr wrap="square" rtlCol="0">
              <a:spAutoFit/>
            </a:bodyPr>
            <a:lstStyle/>
            <a:p>
              <a:pPr algn="ctr"/>
              <a:r>
                <a:rPr lang="en-US" sz="1400" b="1" dirty="0">
                  <a:latin typeface="LEMON MILK" panose="00000500000000000000" pitchFamily="50" charset="0"/>
                </a:rPr>
                <a:t>H</a:t>
              </a:r>
            </a:p>
          </p:txBody>
        </p:sp>
      </p:grpSp>
      <p:grpSp>
        <p:nvGrpSpPr>
          <p:cNvPr id="39" name="Gruppo 38">
            <a:extLst>
              <a:ext uri="{FF2B5EF4-FFF2-40B4-BE49-F238E27FC236}">
                <a16:creationId xmlns:a16="http://schemas.microsoft.com/office/drawing/2014/main" id="{6A194269-794B-4237-987C-E2CFF3FB01CA}"/>
              </a:ext>
            </a:extLst>
          </p:cNvPr>
          <p:cNvGrpSpPr/>
          <p:nvPr/>
        </p:nvGrpSpPr>
        <p:grpSpPr>
          <a:xfrm>
            <a:off x="-1875825" y="2663074"/>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40" name="Modello 3D 39" descr="Sfera grigio chiaro">
                  <a:extLst>
                    <a:ext uri="{FF2B5EF4-FFF2-40B4-BE49-F238E27FC236}">
                      <a16:creationId xmlns:a16="http://schemas.microsoft.com/office/drawing/2014/main" id="{D5EB7BBE-F636-4688-AB22-5852F355AD43}"/>
                    </a:ext>
                  </a:extLst>
                </p:cNvPr>
                <p:cNvGraphicFramePr>
                  <a:graphicFrameLocks noChangeAspect="1"/>
                </p:cNvGraphicFramePr>
                <p:nvPr>
                  <p:extLst>
                    <p:ext uri="{D42A27DB-BD31-4B8C-83A1-F6EECF244321}">
                      <p14:modId xmlns:p14="http://schemas.microsoft.com/office/powerpoint/2010/main" val="3446083026"/>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0" name="Modello 3D 39" descr="Sfera grigio chiaro">
                  <a:extLst>
                    <a:ext uri="{FF2B5EF4-FFF2-40B4-BE49-F238E27FC236}">
                      <a16:creationId xmlns:a16="http://schemas.microsoft.com/office/drawing/2014/main" id="{D5EB7BBE-F636-4688-AB22-5852F355AD43}"/>
                    </a:ext>
                  </a:extLst>
                </p:cNvPr>
                <p:cNvPicPr>
                  <a:picLocks noGrp="1" noRot="1" noChangeAspect="1" noMove="1" noResize="1" noEditPoints="1" noAdjustHandles="1" noChangeArrowheads="1" noChangeShapeType="1" noCrop="1"/>
                </p:cNvPicPr>
                <p:nvPr/>
              </p:nvPicPr>
              <p:blipFill>
                <a:blip r:embed="rId8"/>
                <a:stretch>
                  <a:fillRect/>
                </a:stretch>
              </p:blipFill>
              <p:spPr>
                <a:xfrm>
                  <a:off x="-1875825" y="2663074"/>
                  <a:ext cx="459103" cy="453376"/>
                </a:xfrm>
                <a:prstGeom prst="rect">
                  <a:avLst/>
                </a:prstGeom>
              </p:spPr>
            </p:pic>
          </mc:Fallback>
        </mc:AlternateContent>
        <p:sp>
          <p:nvSpPr>
            <p:cNvPr id="41" name="CasellaDiTesto 40">
              <a:extLst>
                <a:ext uri="{FF2B5EF4-FFF2-40B4-BE49-F238E27FC236}">
                  <a16:creationId xmlns:a16="http://schemas.microsoft.com/office/drawing/2014/main" id="{FDB31FFE-7130-4BFA-89D6-3FA3EE2442C9}"/>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42" name="Gruppo 41">
            <a:extLst>
              <a:ext uri="{FF2B5EF4-FFF2-40B4-BE49-F238E27FC236}">
                <a16:creationId xmlns:a16="http://schemas.microsoft.com/office/drawing/2014/main" id="{0556AF45-D185-4A2B-B542-C008F275046F}"/>
              </a:ext>
            </a:extLst>
          </p:cNvPr>
          <p:cNvGrpSpPr/>
          <p:nvPr/>
        </p:nvGrpSpPr>
        <p:grpSpPr>
          <a:xfrm>
            <a:off x="-3150907" y="2676672"/>
            <a:ext cx="473823" cy="467912"/>
            <a:chOff x="8758910" y="3645182"/>
            <a:chExt cx="899015" cy="901791"/>
          </a:xfrm>
        </p:grpSpPr>
        <mc:AlternateContent xmlns:mc="http://schemas.openxmlformats.org/markup-compatibility/2006">
          <mc:Choice xmlns:am3d="http://schemas.microsoft.com/office/drawing/2017/model3d" Requires="am3d">
            <p:graphicFrame>
              <p:nvGraphicFramePr>
                <p:cNvPr id="43" name="Modello 3D 42" descr="Sfera grigio chiaro">
                  <a:extLst>
                    <a:ext uri="{FF2B5EF4-FFF2-40B4-BE49-F238E27FC236}">
                      <a16:creationId xmlns:a16="http://schemas.microsoft.com/office/drawing/2014/main" id="{007F6B76-A27E-4538-9805-464D4B3F8E39}"/>
                    </a:ext>
                  </a:extLst>
                </p:cNvPr>
                <p:cNvGraphicFramePr>
                  <a:graphicFrameLocks noChangeAspect="1"/>
                </p:cNvGraphicFramePr>
                <p:nvPr>
                  <p:extLst>
                    <p:ext uri="{D42A27DB-BD31-4B8C-83A1-F6EECF244321}">
                      <p14:modId xmlns:p14="http://schemas.microsoft.com/office/powerpoint/2010/main" val="605287701"/>
                    </p:ext>
                  </p:extLst>
                </p:nvPr>
              </p:nvGraphicFramePr>
              <p:xfrm>
                <a:off x="8758910" y="3645182"/>
                <a:ext cx="899015" cy="901791"/>
              </p:xfrm>
              <a:graphic>
                <a:graphicData uri="http://schemas.microsoft.com/office/drawing/2017/model3d">
                  <am3d:model3d r:embed="rId2">
                    <am3d:spPr>
                      <a:xfrm>
                        <a:off x="0" y="0"/>
                        <a:ext cx="899015" cy="90179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9"/>
                    </am3d:raster>
                    <am3d:objViewport viewportSz="7120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3" name="Modello 3D 42" descr="Sfera grigio chiaro">
                  <a:extLst>
                    <a:ext uri="{FF2B5EF4-FFF2-40B4-BE49-F238E27FC236}">
                      <a16:creationId xmlns:a16="http://schemas.microsoft.com/office/drawing/2014/main" id="{007F6B76-A27E-4538-9805-464D4B3F8E39}"/>
                    </a:ext>
                  </a:extLst>
                </p:cNvPr>
                <p:cNvPicPr>
                  <a:picLocks noGrp="1" noRot="1" noChangeAspect="1" noMove="1" noResize="1" noEditPoints="1" noAdjustHandles="1" noChangeArrowheads="1" noChangeShapeType="1" noCrop="1"/>
                </p:cNvPicPr>
                <p:nvPr/>
              </p:nvPicPr>
              <p:blipFill>
                <a:blip r:embed="rId9"/>
                <a:stretch>
                  <a:fillRect/>
                </a:stretch>
              </p:blipFill>
              <p:spPr>
                <a:xfrm>
                  <a:off x="-3150907" y="2676672"/>
                  <a:ext cx="473823" cy="467912"/>
                </a:xfrm>
                <a:prstGeom prst="rect">
                  <a:avLst/>
                </a:prstGeom>
              </p:spPr>
            </p:pic>
          </mc:Fallback>
        </mc:AlternateContent>
        <p:sp>
          <p:nvSpPr>
            <p:cNvPr id="44" name="CasellaDiTesto 43">
              <a:extLst>
                <a:ext uri="{FF2B5EF4-FFF2-40B4-BE49-F238E27FC236}">
                  <a16:creationId xmlns:a16="http://schemas.microsoft.com/office/drawing/2014/main" id="{48C2E105-3EF8-45C4-A685-6C4A72496E76}"/>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45" name="Gruppo 44">
            <a:extLst>
              <a:ext uri="{FF2B5EF4-FFF2-40B4-BE49-F238E27FC236}">
                <a16:creationId xmlns:a16="http://schemas.microsoft.com/office/drawing/2014/main" id="{B46A3FA3-2BC8-4E98-94E4-C4A401B7168D}"/>
              </a:ext>
            </a:extLst>
          </p:cNvPr>
          <p:cNvGrpSpPr/>
          <p:nvPr/>
        </p:nvGrpSpPr>
        <p:grpSpPr>
          <a:xfrm>
            <a:off x="-2460270" y="3104733"/>
            <a:ext cx="535661" cy="528979"/>
            <a:chOff x="7328689" y="2428043"/>
            <a:chExt cx="1019480" cy="1019480"/>
          </a:xfrm>
        </p:grpSpPr>
        <mc:AlternateContent xmlns:mc="http://schemas.openxmlformats.org/markup-compatibility/2006">
          <mc:Choice xmlns:am3d="http://schemas.microsoft.com/office/drawing/2017/model3d" Requires="am3d">
            <p:graphicFrame>
              <p:nvGraphicFramePr>
                <p:cNvPr id="46" name="Modello 3D 45" descr="Sfera grigio chiaro">
                  <a:extLst>
                    <a:ext uri="{FF2B5EF4-FFF2-40B4-BE49-F238E27FC236}">
                      <a16:creationId xmlns:a16="http://schemas.microsoft.com/office/drawing/2014/main" id="{8E43DD8D-EDD2-462B-A69D-D54E30A32076}"/>
                    </a:ext>
                  </a:extLst>
                </p:cNvPr>
                <p:cNvGraphicFramePr>
                  <a:graphicFrameLocks noChangeAspect="1"/>
                </p:cNvGraphicFramePr>
                <p:nvPr>
                  <p:extLst>
                    <p:ext uri="{D42A27DB-BD31-4B8C-83A1-F6EECF244321}">
                      <p14:modId xmlns:p14="http://schemas.microsoft.com/office/powerpoint/2010/main" val="1836342913"/>
                    </p:ext>
                  </p:extLst>
                </p:nvPr>
              </p:nvGraphicFramePr>
              <p:xfrm>
                <a:off x="7328689" y="2428043"/>
                <a:ext cx="1019480" cy="1019480"/>
              </p:xfrm>
              <a:graphic>
                <a:graphicData uri="http://schemas.microsoft.com/office/drawing/2017/model3d">
                  <am3d:model3d r:embed="rId2">
                    <am3d:spPr>
                      <a:xfrm>
                        <a:off x="0" y="0"/>
                        <a:ext cx="1019480" cy="101948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10"/>
                    </am3d:raster>
                    <am3d:objViewport viewportSz="818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6" name="Modello 3D 45" descr="Sfera grigio chiaro">
                  <a:extLst>
                    <a:ext uri="{FF2B5EF4-FFF2-40B4-BE49-F238E27FC236}">
                      <a16:creationId xmlns:a16="http://schemas.microsoft.com/office/drawing/2014/main" id="{8E43DD8D-EDD2-462B-A69D-D54E30A32076}"/>
                    </a:ext>
                  </a:extLst>
                </p:cNvPr>
                <p:cNvPicPr>
                  <a:picLocks noGrp="1" noRot="1" noChangeAspect="1" noMove="1" noResize="1" noEditPoints="1" noAdjustHandles="1" noChangeArrowheads="1" noChangeShapeType="1" noCrop="1"/>
                </p:cNvPicPr>
                <p:nvPr/>
              </p:nvPicPr>
              <p:blipFill>
                <a:blip r:embed="rId10"/>
                <a:stretch>
                  <a:fillRect/>
                </a:stretch>
              </p:blipFill>
              <p:spPr>
                <a:xfrm>
                  <a:off x="-2460270" y="3104733"/>
                  <a:ext cx="535661" cy="528979"/>
                </a:xfrm>
                <a:prstGeom prst="rect">
                  <a:avLst/>
                </a:prstGeom>
              </p:spPr>
            </p:pic>
          </mc:Fallback>
        </mc:AlternateContent>
        <p:sp>
          <p:nvSpPr>
            <p:cNvPr id="47" name="CasellaDiTesto 46">
              <a:extLst>
                <a:ext uri="{FF2B5EF4-FFF2-40B4-BE49-F238E27FC236}">
                  <a16:creationId xmlns:a16="http://schemas.microsoft.com/office/drawing/2014/main" id="{F9D020AD-02B4-4102-8E53-6FC8999A158F}"/>
                </a:ext>
              </a:extLst>
            </p:cNvPr>
            <p:cNvSpPr txBox="1"/>
            <p:nvPr/>
          </p:nvSpPr>
          <p:spPr>
            <a:xfrm>
              <a:off x="7461305" y="2597748"/>
              <a:ext cx="496578" cy="593166"/>
            </a:xfrm>
            <a:prstGeom prst="rect">
              <a:avLst/>
            </a:prstGeom>
            <a:noFill/>
          </p:spPr>
          <p:txBody>
            <a:bodyPr wrap="square" rtlCol="0">
              <a:spAutoFit/>
            </a:bodyPr>
            <a:lstStyle/>
            <a:p>
              <a:pPr algn="ctr"/>
              <a:r>
                <a:rPr lang="en-US" sz="1400" b="1" dirty="0">
                  <a:latin typeface="LEMON MILK" panose="00000500000000000000" pitchFamily="50" charset="0"/>
                </a:rPr>
                <a:t>g</a:t>
              </a:r>
              <a:endParaRPr lang="it-IT" sz="1400" b="1" dirty="0">
                <a:latin typeface="LEMON MILK" panose="00000500000000000000" pitchFamily="50" charset="0"/>
              </a:endParaRPr>
            </a:p>
          </p:txBody>
        </p:sp>
      </p:grpSp>
      <p:cxnSp>
        <p:nvCxnSpPr>
          <p:cNvPr id="48" name="Connettore diritto 47">
            <a:extLst>
              <a:ext uri="{FF2B5EF4-FFF2-40B4-BE49-F238E27FC236}">
                <a16:creationId xmlns:a16="http://schemas.microsoft.com/office/drawing/2014/main" id="{1161B6A4-FFFA-43B6-97C4-F656EAC544C2}"/>
              </a:ext>
            </a:extLst>
          </p:cNvPr>
          <p:cNvCxnSpPr>
            <a:cxnSpLocks/>
            <a:stCxn id="34" idx="1"/>
            <a:endCxn id="40" idx="2"/>
          </p:cNvCxnSpPr>
          <p:nvPr/>
        </p:nvCxnSpPr>
        <p:spPr>
          <a:xfrm flipH="1" flipV="1">
            <a:off x="-1646273" y="3116450"/>
            <a:ext cx="358693" cy="234081"/>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49" name="Connettore diritto 48">
            <a:extLst>
              <a:ext uri="{FF2B5EF4-FFF2-40B4-BE49-F238E27FC236}">
                <a16:creationId xmlns:a16="http://schemas.microsoft.com/office/drawing/2014/main" id="{5C2C8F85-A204-49D1-BB14-9A24273A148E}"/>
              </a:ext>
            </a:extLst>
          </p:cNvPr>
          <p:cNvCxnSpPr>
            <a:cxnSpLocks/>
            <a:stCxn id="40" idx="2"/>
            <a:endCxn id="46" idx="3"/>
          </p:cNvCxnSpPr>
          <p:nvPr/>
        </p:nvCxnSpPr>
        <p:spPr>
          <a:xfrm flipH="1">
            <a:off x="-1924609" y="3116450"/>
            <a:ext cx="278336" cy="2527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54F564CE-FCED-4009-89FC-AF342B0D6FA5}"/>
              </a:ext>
            </a:extLst>
          </p:cNvPr>
          <p:cNvCxnSpPr>
            <a:cxnSpLocks/>
            <a:stCxn id="43" idx="2"/>
            <a:endCxn id="46" idx="1"/>
          </p:cNvCxnSpPr>
          <p:nvPr/>
        </p:nvCxnSpPr>
        <p:spPr>
          <a:xfrm>
            <a:off x="-2913995" y="3144584"/>
            <a:ext cx="453725" cy="2246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Connettore diritto 50">
            <a:extLst>
              <a:ext uri="{FF2B5EF4-FFF2-40B4-BE49-F238E27FC236}">
                <a16:creationId xmlns:a16="http://schemas.microsoft.com/office/drawing/2014/main" id="{1B7085C9-BEAB-4015-AED5-06BDCA03246C}"/>
              </a:ext>
            </a:extLst>
          </p:cNvPr>
          <p:cNvCxnSpPr>
            <a:cxnSpLocks/>
            <a:stCxn id="43" idx="2"/>
            <a:endCxn id="37" idx="0"/>
          </p:cNvCxnSpPr>
          <p:nvPr/>
        </p:nvCxnSpPr>
        <p:spPr>
          <a:xfrm>
            <a:off x="-2913995" y="3144584"/>
            <a:ext cx="211773" cy="116128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52" name="Connettore diritto 51">
            <a:extLst>
              <a:ext uri="{FF2B5EF4-FFF2-40B4-BE49-F238E27FC236}">
                <a16:creationId xmlns:a16="http://schemas.microsoft.com/office/drawing/2014/main" id="{C4AF2354-C1BB-458F-AE4E-0CE5F5434990}"/>
              </a:ext>
            </a:extLst>
          </p:cNvPr>
          <p:cNvCxnSpPr>
            <a:cxnSpLocks/>
            <a:stCxn id="43" idx="2"/>
            <a:endCxn id="24" idx="1"/>
          </p:cNvCxnSpPr>
          <p:nvPr/>
        </p:nvCxnSpPr>
        <p:spPr>
          <a:xfrm>
            <a:off x="-2913995" y="3144584"/>
            <a:ext cx="1037353" cy="14280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53" name="Modello 3D 52" descr="Monitor per PC">
                <a:extLst>
                  <a:ext uri="{FF2B5EF4-FFF2-40B4-BE49-F238E27FC236}">
                    <a16:creationId xmlns:a16="http://schemas.microsoft.com/office/drawing/2014/main" id="{7F647AEC-3990-49F6-9087-5F6F73280058}"/>
                  </a:ext>
                </a:extLst>
              </p:cNvPr>
              <p:cNvGraphicFramePr>
                <a:graphicFrameLocks noChangeAspect="1"/>
              </p:cNvGraphicFramePr>
              <p:nvPr>
                <p:extLst>
                  <p:ext uri="{D42A27DB-BD31-4B8C-83A1-F6EECF244321}">
                    <p14:modId xmlns:p14="http://schemas.microsoft.com/office/powerpoint/2010/main" val="2127972067"/>
                  </p:ext>
                </p:extLst>
              </p:nvPr>
            </p:nvGraphicFramePr>
            <p:xfrm>
              <a:off x="-2102874" y="1761421"/>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3" name="Modello 3D 52" descr="Monitor per PC">
                <a:extLst>
                  <a:ext uri="{FF2B5EF4-FFF2-40B4-BE49-F238E27FC236}">
                    <a16:creationId xmlns:a16="http://schemas.microsoft.com/office/drawing/2014/main" id="{7F647AEC-3990-49F6-9087-5F6F73280058}"/>
                  </a:ext>
                </a:extLst>
              </p:cNvPr>
              <p:cNvPicPr>
                <a:picLocks noGrp="1" noRot="1" noChangeAspect="1" noMove="1" noResize="1" noEditPoints="1" noAdjustHandles="1" noChangeArrowheads="1" noChangeShapeType="1" noCrop="1"/>
              </p:cNvPicPr>
              <p:nvPr/>
            </p:nvPicPr>
            <p:blipFill>
              <a:blip r:embed="rId12"/>
              <a:stretch>
                <a:fillRect/>
              </a:stretch>
            </p:blipFill>
            <p:spPr>
              <a:xfrm>
                <a:off x="-2102874" y="1761421"/>
                <a:ext cx="844971" cy="621363"/>
              </a:xfrm>
              <a:prstGeom prst="rect">
                <a:avLst/>
              </a:prstGeom>
            </p:spPr>
          </p:pic>
        </mc:Fallback>
      </mc:AlternateContent>
      <p:cxnSp>
        <p:nvCxnSpPr>
          <p:cNvPr id="54" name="Connettore diritto 53">
            <a:extLst>
              <a:ext uri="{FF2B5EF4-FFF2-40B4-BE49-F238E27FC236}">
                <a16:creationId xmlns:a16="http://schemas.microsoft.com/office/drawing/2014/main" id="{33936F6A-321B-4AD3-9FB4-ECEAD62C296A}"/>
              </a:ext>
            </a:extLst>
          </p:cNvPr>
          <p:cNvCxnSpPr>
            <a:cxnSpLocks/>
            <a:stCxn id="43" idx="0"/>
            <a:endCxn id="53" idx="1"/>
          </p:cNvCxnSpPr>
          <p:nvPr/>
        </p:nvCxnSpPr>
        <p:spPr>
          <a:xfrm flipV="1">
            <a:off x="-2913995" y="2072103"/>
            <a:ext cx="811121" cy="604569"/>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55" name="Connettore diritto 54">
            <a:extLst>
              <a:ext uri="{FF2B5EF4-FFF2-40B4-BE49-F238E27FC236}">
                <a16:creationId xmlns:a16="http://schemas.microsoft.com/office/drawing/2014/main" id="{5CC3C6A0-1537-4407-B2BC-2FA4B3C92D96}"/>
              </a:ext>
            </a:extLst>
          </p:cNvPr>
          <p:cNvCxnSpPr>
            <a:cxnSpLocks/>
            <a:stCxn id="16" idx="0"/>
            <a:endCxn id="53" idx="3"/>
          </p:cNvCxnSpPr>
          <p:nvPr/>
        </p:nvCxnSpPr>
        <p:spPr>
          <a:xfrm flipH="1" flipV="1">
            <a:off x="-1257903" y="2072103"/>
            <a:ext cx="774922" cy="5585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Connettore diritto 55">
            <a:extLst>
              <a:ext uri="{FF2B5EF4-FFF2-40B4-BE49-F238E27FC236}">
                <a16:creationId xmlns:a16="http://schemas.microsoft.com/office/drawing/2014/main" id="{0E09CBF0-2F4A-4CF7-86BB-1E884636ECDD}"/>
              </a:ext>
            </a:extLst>
          </p:cNvPr>
          <p:cNvCxnSpPr>
            <a:cxnSpLocks/>
            <a:stCxn id="24" idx="3"/>
            <a:endCxn id="16" idx="2"/>
          </p:cNvCxnSpPr>
          <p:nvPr/>
        </p:nvCxnSpPr>
        <p:spPr>
          <a:xfrm flipV="1">
            <a:off x="-1346866" y="3192787"/>
            <a:ext cx="863885" cy="1379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BE1EA2AC-5783-4B33-9DC8-F4220DFC85E3}"/>
              </a:ext>
            </a:extLst>
          </p:cNvPr>
          <p:cNvCxnSpPr>
            <a:cxnSpLocks/>
            <a:stCxn id="30" idx="0"/>
            <a:endCxn id="16" idx="2"/>
          </p:cNvCxnSpPr>
          <p:nvPr/>
        </p:nvCxnSpPr>
        <p:spPr>
          <a:xfrm flipV="1">
            <a:off x="-586434" y="3192787"/>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58" name="Modello 3D 57" descr="Monitor per PC">
                <a:extLst>
                  <a:ext uri="{FF2B5EF4-FFF2-40B4-BE49-F238E27FC236}">
                    <a16:creationId xmlns:a16="http://schemas.microsoft.com/office/drawing/2014/main" id="{6215F39A-FBB6-4FF2-AAFC-DA5F4D621650}"/>
                  </a:ext>
                </a:extLst>
              </p:cNvPr>
              <p:cNvGraphicFramePr>
                <a:graphicFrameLocks noChangeAspect="1"/>
              </p:cNvGraphicFramePr>
              <p:nvPr>
                <p:extLst>
                  <p:ext uri="{D42A27DB-BD31-4B8C-83A1-F6EECF244321}">
                    <p14:modId xmlns:p14="http://schemas.microsoft.com/office/powerpoint/2010/main" val="4025362235"/>
                  </p:ext>
                </p:extLst>
              </p:nvPr>
            </p:nvGraphicFramePr>
            <p:xfrm>
              <a:off x="-2087020" y="5244813"/>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8" name="Modello 3D 57" descr="Monitor per PC">
                <a:extLst>
                  <a:ext uri="{FF2B5EF4-FFF2-40B4-BE49-F238E27FC236}">
                    <a16:creationId xmlns:a16="http://schemas.microsoft.com/office/drawing/2014/main" id="{6215F39A-FBB6-4FF2-AAFC-DA5F4D621650}"/>
                  </a:ext>
                </a:extLst>
              </p:cNvPr>
              <p:cNvPicPr>
                <a:picLocks noGrp="1" noRot="1" noChangeAspect="1" noMove="1" noResize="1" noEditPoints="1" noAdjustHandles="1" noChangeArrowheads="1" noChangeShapeType="1" noCrop="1"/>
              </p:cNvPicPr>
              <p:nvPr/>
            </p:nvPicPr>
            <p:blipFill>
              <a:blip r:embed="rId12"/>
              <a:stretch>
                <a:fillRect/>
              </a:stretch>
            </p:blipFill>
            <p:spPr>
              <a:xfrm>
                <a:off x="-2087020" y="5244813"/>
                <a:ext cx="844971" cy="621363"/>
              </a:xfrm>
              <a:prstGeom prst="rect">
                <a:avLst/>
              </a:prstGeom>
            </p:spPr>
          </p:pic>
        </mc:Fallback>
      </mc:AlternateContent>
      <p:cxnSp>
        <p:nvCxnSpPr>
          <p:cNvPr id="59" name="Connettore diritto 58">
            <a:extLst>
              <a:ext uri="{FF2B5EF4-FFF2-40B4-BE49-F238E27FC236}">
                <a16:creationId xmlns:a16="http://schemas.microsoft.com/office/drawing/2014/main" id="{E0163D78-F810-4444-A628-37D341934D92}"/>
              </a:ext>
            </a:extLst>
          </p:cNvPr>
          <p:cNvCxnSpPr>
            <a:cxnSpLocks/>
            <a:stCxn id="38" idx="2"/>
            <a:endCxn id="58" idx="1"/>
          </p:cNvCxnSpPr>
          <p:nvPr/>
        </p:nvCxnSpPr>
        <p:spPr>
          <a:xfrm>
            <a:off x="-2721322" y="4673863"/>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Connettore diritto 59">
            <a:extLst>
              <a:ext uri="{FF2B5EF4-FFF2-40B4-BE49-F238E27FC236}">
                <a16:creationId xmlns:a16="http://schemas.microsoft.com/office/drawing/2014/main" id="{31A6D48B-737D-4180-882E-F561AA3A7EDE}"/>
              </a:ext>
            </a:extLst>
          </p:cNvPr>
          <p:cNvCxnSpPr>
            <a:cxnSpLocks/>
            <a:stCxn id="58" idx="3"/>
            <a:endCxn id="30" idx="2"/>
          </p:cNvCxnSpPr>
          <p:nvPr/>
        </p:nvCxnSpPr>
        <p:spPr>
          <a:xfrm flipV="1">
            <a:off x="-1242049" y="4834239"/>
            <a:ext cx="655615" cy="7212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1" name="Connettore diritto 60">
            <a:extLst>
              <a:ext uri="{FF2B5EF4-FFF2-40B4-BE49-F238E27FC236}">
                <a16:creationId xmlns:a16="http://schemas.microsoft.com/office/drawing/2014/main" id="{3E95E473-854A-4F11-90C8-0F1B64EC0335}"/>
              </a:ext>
            </a:extLst>
          </p:cNvPr>
          <p:cNvCxnSpPr>
            <a:cxnSpLocks/>
            <a:stCxn id="34" idx="3"/>
            <a:endCxn id="16" idx="2"/>
          </p:cNvCxnSpPr>
          <p:nvPr/>
        </p:nvCxnSpPr>
        <p:spPr>
          <a:xfrm flipV="1">
            <a:off x="-813503" y="3192787"/>
            <a:ext cx="330522" cy="157744"/>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ttore diritto 61">
            <a:extLst>
              <a:ext uri="{FF2B5EF4-FFF2-40B4-BE49-F238E27FC236}">
                <a16:creationId xmlns:a16="http://schemas.microsoft.com/office/drawing/2014/main" id="{4F964EA1-09A3-4FA0-AD70-4ADF77865956}"/>
              </a:ext>
            </a:extLst>
          </p:cNvPr>
          <p:cNvCxnSpPr>
            <a:cxnSpLocks/>
            <a:stCxn id="53" idx="2"/>
            <a:endCxn id="40" idx="0"/>
          </p:cNvCxnSpPr>
          <p:nvPr/>
        </p:nvCxnSpPr>
        <p:spPr>
          <a:xfrm>
            <a:off x="-1680388" y="2382784"/>
            <a:ext cx="34115" cy="2802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64" name="Modello 3D 63">
                <a:extLst>
                  <a:ext uri="{FF2B5EF4-FFF2-40B4-BE49-F238E27FC236}">
                    <a16:creationId xmlns:a16="http://schemas.microsoft.com/office/drawing/2014/main" id="{1814B8D1-08A4-4EBE-A1BA-8F5644501341}"/>
                  </a:ext>
                </a:extLst>
              </p:cNvPr>
              <p:cNvGraphicFramePr>
                <a:graphicFrameLocks noChangeAspect="1"/>
              </p:cNvGraphicFramePr>
              <p:nvPr>
                <p:extLst>
                  <p:ext uri="{D42A27DB-BD31-4B8C-83A1-F6EECF244321}">
                    <p14:modId xmlns:p14="http://schemas.microsoft.com/office/powerpoint/2010/main" val="3936031544"/>
                  </p:ext>
                </p:extLst>
              </p:nvPr>
            </p:nvGraphicFramePr>
            <p:xfrm>
              <a:off x="7322267" y="1225850"/>
              <a:ext cx="3754287" cy="3302656"/>
            </p:xfrm>
            <a:graphic>
              <a:graphicData uri="http://schemas.microsoft.com/office/drawing/2017/model3d">
                <am3d:model3d r:embed="rId13">
                  <am3d:spPr>
                    <a:xfrm>
                      <a:off x="0" y="0"/>
                      <a:ext cx="3754287" cy="3302656"/>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3908096" ay="-559061" az="-1155512"/>
                    <am3d:postTrans dx="0" dy="0" dz="0"/>
                  </am3d:trans>
                  <am3d:raster rName="Office3DRenderer" rVer="16.0.8326">
                    <am3d:blip r:embed="rId14"/>
                  </am3d:raster>
                  <am3d:objViewport viewportSz="401964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4" name="Modello 3D 63">
                <a:extLst>
                  <a:ext uri="{FF2B5EF4-FFF2-40B4-BE49-F238E27FC236}">
                    <a16:creationId xmlns:a16="http://schemas.microsoft.com/office/drawing/2014/main" id="{1814B8D1-08A4-4EBE-A1BA-8F5644501341}"/>
                  </a:ext>
                </a:extLst>
              </p:cNvPr>
              <p:cNvPicPr>
                <a:picLocks noGrp="1" noRot="1" noChangeAspect="1" noMove="1" noResize="1" noEditPoints="1" noAdjustHandles="1" noChangeArrowheads="1" noChangeShapeType="1" noCrop="1"/>
              </p:cNvPicPr>
              <p:nvPr/>
            </p:nvPicPr>
            <p:blipFill>
              <a:blip r:embed="rId14"/>
              <a:stretch>
                <a:fillRect/>
              </a:stretch>
            </p:blipFill>
            <p:spPr>
              <a:xfrm>
                <a:off x="7322267" y="1225850"/>
                <a:ext cx="3754287" cy="3302656"/>
              </a:xfrm>
              <a:prstGeom prst="rect">
                <a:avLst/>
              </a:prstGeom>
            </p:spPr>
          </p:pic>
        </mc:Fallback>
      </mc:AlternateContent>
      <p:sp>
        <p:nvSpPr>
          <p:cNvPr id="66" name="CasellaDiTesto 65">
            <a:extLst>
              <a:ext uri="{FF2B5EF4-FFF2-40B4-BE49-F238E27FC236}">
                <a16:creationId xmlns:a16="http://schemas.microsoft.com/office/drawing/2014/main" id="{097FB570-8120-40D7-8013-685EAA256C08}"/>
              </a:ext>
            </a:extLst>
          </p:cNvPr>
          <p:cNvSpPr txBox="1"/>
          <p:nvPr/>
        </p:nvSpPr>
        <p:spPr>
          <a:xfrm>
            <a:off x="1034689" y="5233760"/>
            <a:ext cx="9963150" cy="923330"/>
          </a:xfrm>
          <a:prstGeom prst="rect">
            <a:avLst/>
          </a:prstGeom>
          <a:noFill/>
        </p:spPr>
        <p:txBody>
          <a:bodyPr wrap="square">
            <a:spAutoFit/>
          </a:bodyPr>
          <a:lstStyle/>
          <a:p>
            <a:r>
              <a:rPr lang="it-IT" sz="1800" dirty="0">
                <a:solidFill>
                  <a:schemeClr val="bg1"/>
                </a:solidFill>
                <a:latin typeface="Corbel Light" panose="020B0303020204020204" pitchFamily="34" charset="0"/>
              </a:rPr>
              <a:t>Esistono inoltre 2 tipi di ricerca del cammino minimo:</a:t>
            </a:r>
            <a:br>
              <a:rPr lang="it-IT" sz="1800" dirty="0">
                <a:solidFill>
                  <a:schemeClr val="bg1"/>
                </a:solidFill>
                <a:latin typeface="Corbel Light" panose="020B0303020204020204" pitchFamily="34" charset="0"/>
              </a:rPr>
            </a:br>
            <a:r>
              <a:rPr lang="it-IT" sz="1800" dirty="0">
                <a:solidFill>
                  <a:schemeClr val="bg1"/>
                </a:solidFill>
                <a:latin typeface="Corbel Light" panose="020B0303020204020204" pitchFamily="34" charset="0"/>
              </a:rPr>
              <a:t>- A minima distanza</a:t>
            </a:r>
            <a:br>
              <a:rPr lang="it-IT" sz="1800" dirty="0">
                <a:solidFill>
                  <a:schemeClr val="bg1"/>
                </a:solidFill>
                <a:latin typeface="Corbel Light" panose="020B0303020204020204" pitchFamily="34" charset="0"/>
              </a:rPr>
            </a:br>
            <a:r>
              <a:rPr lang="it-IT" sz="1800" dirty="0">
                <a:solidFill>
                  <a:schemeClr val="bg1"/>
                </a:solidFill>
                <a:latin typeface="Corbel Light" panose="020B0303020204020204" pitchFamily="34" charset="0"/>
              </a:rPr>
              <a:t>- A minima lunghezza</a:t>
            </a:r>
            <a:endParaRPr lang="it-IT" dirty="0"/>
          </a:p>
        </p:txBody>
      </p:sp>
    </p:spTree>
    <p:extLst>
      <p:ext uri="{BB962C8B-B14F-4D97-AF65-F5344CB8AC3E}">
        <p14:creationId xmlns:p14="http://schemas.microsoft.com/office/powerpoint/2010/main" val="25595724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0" name="Rettangolo 19">
            <a:extLst>
              <a:ext uri="{FF2B5EF4-FFF2-40B4-BE49-F238E27FC236}">
                <a16:creationId xmlns:a16="http://schemas.microsoft.com/office/drawing/2014/main" id="{B09536D3-4D96-425D-AFA9-C39504FD98D0}"/>
              </a:ext>
            </a:extLst>
          </p:cNvPr>
          <p:cNvSpPr/>
          <p:nvPr/>
        </p:nvSpPr>
        <p:spPr>
          <a:xfrm>
            <a:off x="12526514" y="61469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11843467" y="48723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sp>
        <p:nvSpPr>
          <p:cNvPr id="14" name="CasellaDiTesto 13">
            <a:extLst>
              <a:ext uri="{FF2B5EF4-FFF2-40B4-BE49-F238E27FC236}">
                <a16:creationId xmlns:a16="http://schemas.microsoft.com/office/drawing/2014/main" id="{84F8AFA7-DEF9-465F-8A7F-DE27F6D1A39F}"/>
              </a:ext>
            </a:extLst>
          </p:cNvPr>
          <p:cNvSpPr txBox="1"/>
          <p:nvPr/>
        </p:nvSpPr>
        <p:spPr>
          <a:xfrm>
            <a:off x="4769530" y="962344"/>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GRAFI</a:t>
            </a:r>
          </a:p>
        </p:txBody>
      </p:sp>
      <p:grpSp>
        <p:nvGrpSpPr>
          <p:cNvPr id="173" name="Gruppo 172">
            <a:extLst>
              <a:ext uri="{FF2B5EF4-FFF2-40B4-BE49-F238E27FC236}">
                <a16:creationId xmlns:a16="http://schemas.microsoft.com/office/drawing/2014/main" id="{1CD5CD9C-073C-4EB3-98B6-C2DF50CDAE56}"/>
              </a:ext>
            </a:extLst>
          </p:cNvPr>
          <p:cNvGrpSpPr/>
          <p:nvPr/>
        </p:nvGrpSpPr>
        <p:grpSpPr>
          <a:xfrm>
            <a:off x="2938388" y="2630642"/>
            <a:ext cx="569246" cy="562145"/>
            <a:chOff x="7156642" y="2544529"/>
            <a:chExt cx="1083401" cy="1083401"/>
          </a:xfrm>
        </p:grpSpPr>
        <mc:AlternateContent xmlns:mc="http://schemas.openxmlformats.org/markup-compatibility/2006">
          <mc:Choice xmlns:am3d="http://schemas.microsoft.com/office/drawing/2017/model3d" Requires="am3d">
            <p:graphicFrame>
              <p:nvGraphicFramePr>
                <p:cNvPr id="175" name="Modello 3D 174" descr="Sfera grigio chiaro">
                  <a:extLst>
                    <a:ext uri="{FF2B5EF4-FFF2-40B4-BE49-F238E27FC236}">
                      <a16:creationId xmlns:a16="http://schemas.microsoft.com/office/drawing/2014/main" id="{82B66601-9828-4786-9ADE-383F674ECB6D}"/>
                    </a:ext>
                  </a:extLst>
                </p:cNvPr>
                <p:cNvGraphicFramePr>
                  <a:graphicFrameLocks noChangeAspect="1"/>
                </p:cNvGraphicFramePr>
                <p:nvPr>
                  <p:extLst>
                    <p:ext uri="{D42A27DB-BD31-4B8C-83A1-F6EECF244321}">
                      <p14:modId xmlns:p14="http://schemas.microsoft.com/office/powerpoint/2010/main" val="2820226676"/>
                    </p:ext>
                  </p:extLst>
                </p:nvPr>
              </p:nvGraphicFramePr>
              <p:xfrm>
                <a:off x="7156642" y="2544529"/>
                <a:ext cx="1083401" cy="1083401"/>
              </p:xfrm>
              <a:graphic>
                <a:graphicData uri="http://schemas.microsoft.com/office/drawing/2017/model3d">
                  <am3d:model3d r:embed="rId2">
                    <am3d:spPr>
                      <a:xfrm>
                        <a:off x="0" y="0"/>
                        <a:ext cx="1083401" cy="108340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8744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5" name="Modello 3D 174" descr="Sfera grigio chiaro">
                  <a:extLst>
                    <a:ext uri="{FF2B5EF4-FFF2-40B4-BE49-F238E27FC236}">
                      <a16:creationId xmlns:a16="http://schemas.microsoft.com/office/drawing/2014/main" id="{82B66601-9828-4786-9ADE-383F674ECB6D}"/>
                    </a:ext>
                  </a:extLst>
                </p:cNvPr>
                <p:cNvPicPr>
                  <a:picLocks noGrp="1" noRot="1" noChangeAspect="1" noMove="1" noResize="1" noEditPoints="1" noAdjustHandles="1" noChangeArrowheads="1" noChangeShapeType="1" noCrop="1"/>
                </p:cNvPicPr>
                <p:nvPr/>
              </p:nvPicPr>
              <p:blipFill>
                <a:blip r:embed="rId3"/>
                <a:stretch>
                  <a:fillRect/>
                </a:stretch>
              </p:blipFill>
              <p:spPr>
                <a:xfrm>
                  <a:off x="2938388" y="2630642"/>
                  <a:ext cx="569246" cy="562145"/>
                </a:xfrm>
                <a:prstGeom prst="rect">
                  <a:avLst/>
                </a:prstGeom>
              </p:spPr>
            </p:pic>
          </mc:Fallback>
        </mc:AlternateContent>
        <p:sp>
          <p:nvSpPr>
            <p:cNvPr id="176" name="CasellaDiTesto 175">
              <a:extLst>
                <a:ext uri="{FF2B5EF4-FFF2-40B4-BE49-F238E27FC236}">
                  <a16:creationId xmlns:a16="http://schemas.microsoft.com/office/drawing/2014/main" id="{4D57BBB0-59FA-4277-BD98-F943A67CE0F2}"/>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15" name="Gruppo 214">
            <a:extLst>
              <a:ext uri="{FF2B5EF4-FFF2-40B4-BE49-F238E27FC236}">
                <a16:creationId xmlns:a16="http://schemas.microsoft.com/office/drawing/2014/main" id="{68578D2D-0EA8-453F-BA32-942E7DDBE1D6}"/>
              </a:ext>
            </a:extLst>
          </p:cNvPr>
          <p:cNvGrpSpPr/>
          <p:nvPr/>
        </p:nvGrpSpPr>
        <p:grpSpPr>
          <a:xfrm>
            <a:off x="1829350" y="4311071"/>
            <a:ext cx="529776" cy="523168"/>
            <a:chOff x="2029030" y="3475956"/>
            <a:chExt cx="1008280" cy="1008281"/>
          </a:xfrm>
        </p:grpSpPr>
        <mc:AlternateContent xmlns:mc="http://schemas.openxmlformats.org/markup-compatibility/2006">
          <mc:Choice xmlns:am3d="http://schemas.microsoft.com/office/drawing/2017/model3d" Requires="am3d">
            <p:graphicFrame>
              <p:nvGraphicFramePr>
                <p:cNvPr id="216" name="Modello 3D 215" descr="Sfera grigio chiaro">
                  <a:extLst>
                    <a:ext uri="{FF2B5EF4-FFF2-40B4-BE49-F238E27FC236}">
                      <a16:creationId xmlns:a16="http://schemas.microsoft.com/office/drawing/2014/main" id="{EC3DF4F5-7E75-4CAF-8CB3-DAF07B85159D}"/>
                    </a:ext>
                  </a:extLst>
                </p:cNvPr>
                <p:cNvGraphicFramePr>
                  <a:graphicFrameLocks noChangeAspect="1"/>
                </p:cNvGraphicFramePr>
                <p:nvPr>
                  <p:extLst>
                    <p:ext uri="{D42A27DB-BD31-4B8C-83A1-F6EECF244321}">
                      <p14:modId xmlns:p14="http://schemas.microsoft.com/office/powerpoint/2010/main" val="3898920848"/>
                    </p:ext>
                  </p:extLst>
                </p:nvPr>
              </p:nvGraphicFramePr>
              <p:xfrm>
                <a:off x="2029030" y="3475956"/>
                <a:ext cx="1008280" cy="1008281"/>
              </p:xfrm>
              <a:graphic>
                <a:graphicData uri="http://schemas.microsoft.com/office/drawing/2017/model3d">
                  <am3d:model3d r:embed="rId2">
                    <am3d:spPr>
                      <a:xfrm>
                        <a:off x="0" y="0"/>
                        <a:ext cx="1008280" cy="100828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84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6" name="Modello 3D 215" descr="Sfera grigio chiaro">
                  <a:extLst>
                    <a:ext uri="{FF2B5EF4-FFF2-40B4-BE49-F238E27FC236}">
                      <a16:creationId xmlns:a16="http://schemas.microsoft.com/office/drawing/2014/main" id="{EC3DF4F5-7E75-4CAF-8CB3-DAF07B85159D}"/>
                    </a:ext>
                  </a:extLst>
                </p:cNvPr>
                <p:cNvPicPr>
                  <a:picLocks noGrp="1" noRot="1" noChangeAspect="1" noMove="1" noResize="1" noEditPoints="1" noAdjustHandles="1" noChangeArrowheads="1" noChangeShapeType="1" noCrop="1"/>
                </p:cNvPicPr>
                <p:nvPr/>
              </p:nvPicPr>
              <p:blipFill>
                <a:blip r:embed="rId4"/>
                <a:stretch>
                  <a:fillRect/>
                </a:stretch>
              </p:blipFill>
              <p:spPr>
                <a:xfrm>
                  <a:off x="1829350" y="4311071"/>
                  <a:ext cx="529776" cy="523168"/>
                </a:xfrm>
                <a:prstGeom prst="rect">
                  <a:avLst/>
                </a:prstGeom>
              </p:spPr>
            </p:pic>
          </mc:Fallback>
        </mc:AlternateContent>
        <p:sp>
          <p:nvSpPr>
            <p:cNvPr id="217" name="CasellaDiTesto 216">
              <a:extLst>
                <a:ext uri="{FF2B5EF4-FFF2-40B4-BE49-F238E27FC236}">
                  <a16:creationId xmlns:a16="http://schemas.microsoft.com/office/drawing/2014/main" id="{A855451D-4E5F-42E0-A5F7-0BB5F9662E43}"/>
                </a:ext>
              </a:extLst>
            </p:cNvPr>
            <p:cNvSpPr txBox="1"/>
            <p:nvPr/>
          </p:nvSpPr>
          <p:spPr>
            <a:xfrm>
              <a:off x="2271076" y="3683512"/>
              <a:ext cx="496579" cy="593166"/>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grpSp>
        <p:nvGrpSpPr>
          <p:cNvPr id="218" name="Gruppo 217">
            <a:extLst>
              <a:ext uri="{FF2B5EF4-FFF2-40B4-BE49-F238E27FC236}">
                <a16:creationId xmlns:a16="http://schemas.microsoft.com/office/drawing/2014/main" id="{2EA01653-8056-4ACD-AA79-755D8C2B7147}"/>
              </a:ext>
            </a:extLst>
          </p:cNvPr>
          <p:cNvGrpSpPr/>
          <p:nvPr/>
        </p:nvGrpSpPr>
        <p:grpSpPr>
          <a:xfrm>
            <a:off x="2852035" y="4305868"/>
            <a:ext cx="535045" cy="528371"/>
            <a:chOff x="2096089" y="4934808"/>
            <a:chExt cx="1018309" cy="1018310"/>
          </a:xfrm>
        </p:grpSpPr>
        <mc:AlternateContent xmlns:mc="http://schemas.openxmlformats.org/markup-compatibility/2006">
          <mc:Choice xmlns:am3d="http://schemas.microsoft.com/office/drawing/2017/model3d" Requires="am3d">
            <p:graphicFrame>
              <p:nvGraphicFramePr>
                <p:cNvPr id="219" name="Modello 3D 218" descr="Sfera grigio chiaro">
                  <a:extLst>
                    <a:ext uri="{FF2B5EF4-FFF2-40B4-BE49-F238E27FC236}">
                      <a16:creationId xmlns:a16="http://schemas.microsoft.com/office/drawing/2014/main" id="{46761864-16F2-4895-9347-EC7D03C4277B}"/>
                    </a:ext>
                  </a:extLst>
                </p:cNvPr>
                <p:cNvGraphicFramePr>
                  <a:graphicFrameLocks noChangeAspect="1"/>
                </p:cNvGraphicFramePr>
                <p:nvPr>
                  <p:extLst>
                    <p:ext uri="{D42A27DB-BD31-4B8C-83A1-F6EECF244321}">
                      <p14:modId xmlns:p14="http://schemas.microsoft.com/office/powerpoint/2010/main" val="963436300"/>
                    </p:ext>
                  </p:extLst>
                </p:nvPr>
              </p:nvGraphicFramePr>
              <p:xfrm>
                <a:off x="2096089" y="4934808"/>
                <a:ext cx="1018309" cy="1018310"/>
              </p:xfrm>
              <a:graphic>
                <a:graphicData uri="http://schemas.microsoft.com/office/drawing/2017/model3d">
                  <am3d:model3d r:embed="rId2">
                    <am3d:spPr>
                      <a:xfrm>
                        <a:off x="0" y="0"/>
                        <a:ext cx="1018309" cy="101831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81790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9" name="Modello 3D 218" descr="Sfera grigio chiaro">
                  <a:extLst>
                    <a:ext uri="{FF2B5EF4-FFF2-40B4-BE49-F238E27FC236}">
                      <a16:creationId xmlns:a16="http://schemas.microsoft.com/office/drawing/2014/main" id="{46761864-16F2-4895-9347-EC7D03C4277B}"/>
                    </a:ext>
                  </a:extLst>
                </p:cNvPr>
                <p:cNvPicPr>
                  <a:picLocks noGrp="1" noRot="1" noChangeAspect="1" noMove="1" noResize="1" noEditPoints="1" noAdjustHandles="1" noChangeArrowheads="1" noChangeShapeType="1" noCrop="1"/>
                </p:cNvPicPr>
                <p:nvPr/>
              </p:nvPicPr>
              <p:blipFill>
                <a:blip r:embed="rId5"/>
                <a:stretch>
                  <a:fillRect/>
                </a:stretch>
              </p:blipFill>
              <p:spPr>
                <a:xfrm>
                  <a:off x="2852035" y="4305868"/>
                  <a:ext cx="535045" cy="528371"/>
                </a:xfrm>
                <a:prstGeom prst="rect">
                  <a:avLst/>
                </a:prstGeom>
              </p:spPr>
            </p:pic>
          </mc:Fallback>
        </mc:AlternateContent>
        <p:sp>
          <p:nvSpPr>
            <p:cNvPr id="220" name="CasellaDiTesto 219">
              <a:extLst>
                <a:ext uri="{FF2B5EF4-FFF2-40B4-BE49-F238E27FC236}">
                  <a16:creationId xmlns:a16="http://schemas.microsoft.com/office/drawing/2014/main" id="{91C7D81A-84A5-42A4-A987-088E9E032468}"/>
                </a:ext>
              </a:extLst>
            </p:cNvPr>
            <p:cNvSpPr txBox="1"/>
            <p:nvPr/>
          </p:nvSpPr>
          <p:spPr>
            <a:xfrm>
              <a:off x="2278359" y="5060886"/>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221" name="Gruppo 220">
            <a:extLst>
              <a:ext uri="{FF2B5EF4-FFF2-40B4-BE49-F238E27FC236}">
                <a16:creationId xmlns:a16="http://schemas.microsoft.com/office/drawing/2014/main" id="{44732BC3-1503-46A7-8B41-BA6D0B96D0FA}"/>
              </a:ext>
            </a:extLst>
          </p:cNvPr>
          <p:cNvGrpSpPr/>
          <p:nvPr/>
        </p:nvGrpSpPr>
        <p:grpSpPr>
          <a:xfrm>
            <a:off x="2418412" y="3116449"/>
            <a:ext cx="474077" cy="468163"/>
            <a:chOff x="6214478" y="3704781"/>
            <a:chExt cx="902273" cy="902272"/>
          </a:xfrm>
        </p:grpSpPr>
        <mc:AlternateContent xmlns:mc="http://schemas.openxmlformats.org/markup-compatibility/2006">
          <mc:Choice xmlns:am3d="http://schemas.microsoft.com/office/drawing/2017/model3d" Requires="am3d">
            <p:graphicFrame>
              <p:nvGraphicFramePr>
                <p:cNvPr id="222" name="Modello 3D 221" descr="Sfera grigio chiaro">
                  <a:extLst>
                    <a:ext uri="{FF2B5EF4-FFF2-40B4-BE49-F238E27FC236}">
                      <a16:creationId xmlns:a16="http://schemas.microsoft.com/office/drawing/2014/main" id="{28A7BF26-4D54-4CB1-8C09-E781D8AFE00A}"/>
                    </a:ext>
                  </a:extLst>
                </p:cNvPr>
                <p:cNvGraphicFramePr>
                  <a:graphicFrameLocks noChangeAspect="1"/>
                </p:cNvGraphicFramePr>
                <p:nvPr>
                  <p:extLst>
                    <p:ext uri="{D42A27DB-BD31-4B8C-83A1-F6EECF244321}">
                      <p14:modId xmlns:p14="http://schemas.microsoft.com/office/powerpoint/2010/main" val="2059468921"/>
                    </p:ext>
                  </p:extLst>
                </p:nvPr>
              </p:nvGraphicFramePr>
              <p:xfrm>
                <a:off x="6214478" y="3704781"/>
                <a:ext cx="902273" cy="902272"/>
              </p:xfrm>
              <a:graphic>
                <a:graphicData uri="http://schemas.microsoft.com/office/drawing/2017/model3d">
                  <am3d:model3d r:embed="rId2">
                    <am3d:spPr>
                      <a:xfrm>
                        <a:off x="0" y="0"/>
                        <a:ext cx="902273" cy="90227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1242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2" name="Modello 3D 221" descr="Sfera grigio chiaro">
                  <a:extLst>
                    <a:ext uri="{FF2B5EF4-FFF2-40B4-BE49-F238E27FC236}">
                      <a16:creationId xmlns:a16="http://schemas.microsoft.com/office/drawing/2014/main" id="{28A7BF26-4D54-4CB1-8C09-E781D8AFE00A}"/>
                    </a:ext>
                  </a:extLst>
                </p:cNvPr>
                <p:cNvPicPr>
                  <a:picLocks noGrp="1" noRot="1" noChangeAspect="1" noMove="1" noResize="1" noEditPoints="1" noAdjustHandles="1" noChangeArrowheads="1" noChangeShapeType="1" noCrop="1"/>
                </p:cNvPicPr>
                <p:nvPr/>
              </p:nvPicPr>
              <p:blipFill>
                <a:blip r:embed="rId6"/>
                <a:stretch>
                  <a:fillRect/>
                </a:stretch>
              </p:blipFill>
              <p:spPr>
                <a:xfrm>
                  <a:off x="2418412" y="3116449"/>
                  <a:ext cx="474077" cy="468163"/>
                </a:xfrm>
                <a:prstGeom prst="rect">
                  <a:avLst/>
                </a:prstGeom>
              </p:spPr>
            </p:pic>
          </mc:Fallback>
        </mc:AlternateContent>
        <p:sp>
          <p:nvSpPr>
            <p:cNvPr id="223" name="CasellaDiTesto 222">
              <a:extLst>
                <a:ext uri="{FF2B5EF4-FFF2-40B4-BE49-F238E27FC236}">
                  <a16:creationId xmlns:a16="http://schemas.microsoft.com/office/drawing/2014/main" id="{1807AF6F-7215-46EF-90F7-EB284D3AFAAF}"/>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224" name="Gruppo 223">
            <a:extLst>
              <a:ext uri="{FF2B5EF4-FFF2-40B4-BE49-F238E27FC236}">
                <a16:creationId xmlns:a16="http://schemas.microsoft.com/office/drawing/2014/main" id="{0DD55772-2B32-4C1E-8EC1-6CE71584F204}"/>
              </a:ext>
            </a:extLst>
          </p:cNvPr>
          <p:cNvGrpSpPr/>
          <p:nvPr/>
        </p:nvGrpSpPr>
        <p:grpSpPr>
          <a:xfrm>
            <a:off x="766858" y="4305870"/>
            <a:ext cx="473823" cy="467913"/>
            <a:chOff x="1286302" y="3979004"/>
            <a:chExt cx="901789" cy="901790"/>
          </a:xfrm>
        </p:grpSpPr>
        <mc:AlternateContent xmlns:mc="http://schemas.openxmlformats.org/markup-compatibility/2006">
          <mc:Choice xmlns:am3d="http://schemas.microsoft.com/office/drawing/2017/model3d" Requires="am3d">
            <p:graphicFrame>
              <p:nvGraphicFramePr>
                <p:cNvPr id="225" name="Modello 3D 224" descr="Sfera grigio chiaro">
                  <a:extLst>
                    <a:ext uri="{FF2B5EF4-FFF2-40B4-BE49-F238E27FC236}">
                      <a16:creationId xmlns:a16="http://schemas.microsoft.com/office/drawing/2014/main" id="{F60C1E76-664D-43FE-8413-C8EF578EC078}"/>
                    </a:ext>
                  </a:extLst>
                </p:cNvPr>
                <p:cNvGraphicFramePr>
                  <a:graphicFrameLocks noChangeAspect="1"/>
                </p:cNvGraphicFramePr>
                <p:nvPr>
                  <p:extLst>
                    <p:ext uri="{D42A27DB-BD31-4B8C-83A1-F6EECF244321}">
                      <p14:modId xmlns:p14="http://schemas.microsoft.com/office/powerpoint/2010/main" val="2742980940"/>
                    </p:ext>
                  </p:extLst>
                </p:nvPr>
              </p:nvGraphicFramePr>
              <p:xfrm>
                <a:off x="1286302" y="3979004"/>
                <a:ext cx="901789" cy="901790"/>
              </p:xfrm>
              <a:graphic>
                <a:graphicData uri="http://schemas.microsoft.com/office/drawing/2017/model3d">
                  <am3d:model3d r:embed="rId2">
                    <am3d:spPr>
                      <a:xfrm>
                        <a:off x="0" y="0"/>
                        <a:ext cx="901789" cy="90179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120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5" name="Modello 3D 224" descr="Sfera grigio chiaro">
                  <a:extLst>
                    <a:ext uri="{FF2B5EF4-FFF2-40B4-BE49-F238E27FC236}">
                      <a16:creationId xmlns:a16="http://schemas.microsoft.com/office/drawing/2014/main" id="{F60C1E76-664D-43FE-8413-C8EF578EC078}"/>
                    </a:ext>
                  </a:extLst>
                </p:cNvPr>
                <p:cNvPicPr>
                  <a:picLocks noGrp="1" noRot="1" noChangeAspect="1" noMove="1" noResize="1" noEditPoints="1" noAdjustHandles="1" noChangeArrowheads="1" noChangeShapeType="1" noCrop="1"/>
                </p:cNvPicPr>
                <p:nvPr/>
              </p:nvPicPr>
              <p:blipFill>
                <a:blip r:embed="rId7"/>
                <a:stretch>
                  <a:fillRect/>
                </a:stretch>
              </p:blipFill>
              <p:spPr>
                <a:xfrm>
                  <a:off x="766858" y="4305870"/>
                  <a:ext cx="473823" cy="467913"/>
                </a:xfrm>
                <a:prstGeom prst="rect">
                  <a:avLst/>
                </a:prstGeom>
              </p:spPr>
            </p:pic>
          </mc:Fallback>
        </mc:AlternateContent>
        <p:sp>
          <p:nvSpPr>
            <p:cNvPr id="226" name="CasellaDiTesto 225">
              <a:extLst>
                <a:ext uri="{FF2B5EF4-FFF2-40B4-BE49-F238E27FC236}">
                  <a16:creationId xmlns:a16="http://schemas.microsoft.com/office/drawing/2014/main" id="{1D191DA4-C12C-4D3B-ADF8-4A2B95EDEA6B}"/>
                </a:ext>
              </a:extLst>
            </p:cNvPr>
            <p:cNvSpPr txBox="1"/>
            <p:nvPr/>
          </p:nvSpPr>
          <p:spPr>
            <a:xfrm>
              <a:off x="1452556" y="4095056"/>
              <a:ext cx="496578" cy="593166"/>
            </a:xfrm>
            <a:prstGeom prst="rect">
              <a:avLst/>
            </a:prstGeom>
            <a:noFill/>
          </p:spPr>
          <p:txBody>
            <a:bodyPr wrap="square" rtlCol="0">
              <a:spAutoFit/>
            </a:bodyPr>
            <a:lstStyle/>
            <a:p>
              <a:pPr algn="ctr"/>
              <a:r>
                <a:rPr lang="en-US" sz="1400" b="1" dirty="0">
                  <a:latin typeface="LEMON MILK" panose="00000500000000000000" pitchFamily="50" charset="0"/>
                </a:rPr>
                <a:t>H</a:t>
              </a:r>
            </a:p>
          </p:txBody>
        </p:sp>
      </p:grpSp>
      <p:grpSp>
        <p:nvGrpSpPr>
          <p:cNvPr id="227" name="Gruppo 226">
            <a:extLst>
              <a:ext uri="{FF2B5EF4-FFF2-40B4-BE49-F238E27FC236}">
                <a16:creationId xmlns:a16="http://schemas.microsoft.com/office/drawing/2014/main" id="{6AD472BF-0007-44F3-B891-A4F2D989C60D}"/>
              </a:ext>
            </a:extLst>
          </p:cNvPr>
          <p:cNvGrpSpPr/>
          <p:nvPr/>
        </p:nvGrpSpPr>
        <p:grpSpPr>
          <a:xfrm>
            <a:off x="1830167" y="2663074"/>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231" name="Modello 3D 230" descr="Sfera grigio chiaro">
                  <a:extLst>
                    <a:ext uri="{FF2B5EF4-FFF2-40B4-BE49-F238E27FC236}">
                      <a16:creationId xmlns:a16="http://schemas.microsoft.com/office/drawing/2014/main" id="{B95684AE-A6D3-4EA9-9323-86B879B6B2DF}"/>
                    </a:ext>
                  </a:extLst>
                </p:cNvPr>
                <p:cNvGraphicFramePr>
                  <a:graphicFrameLocks noChangeAspect="1"/>
                </p:cNvGraphicFramePr>
                <p:nvPr>
                  <p:extLst>
                    <p:ext uri="{D42A27DB-BD31-4B8C-83A1-F6EECF244321}">
                      <p14:modId xmlns:p14="http://schemas.microsoft.com/office/powerpoint/2010/main" val="2441359134"/>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1" name="Modello 3D 230" descr="Sfera grigio chiaro">
                  <a:extLst>
                    <a:ext uri="{FF2B5EF4-FFF2-40B4-BE49-F238E27FC236}">
                      <a16:creationId xmlns:a16="http://schemas.microsoft.com/office/drawing/2014/main" id="{B95684AE-A6D3-4EA9-9323-86B879B6B2DF}"/>
                    </a:ext>
                  </a:extLst>
                </p:cNvPr>
                <p:cNvPicPr>
                  <a:picLocks noGrp="1" noRot="1" noChangeAspect="1" noMove="1" noResize="1" noEditPoints="1" noAdjustHandles="1" noChangeArrowheads="1" noChangeShapeType="1" noCrop="1"/>
                </p:cNvPicPr>
                <p:nvPr/>
              </p:nvPicPr>
              <p:blipFill>
                <a:blip r:embed="rId8"/>
                <a:stretch>
                  <a:fillRect/>
                </a:stretch>
              </p:blipFill>
              <p:spPr>
                <a:xfrm>
                  <a:off x="1830167" y="2663074"/>
                  <a:ext cx="459103" cy="453376"/>
                </a:xfrm>
                <a:prstGeom prst="rect">
                  <a:avLst/>
                </a:prstGeom>
              </p:spPr>
            </p:pic>
          </mc:Fallback>
        </mc:AlternateContent>
        <p:sp>
          <p:nvSpPr>
            <p:cNvPr id="232" name="CasellaDiTesto 231">
              <a:extLst>
                <a:ext uri="{FF2B5EF4-FFF2-40B4-BE49-F238E27FC236}">
                  <a16:creationId xmlns:a16="http://schemas.microsoft.com/office/drawing/2014/main" id="{25AA4BEA-8038-44BB-B278-00AD7D6566F7}"/>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233" name="Gruppo 232">
            <a:extLst>
              <a:ext uri="{FF2B5EF4-FFF2-40B4-BE49-F238E27FC236}">
                <a16:creationId xmlns:a16="http://schemas.microsoft.com/office/drawing/2014/main" id="{02D64187-C86E-41B7-9D76-51F39A4E48C8}"/>
              </a:ext>
            </a:extLst>
          </p:cNvPr>
          <p:cNvGrpSpPr/>
          <p:nvPr/>
        </p:nvGrpSpPr>
        <p:grpSpPr>
          <a:xfrm>
            <a:off x="555085" y="2676672"/>
            <a:ext cx="473823" cy="467912"/>
            <a:chOff x="8758910" y="3645182"/>
            <a:chExt cx="899015" cy="901791"/>
          </a:xfrm>
        </p:grpSpPr>
        <mc:AlternateContent xmlns:mc="http://schemas.openxmlformats.org/markup-compatibility/2006">
          <mc:Choice xmlns:am3d="http://schemas.microsoft.com/office/drawing/2017/model3d" Requires="am3d">
            <p:graphicFrame>
              <p:nvGraphicFramePr>
                <p:cNvPr id="234" name="Modello 3D 233" descr="Sfera grigio chiaro">
                  <a:extLst>
                    <a:ext uri="{FF2B5EF4-FFF2-40B4-BE49-F238E27FC236}">
                      <a16:creationId xmlns:a16="http://schemas.microsoft.com/office/drawing/2014/main" id="{10788FF1-059C-450C-8FB5-B483C82F83F6}"/>
                    </a:ext>
                  </a:extLst>
                </p:cNvPr>
                <p:cNvGraphicFramePr>
                  <a:graphicFrameLocks noChangeAspect="1"/>
                </p:cNvGraphicFramePr>
                <p:nvPr>
                  <p:extLst>
                    <p:ext uri="{D42A27DB-BD31-4B8C-83A1-F6EECF244321}">
                      <p14:modId xmlns:p14="http://schemas.microsoft.com/office/powerpoint/2010/main" val="3398461"/>
                    </p:ext>
                  </p:extLst>
                </p:nvPr>
              </p:nvGraphicFramePr>
              <p:xfrm>
                <a:off x="8758910" y="3645182"/>
                <a:ext cx="899015" cy="901791"/>
              </p:xfrm>
              <a:graphic>
                <a:graphicData uri="http://schemas.microsoft.com/office/drawing/2017/model3d">
                  <am3d:model3d r:embed="rId2">
                    <am3d:spPr>
                      <a:xfrm>
                        <a:off x="0" y="0"/>
                        <a:ext cx="899015" cy="90179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9"/>
                    </am3d:raster>
                    <am3d:objViewport viewportSz="7120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4" name="Modello 3D 233" descr="Sfera grigio chiaro">
                  <a:extLst>
                    <a:ext uri="{FF2B5EF4-FFF2-40B4-BE49-F238E27FC236}">
                      <a16:creationId xmlns:a16="http://schemas.microsoft.com/office/drawing/2014/main" id="{10788FF1-059C-450C-8FB5-B483C82F83F6}"/>
                    </a:ext>
                  </a:extLst>
                </p:cNvPr>
                <p:cNvPicPr>
                  <a:picLocks noGrp="1" noRot="1" noChangeAspect="1" noMove="1" noResize="1" noEditPoints="1" noAdjustHandles="1" noChangeArrowheads="1" noChangeShapeType="1" noCrop="1"/>
                </p:cNvPicPr>
                <p:nvPr/>
              </p:nvPicPr>
              <p:blipFill>
                <a:blip r:embed="rId9"/>
                <a:stretch>
                  <a:fillRect/>
                </a:stretch>
              </p:blipFill>
              <p:spPr>
                <a:xfrm>
                  <a:off x="555085" y="2676672"/>
                  <a:ext cx="473823" cy="467912"/>
                </a:xfrm>
                <a:prstGeom prst="rect">
                  <a:avLst/>
                </a:prstGeom>
              </p:spPr>
            </p:pic>
          </mc:Fallback>
        </mc:AlternateContent>
        <p:sp>
          <p:nvSpPr>
            <p:cNvPr id="235" name="CasellaDiTesto 234">
              <a:extLst>
                <a:ext uri="{FF2B5EF4-FFF2-40B4-BE49-F238E27FC236}">
                  <a16:creationId xmlns:a16="http://schemas.microsoft.com/office/drawing/2014/main" id="{53E6B543-01BE-48D0-8722-51E60EA9C617}"/>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236" name="Gruppo 235">
            <a:extLst>
              <a:ext uri="{FF2B5EF4-FFF2-40B4-BE49-F238E27FC236}">
                <a16:creationId xmlns:a16="http://schemas.microsoft.com/office/drawing/2014/main" id="{35D89423-6F4E-4AC6-AB00-786B72867CF4}"/>
              </a:ext>
            </a:extLst>
          </p:cNvPr>
          <p:cNvGrpSpPr/>
          <p:nvPr/>
        </p:nvGrpSpPr>
        <p:grpSpPr>
          <a:xfrm>
            <a:off x="1245722" y="3104733"/>
            <a:ext cx="535661" cy="528979"/>
            <a:chOff x="7328689" y="2428043"/>
            <a:chExt cx="1019480" cy="1019480"/>
          </a:xfrm>
        </p:grpSpPr>
        <mc:AlternateContent xmlns:mc="http://schemas.openxmlformats.org/markup-compatibility/2006">
          <mc:Choice xmlns:am3d="http://schemas.microsoft.com/office/drawing/2017/model3d" Requires="am3d">
            <p:graphicFrame>
              <p:nvGraphicFramePr>
                <p:cNvPr id="237" name="Modello 3D 236" descr="Sfera grigio chiaro">
                  <a:extLst>
                    <a:ext uri="{FF2B5EF4-FFF2-40B4-BE49-F238E27FC236}">
                      <a16:creationId xmlns:a16="http://schemas.microsoft.com/office/drawing/2014/main" id="{10FBE262-2B3B-4F6F-81FA-A8C9BDC7AFE0}"/>
                    </a:ext>
                  </a:extLst>
                </p:cNvPr>
                <p:cNvGraphicFramePr>
                  <a:graphicFrameLocks noChangeAspect="1"/>
                </p:cNvGraphicFramePr>
                <p:nvPr>
                  <p:extLst>
                    <p:ext uri="{D42A27DB-BD31-4B8C-83A1-F6EECF244321}">
                      <p14:modId xmlns:p14="http://schemas.microsoft.com/office/powerpoint/2010/main" val="2596287130"/>
                    </p:ext>
                  </p:extLst>
                </p:nvPr>
              </p:nvGraphicFramePr>
              <p:xfrm>
                <a:off x="7328689" y="2428043"/>
                <a:ext cx="1019480" cy="1019480"/>
              </p:xfrm>
              <a:graphic>
                <a:graphicData uri="http://schemas.microsoft.com/office/drawing/2017/model3d">
                  <am3d:model3d r:embed="rId2">
                    <am3d:spPr>
                      <a:xfrm>
                        <a:off x="0" y="0"/>
                        <a:ext cx="1019480" cy="101948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10"/>
                    </am3d:raster>
                    <am3d:objViewport viewportSz="818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37" name="Modello 3D 236" descr="Sfera grigio chiaro">
                  <a:extLst>
                    <a:ext uri="{FF2B5EF4-FFF2-40B4-BE49-F238E27FC236}">
                      <a16:creationId xmlns:a16="http://schemas.microsoft.com/office/drawing/2014/main" id="{10FBE262-2B3B-4F6F-81FA-A8C9BDC7AFE0}"/>
                    </a:ext>
                  </a:extLst>
                </p:cNvPr>
                <p:cNvPicPr>
                  <a:picLocks noGrp="1" noRot="1" noChangeAspect="1" noMove="1" noResize="1" noEditPoints="1" noAdjustHandles="1" noChangeArrowheads="1" noChangeShapeType="1" noCrop="1"/>
                </p:cNvPicPr>
                <p:nvPr/>
              </p:nvPicPr>
              <p:blipFill>
                <a:blip r:embed="rId10"/>
                <a:stretch>
                  <a:fillRect/>
                </a:stretch>
              </p:blipFill>
              <p:spPr>
                <a:xfrm>
                  <a:off x="1245722" y="3104733"/>
                  <a:ext cx="535661" cy="528979"/>
                </a:xfrm>
                <a:prstGeom prst="rect">
                  <a:avLst/>
                </a:prstGeom>
              </p:spPr>
            </p:pic>
          </mc:Fallback>
        </mc:AlternateContent>
        <p:sp>
          <p:nvSpPr>
            <p:cNvPr id="238" name="CasellaDiTesto 237">
              <a:extLst>
                <a:ext uri="{FF2B5EF4-FFF2-40B4-BE49-F238E27FC236}">
                  <a16:creationId xmlns:a16="http://schemas.microsoft.com/office/drawing/2014/main" id="{1373236C-7A61-40EA-B286-621AAE4FDC01}"/>
                </a:ext>
              </a:extLst>
            </p:cNvPr>
            <p:cNvSpPr txBox="1"/>
            <p:nvPr/>
          </p:nvSpPr>
          <p:spPr>
            <a:xfrm>
              <a:off x="7461305" y="2597748"/>
              <a:ext cx="496578" cy="593166"/>
            </a:xfrm>
            <a:prstGeom prst="rect">
              <a:avLst/>
            </a:prstGeom>
            <a:noFill/>
          </p:spPr>
          <p:txBody>
            <a:bodyPr wrap="square" rtlCol="0">
              <a:spAutoFit/>
            </a:bodyPr>
            <a:lstStyle/>
            <a:p>
              <a:pPr algn="ctr"/>
              <a:r>
                <a:rPr lang="en-US" sz="1400" b="1" dirty="0">
                  <a:latin typeface="LEMON MILK" panose="00000500000000000000" pitchFamily="50" charset="0"/>
                </a:rPr>
                <a:t>g</a:t>
              </a:r>
              <a:endParaRPr lang="it-IT" sz="1400" b="1" dirty="0">
                <a:latin typeface="LEMON MILK" panose="00000500000000000000" pitchFamily="50" charset="0"/>
              </a:endParaRPr>
            </a:p>
          </p:txBody>
        </p:sp>
      </p:grpSp>
      <p:cxnSp>
        <p:nvCxnSpPr>
          <p:cNvPr id="239" name="Connettore diritto 238">
            <a:extLst>
              <a:ext uri="{FF2B5EF4-FFF2-40B4-BE49-F238E27FC236}">
                <a16:creationId xmlns:a16="http://schemas.microsoft.com/office/drawing/2014/main" id="{2D13C139-3FAE-414F-831B-20CD434B24E0}"/>
              </a:ext>
            </a:extLst>
          </p:cNvPr>
          <p:cNvCxnSpPr>
            <a:cxnSpLocks/>
            <a:stCxn id="222" idx="1"/>
            <a:endCxn id="231" idx="2"/>
          </p:cNvCxnSpPr>
          <p:nvPr/>
        </p:nvCxnSpPr>
        <p:spPr>
          <a:xfrm flipH="1" flipV="1">
            <a:off x="2059719" y="3116450"/>
            <a:ext cx="358693" cy="234081"/>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40" name="Connettore diritto 239">
            <a:extLst>
              <a:ext uri="{FF2B5EF4-FFF2-40B4-BE49-F238E27FC236}">
                <a16:creationId xmlns:a16="http://schemas.microsoft.com/office/drawing/2014/main" id="{6A928E30-EFD6-458B-9972-8B414099C72D}"/>
              </a:ext>
            </a:extLst>
          </p:cNvPr>
          <p:cNvCxnSpPr>
            <a:cxnSpLocks/>
            <a:stCxn id="231" idx="2"/>
            <a:endCxn id="237" idx="3"/>
          </p:cNvCxnSpPr>
          <p:nvPr/>
        </p:nvCxnSpPr>
        <p:spPr>
          <a:xfrm flipH="1">
            <a:off x="1781383" y="3116450"/>
            <a:ext cx="278336" cy="2527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1" name="Connettore diritto 240">
            <a:extLst>
              <a:ext uri="{FF2B5EF4-FFF2-40B4-BE49-F238E27FC236}">
                <a16:creationId xmlns:a16="http://schemas.microsoft.com/office/drawing/2014/main" id="{97095911-66D6-4C40-BF3D-14E934D77F8C}"/>
              </a:ext>
            </a:extLst>
          </p:cNvPr>
          <p:cNvCxnSpPr>
            <a:cxnSpLocks/>
            <a:stCxn id="234" idx="2"/>
            <a:endCxn id="237" idx="1"/>
          </p:cNvCxnSpPr>
          <p:nvPr/>
        </p:nvCxnSpPr>
        <p:spPr>
          <a:xfrm>
            <a:off x="791997" y="3144584"/>
            <a:ext cx="453725" cy="2246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2" name="Connettore diritto 241">
            <a:extLst>
              <a:ext uri="{FF2B5EF4-FFF2-40B4-BE49-F238E27FC236}">
                <a16:creationId xmlns:a16="http://schemas.microsoft.com/office/drawing/2014/main" id="{47C54F51-AFE7-43B3-B44B-BA4C6B90C0F5}"/>
              </a:ext>
            </a:extLst>
          </p:cNvPr>
          <p:cNvCxnSpPr>
            <a:cxnSpLocks/>
            <a:stCxn id="234" idx="2"/>
            <a:endCxn id="225" idx="0"/>
          </p:cNvCxnSpPr>
          <p:nvPr/>
        </p:nvCxnSpPr>
        <p:spPr>
          <a:xfrm>
            <a:off x="791997" y="3144584"/>
            <a:ext cx="211773" cy="116128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43" name="Connettore diritto 242">
            <a:extLst>
              <a:ext uri="{FF2B5EF4-FFF2-40B4-BE49-F238E27FC236}">
                <a16:creationId xmlns:a16="http://schemas.microsoft.com/office/drawing/2014/main" id="{D3AE46DD-2B7A-4363-9360-F955AFCBE01B}"/>
              </a:ext>
            </a:extLst>
          </p:cNvPr>
          <p:cNvCxnSpPr>
            <a:cxnSpLocks/>
            <a:stCxn id="234" idx="2"/>
            <a:endCxn id="216" idx="1"/>
          </p:cNvCxnSpPr>
          <p:nvPr/>
        </p:nvCxnSpPr>
        <p:spPr>
          <a:xfrm>
            <a:off x="791997" y="3144584"/>
            <a:ext cx="1037353" cy="14280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244" name="Modello 3D 243" descr="Monitor per PC">
                <a:extLst>
                  <a:ext uri="{FF2B5EF4-FFF2-40B4-BE49-F238E27FC236}">
                    <a16:creationId xmlns:a16="http://schemas.microsoft.com/office/drawing/2014/main" id="{F6BE285F-9F57-4324-8017-17C1EE1CCA92}"/>
                  </a:ext>
                </a:extLst>
              </p:cNvPr>
              <p:cNvGraphicFramePr>
                <a:graphicFrameLocks noChangeAspect="1"/>
              </p:cNvGraphicFramePr>
              <p:nvPr>
                <p:extLst>
                  <p:ext uri="{D42A27DB-BD31-4B8C-83A1-F6EECF244321}">
                    <p14:modId xmlns:p14="http://schemas.microsoft.com/office/powerpoint/2010/main" val="1567202421"/>
                  </p:ext>
                </p:extLst>
              </p:nvPr>
            </p:nvGraphicFramePr>
            <p:xfrm>
              <a:off x="1603118" y="1761421"/>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4" name="Modello 3D 243" descr="Monitor per PC">
                <a:extLst>
                  <a:ext uri="{FF2B5EF4-FFF2-40B4-BE49-F238E27FC236}">
                    <a16:creationId xmlns:a16="http://schemas.microsoft.com/office/drawing/2014/main" id="{F6BE285F-9F57-4324-8017-17C1EE1CCA92}"/>
                  </a:ext>
                </a:extLst>
              </p:cNvPr>
              <p:cNvPicPr>
                <a:picLocks noGrp="1" noRot="1" noChangeAspect="1" noMove="1" noResize="1" noEditPoints="1" noAdjustHandles="1" noChangeArrowheads="1" noChangeShapeType="1" noCrop="1"/>
              </p:cNvPicPr>
              <p:nvPr/>
            </p:nvPicPr>
            <p:blipFill>
              <a:blip r:embed="rId12"/>
              <a:stretch>
                <a:fillRect/>
              </a:stretch>
            </p:blipFill>
            <p:spPr>
              <a:xfrm>
                <a:off x="1603118" y="1761421"/>
                <a:ext cx="844971" cy="621363"/>
              </a:xfrm>
              <a:prstGeom prst="rect">
                <a:avLst/>
              </a:prstGeom>
            </p:spPr>
          </p:pic>
        </mc:Fallback>
      </mc:AlternateContent>
      <p:cxnSp>
        <p:nvCxnSpPr>
          <p:cNvPr id="245" name="Connettore diritto 244">
            <a:extLst>
              <a:ext uri="{FF2B5EF4-FFF2-40B4-BE49-F238E27FC236}">
                <a16:creationId xmlns:a16="http://schemas.microsoft.com/office/drawing/2014/main" id="{33DC5F08-1FD5-48CB-94BC-DFAE9126137F}"/>
              </a:ext>
            </a:extLst>
          </p:cNvPr>
          <p:cNvCxnSpPr>
            <a:cxnSpLocks/>
            <a:stCxn id="234" idx="0"/>
            <a:endCxn id="244" idx="1"/>
          </p:cNvCxnSpPr>
          <p:nvPr/>
        </p:nvCxnSpPr>
        <p:spPr>
          <a:xfrm flipV="1">
            <a:off x="791997" y="2072103"/>
            <a:ext cx="811121" cy="604569"/>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46" name="Connettore diritto 245">
            <a:extLst>
              <a:ext uri="{FF2B5EF4-FFF2-40B4-BE49-F238E27FC236}">
                <a16:creationId xmlns:a16="http://schemas.microsoft.com/office/drawing/2014/main" id="{174B0D55-E48E-4663-B80A-FFBBCA766281}"/>
              </a:ext>
            </a:extLst>
          </p:cNvPr>
          <p:cNvCxnSpPr>
            <a:cxnSpLocks/>
            <a:stCxn id="175" idx="0"/>
            <a:endCxn id="244" idx="3"/>
          </p:cNvCxnSpPr>
          <p:nvPr/>
        </p:nvCxnSpPr>
        <p:spPr>
          <a:xfrm flipH="1" flipV="1">
            <a:off x="2448089" y="2072103"/>
            <a:ext cx="774922" cy="5585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7" name="Connettore diritto 246">
            <a:extLst>
              <a:ext uri="{FF2B5EF4-FFF2-40B4-BE49-F238E27FC236}">
                <a16:creationId xmlns:a16="http://schemas.microsoft.com/office/drawing/2014/main" id="{FA462EEE-F52F-4E9D-8488-4A3A3919405F}"/>
              </a:ext>
            </a:extLst>
          </p:cNvPr>
          <p:cNvCxnSpPr>
            <a:cxnSpLocks/>
            <a:stCxn id="216" idx="3"/>
            <a:endCxn id="175" idx="2"/>
          </p:cNvCxnSpPr>
          <p:nvPr/>
        </p:nvCxnSpPr>
        <p:spPr>
          <a:xfrm flipV="1">
            <a:off x="2359126" y="3192787"/>
            <a:ext cx="863885" cy="1379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8" name="Connettore diritto 247">
            <a:extLst>
              <a:ext uri="{FF2B5EF4-FFF2-40B4-BE49-F238E27FC236}">
                <a16:creationId xmlns:a16="http://schemas.microsoft.com/office/drawing/2014/main" id="{77B92BE4-2EE6-4070-B31F-FA059EF19AD8}"/>
              </a:ext>
            </a:extLst>
          </p:cNvPr>
          <p:cNvCxnSpPr>
            <a:cxnSpLocks/>
            <a:stCxn id="219" idx="0"/>
            <a:endCxn id="175" idx="2"/>
          </p:cNvCxnSpPr>
          <p:nvPr/>
        </p:nvCxnSpPr>
        <p:spPr>
          <a:xfrm flipV="1">
            <a:off x="3119558" y="3192787"/>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249" name="Modello 3D 248" descr="Monitor per PC">
                <a:extLst>
                  <a:ext uri="{FF2B5EF4-FFF2-40B4-BE49-F238E27FC236}">
                    <a16:creationId xmlns:a16="http://schemas.microsoft.com/office/drawing/2014/main" id="{B450EFC5-199F-4536-B256-7B9BFCBA3C8B}"/>
                  </a:ext>
                </a:extLst>
              </p:cNvPr>
              <p:cNvGraphicFramePr>
                <a:graphicFrameLocks noChangeAspect="1"/>
              </p:cNvGraphicFramePr>
              <p:nvPr>
                <p:extLst>
                  <p:ext uri="{D42A27DB-BD31-4B8C-83A1-F6EECF244321}">
                    <p14:modId xmlns:p14="http://schemas.microsoft.com/office/powerpoint/2010/main" val="2314105648"/>
                  </p:ext>
                </p:extLst>
              </p:nvPr>
            </p:nvGraphicFramePr>
            <p:xfrm>
              <a:off x="1618972" y="5244813"/>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9" name="Modello 3D 248" descr="Monitor per PC">
                <a:extLst>
                  <a:ext uri="{FF2B5EF4-FFF2-40B4-BE49-F238E27FC236}">
                    <a16:creationId xmlns:a16="http://schemas.microsoft.com/office/drawing/2014/main" id="{B450EFC5-199F-4536-B256-7B9BFCBA3C8B}"/>
                  </a:ext>
                </a:extLst>
              </p:cNvPr>
              <p:cNvPicPr>
                <a:picLocks noGrp="1" noRot="1" noChangeAspect="1" noMove="1" noResize="1" noEditPoints="1" noAdjustHandles="1" noChangeArrowheads="1" noChangeShapeType="1" noCrop="1"/>
              </p:cNvPicPr>
              <p:nvPr/>
            </p:nvPicPr>
            <p:blipFill>
              <a:blip r:embed="rId12"/>
              <a:stretch>
                <a:fillRect/>
              </a:stretch>
            </p:blipFill>
            <p:spPr>
              <a:xfrm>
                <a:off x="1618972" y="5244813"/>
                <a:ext cx="844971" cy="621363"/>
              </a:xfrm>
              <a:prstGeom prst="rect">
                <a:avLst/>
              </a:prstGeom>
            </p:spPr>
          </p:pic>
        </mc:Fallback>
      </mc:AlternateContent>
      <p:cxnSp>
        <p:nvCxnSpPr>
          <p:cNvPr id="250" name="Connettore diritto 249">
            <a:extLst>
              <a:ext uri="{FF2B5EF4-FFF2-40B4-BE49-F238E27FC236}">
                <a16:creationId xmlns:a16="http://schemas.microsoft.com/office/drawing/2014/main" id="{F6C23779-3B14-4E33-9E44-D2A25197328A}"/>
              </a:ext>
            </a:extLst>
          </p:cNvPr>
          <p:cNvCxnSpPr>
            <a:cxnSpLocks/>
            <a:stCxn id="226" idx="2"/>
            <a:endCxn id="249" idx="1"/>
          </p:cNvCxnSpPr>
          <p:nvPr/>
        </p:nvCxnSpPr>
        <p:spPr>
          <a:xfrm>
            <a:off x="984670" y="4673863"/>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1" name="Connettore diritto 250">
            <a:extLst>
              <a:ext uri="{FF2B5EF4-FFF2-40B4-BE49-F238E27FC236}">
                <a16:creationId xmlns:a16="http://schemas.microsoft.com/office/drawing/2014/main" id="{BAF30B51-FE7D-41AE-A306-A7B5474BF14E}"/>
              </a:ext>
            </a:extLst>
          </p:cNvPr>
          <p:cNvCxnSpPr>
            <a:cxnSpLocks/>
            <a:stCxn id="249" idx="3"/>
            <a:endCxn id="219" idx="2"/>
          </p:cNvCxnSpPr>
          <p:nvPr/>
        </p:nvCxnSpPr>
        <p:spPr>
          <a:xfrm flipV="1">
            <a:off x="2463943" y="4834239"/>
            <a:ext cx="655615" cy="7212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2" name="Connettore diritto 251">
            <a:extLst>
              <a:ext uri="{FF2B5EF4-FFF2-40B4-BE49-F238E27FC236}">
                <a16:creationId xmlns:a16="http://schemas.microsoft.com/office/drawing/2014/main" id="{2C913B33-E8BB-41D2-81F9-FD1669A73521}"/>
              </a:ext>
            </a:extLst>
          </p:cNvPr>
          <p:cNvCxnSpPr>
            <a:cxnSpLocks/>
            <a:stCxn id="222" idx="3"/>
            <a:endCxn id="175" idx="2"/>
          </p:cNvCxnSpPr>
          <p:nvPr/>
        </p:nvCxnSpPr>
        <p:spPr>
          <a:xfrm flipV="1">
            <a:off x="2892489" y="3192787"/>
            <a:ext cx="330522" cy="1577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3" name="Connettore diritto 252">
            <a:extLst>
              <a:ext uri="{FF2B5EF4-FFF2-40B4-BE49-F238E27FC236}">
                <a16:creationId xmlns:a16="http://schemas.microsoft.com/office/drawing/2014/main" id="{3C63A829-A577-4540-B754-C70B93539424}"/>
              </a:ext>
            </a:extLst>
          </p:cNvPr>
          <p:cNvCxnSpPr>
            <a:cxnSpLocks/>
            <a:stCxn id="244" idx="2"/>
            <a:endCxn id="231" idx="0"/>
          </p:cNvCxnSpPr>
          <p:nvPr/>
        </p:nvCxnSpPr>
        <p:spPr>
          <a:xfrm>
            <a:off x="2025604" y="2382784"/>
            <a:ext cx="34115" cy="2802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93" name="Gruppo 292">
            <a:extLst>
              <a:ext uri="{FF2B5EF4-FFF2-40B4-BE49-F238E27FC236}">
                <a16:creationId xmlns:a16="http://schemas.microsoft.com/office/drawing/2014/main" id="{E90417AC-5867-4FEE-A87A-16F7A26A5EF9}"/>
              </a:ext>
            </a:extLst>
          </p:cNvPr>
          <p:cNvGrpSpPr/>
          <p:nvPr/>
        </p:nvGrpSpPr>
        <p:grpSpPr>
          <a:xfrm>
            <a:off x="2938388" y="2630942"/>
            <a:ext cx="569246" cy="562145"/>
            <a:chOff x="7156642" y="2544529"/>
            <a:chExt cx="1083401" cy="1083401"/>
          </a:xfrm>
        </p:grpSpPr>
        <mc:AlternateContent xmlns:mc="http://schemas.openxmlformats.org/markup-compatibility/2006">
          <mc:Choice xmlns:am3d="http://schemas.microsoft.com/office/drawing/2017/model3d" Requires="am3d">
            <p:graphicFrame>
              <p:nvGraphicFramePr>
                <p:cNvPr id="294" name="Modello 3D 293" descr="Sfera grigio chiaro">
                  <a:extLst>
                    <a:ext uri="{FF2B5EF4-FFF2-40B4-BE49-F238E27FC236}">
                      <a16:creationId xmlns:a16="http://schemas.microsoft.com/office/drawing/2014/main" id="{AAB4532F-50D5-4427-AD4A-F67B6209175B}"/>
                    </a:ext>
                  </a:extLst>
                </p:cNvPr>
                <p:cNvGraphicFramePr>
                  <a:graphicFrameLocks noChangeAspect="1"/>
                </p:cNvGraphicFramePr>
                <p:nvPr>
                  <p:extLst>
                    <p:ext uri="{D42A27DB-BD31-4B8C-83A1-F6EECF244321}">
                      <p14:modId xmlns:p14="http://schemas.microsoft.com/office/powerpoint/2010/main" val="3084908324"/>
                    </p:ext>
                  </p:extLst>
                </p:nvPr>
              </p:nvGraphicFramePr>
              <p:xfrm>
                <a:off x="7156642" y="2544529"/>
                <a:ext cx="1083401" cy="1083401"/>
              </p:xfrm>
              <a:graphic>
                <a:graphicData uri="http://schemas.microsoft.com/office/drawing/2017/model3d">
                  <am3d:model3d r:embed="rId2">
                    <am3d:spPr>
                      <a:xfrm>
                        <a:off x="0" y="0"/>
                        <a:ext cx="1083401" cy="108340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8744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4" name="Modello 3D 293" descr="Sfera grigio chiaro">
                  <a:extLst>
                    <a:ext uri="{FF2B5EF4-FFF2-40B4-BE49-F238E27FC236}">
                      <a16:creationId xmlns:a16="http://schemas.microsoft.com/office/drawing/2014/main" id="{AAB4532F-50D5-4427-AD4A-F67B6209175B}"/>
                    </a:ext>
                  </a:extLst>
                </p:cNvPr>
                <p:cNvPicPr>
                  <a:picLocks noGrp="1" noRot="1" noChangeAspect="1" noMove="1" noResize="1" noEditPoints="1" noAdjustHandles="1" noChangeArrowheads="1" noChangeShapeType="1" noCrop="1"/>
                </p:cNvPicPr>
                <p:nvPr/>
              </p:nvPicPr>
              <p:blipFill>
                <a:blip r:embed="rId3"/>
                <a:stretch>
                  <a:fillRect/>
                </a:stretch>
              </p:blipFill>
              <p:spPr>
                <a:xfrm>
                  <a:off x="2938388" y="2630942"/>
                  <a:ext cx="569246" cy="562145"/>
                </a:xfrm>
                <a:prstGeom prst="rect">
                  <a:avLst/>
                </a:prstGeom>
              </p:spPr>
            </p:pic>
          </mc:Fallback>
        </mc:AlternateContent>
        <p:sp>
          <p:nvSpPr>
            <p:cNvPr id="295" name="CasellaDiTesto 294">
              <a:extLst>
                <a:ext uri="{FF2B5EF4-FFF2-40B4-BE49-F238E27FC236}">
                  <a16:creationId xmlns:a16="http://schemas.microsoft.com/office/drawing/2014/main" id="{C4B755D2-810E-44B5-8F6E-7A6396F37B7B}"/>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96" name="Gruppo 295">
            <a:extLst>
              <a:ext uri="{FF2B5EF4-FFF2-40B4-BE49-F238E27FC236}">
                <a16:creationId xmlns:a16="http://schemas.microsoft.com/office/drawing/2014/main" id="{E2A78547-B6D5-4023-A44B-874C31F26046}"/>
              </a:ext>
            </a:extLst>
          </p:cNvPr>
          <p:cNvGrpSpPr/>
          <p:nvPr/>
        </p:nvGrpSpPr>
        <p:grpSpPr>
          <a:xfrm>
            <a:off x="1829350" y="4311371"/>
            <a:ext cx="529776" cy="523168"/>
            <a:chOff x="2029030" y="3475956"/>
            <a:chExt cx="1008280" cy="1008281"/>
          </a:xfrm>
        </p:grpSpPr>
        <mc:AlternateContent xmlns:mc="http://schemas.openxmlformats.org/markup-compatibility/2006">
          <mc:Choice xmlns:am3d="http://schemas.microsoft.com/office/drawing/2017/model3d" Requires="am3d">
            <p:graphicFrame>
              <p:nvGraphicFramePr>
                <p:cNvPr id="297" name="Modello 3D 296" descr="Sfera grigio chiaro">
                  <a:extLst>
                    <a:ext uri="{FF2B5EF4-FFF2-40B4-BE49-F238E27FC236}">
                      <a16:creationId xmlns:a16="http://schemas.microsoft.com/office/drawing/2014/main" id="{FE708950-EF8D-4B2E-B544-9DA1F2C6C7AF}"/>
                    </a:ext>
                  </a:extLst>
                </p:cNvPr>
                <p:cNvGraphicFramePr>
                  <a:graphicFrameLocks noChangeAspect="1"/>
                </p:cNvGraphicFramePr>
                <p:nvPr>
                  <p:extLst>
                    <p:ext uri="{D42A27DB-BD31-4B8C-83A1-F6EECF244321}">
                      <p14:modId xmlns:p14="http://schemas.microsoft.com/office/powerpoint/2010/main" val="3970767506"/>
                    </p:ext>
                  </p:extLst>
                </p:nvPr>
              </p:nvGraphicFramePr>
              <p:xfrm>
                <a:off x="2029030" y="3475956"/>
                <a:ext cx="1008280" cy="1008281"/>
              </p:xfrm>
              <a:graphic>
                <a:graphicData uri="http://schemas.microsoft.com/office/drawing/2017/model3d">
                  <am3d:model3d r:embed="rId2">
                    <am3d:spPr>
                      <a:xfrm>
                        <a:off x="0" y="0"/>
                        <a:ext cx="1008280" cy="100828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84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7" name="Modello 3D 296" descr="Sfera grigio chiaro">
                  <a:extLst>
                    <a:ext uri="{FF2B5EF4-FFF2-40B4-BE49-F238E27FC236}">
                      <a16:creationId xmlns:a16="http://schemas.microsoft.com/office/drawing/2014/main" id="{FE708950-EF8D-4B2E-B544-9DA1F2C6C7AF}"/>
                    </a:ext>
                  </a:extLst>
                </p:cNvPr>
                <p:cNvPicPr>
                  <a:picLocks noGrp="1" noRot="1" noChangeAspect="1" noMove="1" noResize="1" noEditPoints="1" noAdjustHandles="1" noChangeArrowheads="1" noChangeShapeType="1" noCrop="1"/>
                </p:cNvPicPr>
                <p:nvPr/>
              </p:nvPicPr>
              <p:blipFill>
                <a:blip r:embed="rId4"/>
                <a:stretch>
                  <a:fillRect/>
                </a:stretch>
              </p:blipFill>
              <p:spPr>
                <a:xfrm>
                  <a:off x="1829350" y="4311371"/>
                  <a:ext cx="529776" cy="523168"/>
                </a:xfrm>
                <a:prstGeom prst="rect">
                  <a:avLst/>
                </a:prstGeom>
              </p:spPr>
            </p:pic>
          </mc:Fallback>
        </mc:AlternateContent>
        <p:sp>
          <p:nvSpPr>
            <p:cNvPr id="298" name="CasellaDiTesto 297">
              <a:extLst>
                <a:ext uri="{FF2B5EF4-FFF2-40B4-BE49-F238E27FC236}">
                  <a16:creationId xmlns:a16="http://schemas.microsoft.com/office/drawing/2014/main" id="{D3664AD5-84A0-45E0-BAEC-52353B6C9313}"/>
                </a:ext>
              </a:extLst>
            </p:cNvPr>
            <p:cNvSpPr txBox="1"/>
            <p:nvPr/>
          </p:nvSpPr>
          <p:spPr>
            <a:xfrm>
              <a:off x="2271076" y="3683512"/>
              <a:ext cx="496579" cy="593166"/>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grpSp>
        <p:nvGrpSpPr>
          <p:cNvPr id="299" name="Gruppo 298">
            <a:extLst>
              <a:ext uri="{FF2B5EF4-FFF2-40B4-BE49-F238E27FC236}">
                <a16:creationId xmlns:a16="http://schemas.microsoft.com/office/drawing/2014/main" id="{FA719E65-94EC-49EC-BC7D-6095ABEE6B01}"/>
              </a:ext>
            </a:extLst>
          </p:cNvPr>
          <p:cNvGrpSpPr/>
          <p:nvPr/>
        </p:nvGrpSpPr>
        <p:grpSpPr>
          <a:xfrm>
            <a:off x="2852035" y="4306168"/>
            <a:ext cx="535045" cy="528371"/>
            <a:chOff x="2096089" y="4934808"/>
            <a:chExt cx="1018309" cy="1018310"/>
          </a:xfrm>
        </p:grpSpPr>
        <mc:AlternateContent xmlns:mc="http://schemas.openxmlformats.org/markup-compatibility/2006">
          <mc:Choice xmlns:am3d="http://schemas.microsoft.com/office/drawing/2017/model3d" Requires="am3d">
            <p:graphicFrame>
              <p:nvGraphicFramePr>
                <p:cNvPr id="300" name="Modello 3D 299" descr="Sfera grigio chiaro">
                  <a:extLst>
                    <a:ext uri="{FF2B5EF4-FFF2-40B4-BE49-F238E27FC236}">
                      <a16:creationId xmlns:a16="http://schemas.microsoft.com/office/drawing/2014/main" id="{FAEBCEE6-392F-49F0-966A-8EE8722491D7}"/>
                    </a:ext>
                  </a:extLst>
                </p:cNvPr>
                <p:cNvGraphicFramePr>
                  <a:graphicFrameLocks noChangeAspect="1"/>
                </p:cNvGraphicFramePr>
                <p:nvPr>
                  <p:extLst>
                    <p:ext uri="{D42A27DB-BD31-4B8C-83A1-F6EECF244321}">
                      <p14:modId xmlns:p14="http://schemas.microsoft.com/office/powerpoint/2010/main" val="504076632"/>
                    </p:ext>
                  </p:extLst>
                </p:nvPr>
              </p:nvGraphicFramePr>
              <p:xfrm>
                <a:off x="2096089" y="4934808"/>
                <a:ext cx="1018309" cy="1018310"/>
              </p:xfrm>
              <a:graphic>
                <a:graphicData uri="http://schemas.microsoft.com/office/drawing/2017/model3d">
                  <am3d:model3d r:embed="rId2">
                    <am3d:spPr>
                      <a:xfrm>
                        <a:off x="0" y="0"/>
                        <a:ext cx="1018309" cy="101831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81790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0" name="Modello 3D 299" descr="Sfera grigio chiaro">
                  <a:extLst>
                    <a:ext uri="{FF2B5EF4-FFF2-40B4-BE49-F238E27FC236}">
                      <a16:creationId xmlns:a16="http://schemas.microsoft.com/office/drawing/2014/main" id="{FAEBCEE6-392F-49F0-966A-8EE8722491D7}"/>
                    </a:ext>
                  </a:extLst>
                </p:cNvPr>
                <p:cNvPicPr>
                  <a:picLocks noGrp="1" noRot="1" noChangeAspect="1" noMove="1" noResize="1" noEditPoints="1" noAdjustHandles="1" noChangeArrowheads="1" noChangeShapeType="1" noCrop="1"/>
                </p:cNvPicPr>
                <p:nvPr/>
              </p:nvPicPr>
              <p:blipFill>
                <a:blip r:embed="rId5"/>
                <a:stretch>
                  <a:fillRect/>
                </a:stretch>
              </p:blipFill>
              <p:spPr>
                <a:xfrm>
                  <a:off x="2852035" y="4306168"/>
                  <a:ext cx="535045" cy="528371"/>
                </a:xfrm>
                <a:prstGeom prst="rect">
                  <a:avLst/>
                </a:prstGeom>
              </p:spPr>
            </p:pic>
          </mc:Fallback>
        </mc:AlternateContent>
        <p:sp>
          <p:nvSpPr>
            <p:cNvPr id="301" name="CasellaDiTesto 300">
              <a:extLst>
                <a:ext uri="{FF2B5EF4-FFF2-40B4-BE49-F238E27FC236}">
                  <a16:creationId xmlns:a16="http://schemas.microsoft.com/office/drawing/2014/main" id="{4381205A-4E53-4748-B09C-791D4D83F522}"/>
                </a:ext>
              </a:extLst>
            </p:cNvPr>
            <p:cNvSpPr txBox="1"/>
            <p:nvPr/>
          </p:nvSpPr>
          <p:spPr>
            <a:xfrm>
              <a:off x="2278359" y="5060886"/>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302" name="Gruppo 301">
            <a:extLst>
              <a:ext uri="{FF2B5EF4-FFF2-40B4-BE49-F238E27FC236}">
                <a16:creationId xmlns:a16="http://schemas.microsoft.com/office/drawing/2014/main" id="{D3E4DD56-C8E1-4B7B-9C70-C3608DF30A40}"/>
              </a:ext>
            </a:extLst>
          </p:cNvPr>
          <p:cNvGrpSpPr/>
          <p:nvPr/>
        </p:nvGrpSpPr>
        <p:grpSpPr>
          <a:xfrm>
            <a:off x="2418412" y="3116749"/>
            <a:ext cx="474077" cy="468163"/>
            <a:chOff x="6214478" y="3704781"/>
            <a:chExt cx="902273" cy="902272"/>
          </a:xfrm>
        </p:grpSpPr>
        <mc:AlternateContent xmlns:mc="http://schemas.openxmlformats.org/markup-compatibility/2006">
          <mc:Choice xmlns:am3d="http://schemas.microsoft.com/office/drawing/2017/model3d" Requires="am3d">
            <p:graphicFrame>
              <p:nvGraphicFramePr>
                <p:cNvPr id="303" name="Modello 3D 302" descr="Sfera grigio chiaro">
                  <a:extLst>
                    <a:ext uri="{FF2B5EF4-FFF2-40B4-BE49-F238E27FC236}">
                      <a16:creationId xmlns:a16="http://schemas.microsoft.com/office/drawing/2014/main" id="{040E2D25-18FE-4D9C-86A9-A7C4064E8593}"/>
                    </a:ext>
                  </a:extLst>
                </p:cNvPr>
                <p:cNvGraphicFramePr>
                  <a:graphicFrameLocks noChangeAspect="1"/>
                </p:cNvGraphicFramePr>
                <p:nvPr>
                  <p:extLst>
                    <p:ext uri="{D42A27DB-BD31-4B8C-83A1-F6EECF244321}">
                      <p14:modId xmlns:p14="http://schemas.microsoft.com/office/powerpoint/2010/main" val="3811105346"/>
                    </p:ext>
                  </p:extLst>
                </p:nvPr>
              </p:nvGraphicFramePr>
              <p:xfrm>
                <a:off x="6214478" y="3704781"/>
                <a:ext cx="902273" cy="902272"/>
              </p:xfrm>
              <a:graphic>
                <a:graphicData uri="http://schemas.microsoft.com/office/drawing/2017/model3d">
                  <am3d:model3d r:embed="rId2">
                    <am3d:spPr>
                      <a:xfrm>
                        <a:off x="0" y="0"/>
                        <a:ext cx="902273" cy="90227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1242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3" name="Modello 3D 302" descr="Sfera grigio chiaro">
                  <a:extLst>
                    <a:ext uri="{FF2B5EF4-FFF2-40B4-BE49-F238E27FC236}">
                      <a16:creationId xmlns:a16="http://schemas.microsoft.com/office/drawing/2014/main" id="{040E2D25-18FE-4D9C-86A9-A7C4064E8593}"/>
                    </a:ext>
                  </a:extLst>
                </p:cNvPr>
                <p:cNvPicPr>
                  <a:picLocks noGrp="1" noRot="1" noChangeAspect="1" noMove="1" noResize="1" noEditPoints="1" noAdjustHandles="1" noChangeArrowheads="1" noChangeShapeType="1" noCrop="1"/>
                </p:cNvPicPr>
                <p:nvPr/>
              </p:nvPicPr>
              <p:blipFill>
                <a:blip r:embed="rId6"/>
                <a:stretch>
                  <a:fillRect/>
                </a:stretch>
              </p:blipFill>
              <p:spPr>
                <a:xfrm>
                  <a:off x="2418412" y="3116749"/>
                  <a:ext cx="474077" cy="468163"/>
                </a:xfrm>
                <a:prstGeom prst="rect">
                  <a:avLst/>
                </a:prstGeom>
              </p:spPr>
            </p:pic>
          </mc:Fallback>
        </mc:AlternateContent>
        <p:sp>
          <p:nvSpPr>
            <p:cNvPr id="304" name="CasellaDiTesto 303">
              <a:extLst>
                <a:ext uri="{FF2B5EF4-FFF2-40B4-BE49-F238E27FC236}">
                  <a16:creationId xmlns:a16="http://schemas.microsoft.com/office/drawing/2014/main" id="{DD90153D-A7DC-4209-B30A-E6E402879A13}"/>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305" name="Gruppo 304">
            <a:extLst>
              <a:ext uri="{FF2B5EF4-FFF2-40B4-BE49-F238E27FC236}">
                <a16:creationId xmlns:a16="http://schemas.microsoft.com/office/drawing/2014/main" id="{67AA90D1-0C1E-474A-AD04-06BA049BD082}"/>
              </a:ext>
            </a:extLst>
          </p:cNvPr>
          <p:cNvGrpSpPr/>
          <p:nvPr/>
        </p:nvGrpSpPr>
        <p:grpSpPr>
          <a:xfrm>
            <a:off x="766858" y="4306170"/>
            <a:ext cx="473823" cy="467913"/>
            <a:chOff x="1286302" y="3979004"/>
            <a:chExt cx="901789" cy="901790"/>
          </a:xfrm>
        </p:grpSpPr>
        <mc:AlternateContent xmlns:mc="http://schemas.openxmlformats.org/markup-compatibility/2006">
          <mc:Choice xmlns:am3d="http://schemas.microsoft.com/office/drawing/2017/model3d" Requires="am3d">
            <p:graphicFrame>
              <p:nvGraphicFramePr>
                <p:cNvPr id="306" name="Modello 3D 305" descr="Sfera grigio chiaro">
                  <a:extLst>
                    <a:ext uri="{FF2B5EF4-FFF2-40B4-BE49-F238E27FC236}">
                      <a16:creationId xmlns:a16="http://schemas.microsoft.com/office/drawing/2014/main" id="{B563AF1E-9F58-4B2A-9839-A28101C73FE7}"/>
                    </a:ext>
                  </a:extLst>
                </p:cNvPr>
                <p:cNvGraphicFramePr>
                  <a:graphicFrameLocks noChangeAspect="1"/>
                </p:cNvGraphicFramePr>
                <p:nvPr>
                  <p:extLst>
                    <p:ext uri="{D42A27DB-BD31-4B8C-83A1-F6EECF244321}">
                      <p14:modId xmlns:p14="http://schemas.microsoft.com/office/powerpoint/2010/main" val="2190471527"/>
                    </p:ext>
                  </p:extLst>
                </p:nvPr>
              </p:nvGraphicFramePr>
              <p:xfrm>
                <a:off x="1286302" y="3979004"/>
                <a:ext cx="901789" cy="901790"/>
              </p:xfrm>
              <a:graphic>
                <a:graphicData uri="http://schemas.microsoft.com/office/drawing/2017/model3d">
                  <am3d:model3d r:embed="rId2">
                    <am3d:spPr>
                      <a:xfrm>
                        <a:off x="0" y="0"/>
                        <a:ext cx="901789" cy="90179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120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6" name="Modello 3D 305" descr="Sfera grigio chiaro">
                  <a:extLst>
                    <a:ext uri="{FF2B5EF4-FFF2-40B4-BE49-F238E27FC236}">
                      <a16:creationId xmlns:a16="http://schemas.microsoft.com/office/drawing/2014/main" id="{B563AF1E-9F58-4B2A-9839-A28101C73FE7}"/>
                    </a:ext>
                  </a:extLst>
                </p:cNvPr>
                <p:cNvPicPr>
                  <a:picLocks noGrp="1" noRot="1" noChangeAspect="1" noMove="1" noResize="1" noEditPoints="1" noAdjustHandles="1" noChangeArrowheads="1" noChangeShapeType="1" noCrop="1"/>
                </p:cNvPicPr>
                <p:nvPr/>
              </p:nvPicPr>
              <p:blipFill>
                <a:blip r:embed="rId7"/>
                <a:stretch>
                  <a:fillRect/>
                </a:stretch>
              </p:blipFill>
              <p:spPr>
                <a:xfrm>
                  <a:off x="766858" y="4306170"/>
                  <a:ext cx="473823" cy="467913"/>
                </a:xfrm>
                <a:prstGeom prst="rect">
                  <a:avLst/>
                </a:prstGeom>
              </p:spPr>
            </p:pic>
          </mc:Fallback>
        </mc:AlternateContent>
        <p:sp>
          <p:nvSpPr>
            <p:cNvPr id="307" name="CasellaDiTesto 306">
              <a:extLst>
                <a:ext uri="{FF2B5EF4-FFF2-40B4-BE49-F238E27FC236}">
                  <a16:creationId xmlns:a16="http://schemas.microsoft.com/office/drawing/2014/main" id="{E81B241C-32D9-4245-9912-D707E34EF4A4}"/>
                </a:ext>
              </a:extLst>
            </p:cNvPr>
            <p:cNvSpPr txBox="1"/>
            <p:nvPr/>
          </p:nvSpPr>
          <p:spPr>
            <a:xfrm>
              <a:off x="1452556" y="4095056"/>
              <a:ext cx="496578" cy="593166"/>
            </a:xfrm>
            <a:prstGeom prst="rect">
              <a:avLst/>
            </a:prstGeom>
            <a:noFill/>
          </p:spPr>
          <p:txBody>
            <a:bodyPr wrap="square" rtlCol="0">
              <a:spAutoFit/>
            </a:bodyPr>
            <a:lstStyle/>
            <a:p>
              <a:pPr algn="ctr"/>
              <a:r>
                <a:rPr lang="en-US" sz="1400" b="1" dirty="0">
                  <a:latin typeface="LEMON MILK" panose="00000500000000000000" pitchFamily="50" charset="0"/>
                </a:rPr>
                <a:t>H</a:t>
              </a:r>
            </a:p>
          </p:txBody>
        </p:sp>
      </p:grpSp>
      <p:grpSp>
        <p:nvGrpSpPr>
          <p:cNvPr id="308" name="Gruppo 307">
            <a:extLst>
              <a:ext uri="{FF2B5EF4-FFF2-40B4-BE49-F238E27FC236}">
                <a16:creationId xmlns:a16="http://schemas.microsoft.com/office/drawing/2014/main" id="{ADD98BD4-6961-4A40-B658-C4C9FDE541BB}"/>
              </a:ext>
            </a:extLst>
          </p:cNvPr>
          <p:cNvGrpSpPr/>
          <p:nvPr/>
        </p:nvGrpSpPr>
        <p:grpSpPr>
          <a:xfrm>
            <a:off x="1830167" y="2663374"/>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309" name="Modello 3D 308" descr="Sfera grigio chiaro">
                  <a:extLst>
                    <a:ext uri="{FF2B5EF4-FFF2-40B4-BE49-F238E27FC236}">
                      <a16:creationId xmlns:a16="http://schemas.microsoft.com/office/drawing/2014/main" id="{3AF4648E-7257-4B99-93D2-20CF7BFEDAC4}"/>
                    </a:ext>
                  </a:extLst>
                </p:cNvPr>
                <p:cNvGraphicFramePr>
                  <a:graphicFrameLocks noChangeAspect="1"/>
                </p:cNvGraphicFramePr>
                <p:nvPr>
                  <p:extLst>
                    <p:ext uri="{D42A27DB-BD31-4B8C-83A1-F6EECF244321}">
                      <p14:modId xmlns:p14="http://schemas.microsoft.com/office/powerpoint/2010/main" val="2719272535"/>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9" name="Modello 3D 308" descr="Sfera grigio chiaro">
                  <a:extLst>
                    <a:ext uri="{FF2B5EF4-FFF2-40B4-BE49-F238E27FC236}">
                      <a16:creationId xmlns:a16="http://schemas.microsoft.com/office/drawing/2014/main" id="{3AF4648E-7257-4B99-93D2-20CF7BFEDAC4}"/>
                    </a:ext>
                  </a:extLst>
                </p:cNvPr>
                <p:cNvPicPr>
                  <a:picLocks noGrp="1" noRot="1" noChangeAspect="1" noMove="1" noResize="1" noEditPoints="1" noAdjustHandles="1" noChangeArrowheads="1" noChangeShapeType="1" noCrop="1"/>
                </p:cNvPicPr>
                <p:nvPr/>
              </p:nvPicPr>
              <p:blipFill>
                <a:blip r:embed="rId8"/>
                <a:stretch>
                  <a:fillRect/>
                </a:stretch>
              </p:blipFill>
              <p:spPr>
                <a:xfrm>
                  <a:off x="1830167" y="2663374"/>
                  <a:ext cx="459103" cy="453376"/>
                </a:xfrm>
                <a:prstGeom prst="rect">
                  <a:avLst/>
                </a:prstGeom>
              </p:spPr>
            </p:pic>
          </mc:Fallback>
        </mc:AlternateContent>
        <p:sp>
          <p:nvSpPr>
            <p:cNvPr id="310" name="CasellaDiTesto 309">
              <a:extLst>
                <a:ext uri="{FF2B5EF4-FFF2-40B4-BE49-F238E27FC236}">
                  <a16:creationId xmlns:a16="http://schemas.microsoft.com/office/drawing/2014/main" id="{8AD49E28-29CF-45D3-9941-1415E2CA96EC}"/>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311" name="Gruppo 310">
            <a:extLst>
              <a:ext uri="{FF2B5EF4-FFF2-40B4-BE49-F238E27FC236}">
                <a16:creationId xmlns:a16="http://schemas.microsoft.com/office/drawing/2014/main" id="{6F3A7703-CED9-4FC9-AD8A-DBA1D81A5B10}"/>
              </a:ext>
            </a:extLst>
          </p:cNvPr>
          <p:cNvGrpSpPr/>
          <p:nvPr/>
        </p:nvGrpSpPr>
        <p:grpSpPr>
          <a:xfrm>
            <a:off x="555085" y="2676972"/>
            <a:ext cx="473823" cy="467912"/>
            <a:chOff x="8758910" y="3645182"/>
            <a:chExt cx="899015" cy="901791"/>
          </a:xfrm>
        </p:grpSpPr>
        <mc:AlternateContent xmlns:mc="http://schemas.openxmlformats.org/markup-compatibility/2006">
          <mc:Choice xmlns:am3d="http://schemas.microsoft.com/office/drawing/2017/model3d" Requires="am3d">
            <p:graphicFrame>
              <p:nvGraphicFramePr>
                <p:cNvPr id="312" name="Modello 3D 311" descr="Sfera grigio chiaro">
                  <a:extLst>
                    <a:ext uri="{FF2B5EF4-FFF2-40B4-BE49-F238E27FC236}">
                      <a16:creationId xmlns:a16="http://schemas.microsoft.com/office/drawing/2014/main" id="{F39344D4-D09B-468A-87FD-7C88EFDAD685}"/>
                    </a:ext>
                  </a:extLst>
                </p:cNvPr>
                <p:cNvGraphicFramePr>
                  <a:graphicFrameLocks noChangeAspect="1"/>
                </p:cNvGraphicFramePr>
                <p:nvPr>
                  <p:extLst>
                    <p:ext uri="{D42A27DB-BD31-4B8C-83A1-F6EECF244321}">
                      <p14:modId xmlns:p14="http://schemas.microsoft.com/office/powerpoint/2010/main" val="3945467494"/>
                    </p:ext>
                  </p:extLst>
                </p:nvPr>
              </p:nvGraphicFramePr>
              <p:xfrm>
                <a:off x="8758910" y="3645182"/>
                <a:ext cx="899015" cy="901791"/>
              </p:xfrm>
              <a:graphic>
                <a:graphicData uri="http://schemas.microsoft.com/office/drawing/2017/model3d">
                  <am3d:model3d r:embed="rId2">
                    <am3d:spPr>
                      <a:xfrm>
                        <a:off x="0" y="0"/>
                        <a:ext cx="899015" cy="90179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9"/>
                    </am3d:raster>
                    <am3d:objViewport viewportSz="7120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2" name="Modello 3D 311" descr="Sfera grigio chiaro">
                  <a:extLst>
                    <a:ext uri="{FF2B5EF4-FFF2-40B4-BE49-F238E27FC236}">
                      <a16:creationId xmlns:a16="http://schemas.microsoft.com/office/drawing/2014/main" id="{F39344D4-D09B-468A-87FD-7C88EFDAD685}"/>
                    </a:ext>
                  </a:extLst>
                </p:cNvPr>
                <p:cNvPicPr>
                  <a:picLocks noGrp="1" noRot="1" noChangeAspect="1" noMove="1" noResize="1" noEditPoints="1" noAdjustHandles="1" noChangeArrowheads="1" noChangeShapeType="1" noCrop="1"/>
                </p:cNvPicPr>
                <p:nvPr/>
              </p:nvPicPr>
              <p:blipFill>
                <a:blip r:embed="rId9"/>
                <a:stretch>
                  <a:fillRect/>
                </a:stretch>
              </p:blipFill>
              <p:spPr>
                <a:xfrm>
                  <a:off x="555085" y="2676972"/>
                  <a:ext cx="473823" cy="467912"/>
                </a:xfrm>
                <a:prstGeom prst="rect">
                  <a:avLst/>
                </a:prstGeom>
              </p:spPr>
            </p:pic>
          </mc:Fallback>
        </mc:AlternateContent>
        <p:sp>
          <p:nvSpPr>
            <p:cNvPr id="313" name="CasellaDiTesto 312">
              <a:extLst>
                <a:ext uri="{FF2B5EF4-FFF2-40B4-BE49-F238E27FC236}">
                  <a16:creationId xmlns:a16="http://schemas.microsoft.com/office/drawing/2014/main" id="{1576415A-817A-4BE7-A58F-E687EDAD5B29}"/>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314" name="Gruppo 313">
            <a:extLst>
              <a:ext uri="{FF2B5EF4-FFF2-40B4-BE49-F238E27FC236}">
                <a16:creationId xmlns:a16="http://schemas.microsoft.com/office/drawing/2014/main" id="{A12460EF-C0C2-4753-8C4B-B70574C6464F}"/>
              </a:ext>
            </a:extLst>
          </p:cNvPr>
          <p:cNvGrpSpPr/>
          <p:nvPr/>
        </p:nvGrpSpPr>
        <p:grpSpPr>
          <a:xfrm>
            <a:off x="1245722" y="3105033"/>
            <a:ext cx="535661" cy="528979"/>
            <a:chOff x="7328689" y="2428043"/>
            <a:chExt cx="1019480" cy="1019480"/>
          </a:xfrm>
        </p:grpSpPr>
        <mc:AlternateContent xmlns:mc="http://schemas.openxmlformats.org/markup-compatibility/2006">
          <mc:Choice xmlns:am3d="http://schemas.microsoft.com/office/drawing/2017/model3d" Requires="am3d">
            <p:graphicFrame>
              <p:nvGraphicFramePr>
                <p:cNvPr id="315" name="Modello 3D 314" descr="Sfera grigio chiaro">
                  <a:extLst>
                    <a:ext uri="{FF2B5EF4-FFF2-40B4-BE49-F238E27FC236}">
                      <a16:creationId xmlns:a16="http://schemas.microsoft.com/office/drawing/2014/main" id="{88CE79D5-39F3-4D8B-B9EE-E99BA1284F8D}"/>
                    </a:ext>
                  </a:extLst>
                </p:cNvPr>
                <p:cNvGraphicFramePr>
                  <a:graphicFrameLocks noChangeAspect="1"/>
                </p:cNvGraphicFramePr>
                <p:nvPr>
                  <p:extLst>
                    <p:ext uri="{D42A27DB-BD31-4B8C-83A1-F6EECF244321}">
                      <p14:modId xmlns:p14="http://schemas.microsoft.com/office/powerpoint/2010/main" val="3678683284"/>
                    </p:ext>
                  </p:extLst>
                </p:nvPr>
              </p:nvGraphicFramePr>
              <p:xfrm>
                <a:off x="7328689" y="2428043"/>
                <a:ext cx="1019480" cy="1019480"/>
              </p:xfrm>
              <a:graphic>
                <a:graphicData uri="http://schemas.microsoft.com/office/drawing/2017/model3d">
                  <am3d:model3d r:embed="rId2">
                    <am3d:spPr>
                      <a:xfrm>
                        <a:off x="0" y="0"/>
                        <a:ext cx="1019480" cy="101948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10"/>
                    </am3d:raster>
                    <am3d:objViewport viewportSz="818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5" name="Modello 3D 314" descr="Sfera grigio chiaro">
                  <a:extLst>
                    <a:ext uri="{FF2B5EF4-FFF2-40B4-BE49-F238E27FC236}">
                      <a16:creationId xmlns:a16="http://schemas.microsoft.com/office/drawing/2014/main" id="{88CE79D5-39F3-4D8B-B9EE-E99BA1284F8D}"/>
                    </a:ext>
                  </a:extLst>
                </p:cNvPr>
                <p:cNvPicPr>
                  <a:picLocks noGrp="1" noRot="1" noChangeAspect="1" noMove="1" noResize="1" noEditPoints="1" noAdjustHandles="1" noChangeArrowheads="1" noChangeShapeType="1" noCrop="1"/>
                </p:cNvPicPr>
                <p:nvPr/>
              </p:nvPicPr>
              <p:blipFill>
                <a:blip r:embed="rId10"/>
                <a:stretch>
                  <a:fillRect/>
                </a:stretch>
              </p:blipFill>
              <p:spPr>
                <a:xfrm>
                  <a:off x="1245722" y="3105033"/>
                  <a:ext cx="535661" cy="528979"/>
                </a:xfrm>
                <a:prstGeom prst="rect">
                  <a:avLst/>
                </a:prstGeom>
              </p:spPr>
            </p:pic>
          </mc:Fallback>
        </mc:AlternateContent>
        <p:sp>
          <p:nvSpPr>
            <p:cNvPr id="316" name="CasellaDiTesto 315">
              <a:extLst>
                <a:ext uri="{FF2B5EF4-FFF2-40B4-BE49-F238E27FC236}">
                  <a16:creationId xmlns:a16="http://schemas.microsoft.com/office/drawing/2014/main" id="{382FC5F9-928B-419F-A1C0-B05CF3278521}"/>
                </a:ext>
              </a:extLst>
            </p:cNvPr>
            <p:cNvSpPr txBox="1"/>
            <p:nvPr/>
          </p:nvSpPr>
          <p:spPr>
            <a:xfrm>
              <a:off x="7461305" y="2597748"/>
              <a:ext cx="496578" cy="593166"/>
            </a:xfrm>
            <a:prstGeom prst="rect">
              <a:avLst/>
            </a:prstGeom>
            <a:noFill/>
          </p:spPr>
          <p:txBody>
            <a:bodyPr wrap="square" rtlCol="0">
              <a:spAutoFit/>
            </a:bodyPr>
            <a:lstStyle/>
            <a:p>
              <a:pPr algn="ctr"/>
              <a:r>
                <a:rPr lang="en-US" sz="1400" b="1" dirty="0">
                  <a:latin typeface="LEMON MILK" panose="00000500000000000000" pitchFamily="50" charset="0"/>
                </a:rPr>
                <a:t>g</a:t>
              </a:r>
              <a:endParaRPr lang="it-IT" sz="1400" b="1" dirty="0">
                <a:latin typeface="LEMON MILK" panose="00000500000000000000" pitchFamily="50" charset="0"/>
              </a:endParaRPr>
            </a:p>
          </p:txBody>
        </p:sp>
      </p:grpSp>
      <p:cxnSp>
        <p:nvCxnSpPr>
          <p:cNvPr id="317" name="Connettore diritto 316">
            <a:extLst>
              <a:ext uri="{FF2B5EF4-FFF2-40B4-BE49-F238E27FC236}">
                <a16:creationId xmlns:a16="http://schemas.microsoft.com/office/drawing/2014/main" id="{CAE67F90-9D4B-4EB6-A09B-0DE78D35AA0D}"/>
              </a:ext>
            </a:extLst>
          </p:cNvPr>
          <p:cNvCxnSpPr>
            <a:cxnSpLocks/>
            <a:stCxn id="303" idx="1"/>
            <a:endCxn id="309" idx="2"/>
          </p:cNvCxnSpPr>
          <p:nvPr/>
        </p:nvCxnSpPr>
        <p:spPr>
          <a:xfrm flipH="1" flipV="1">
            <a:off x="2059719" y="3116750"/>
            <a:ext cx="358693" cy="234081"/>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18" name="Connettore diritto 317">
            <a:extLst>
              <a:ext uri="{FF2B5EF4-FFF2-40B4-BE49-F238E27FC236}">
                <a16:creationId xmlns:a16="http://schemas.microsoft.com/office/drawing/2014/main" id="{33BE6373-8B1E-462D-8C0C-36DF54C44A7A}"/>
              </a:ext>
            </a:extLst>
          </p:cNvPr>
          <p:cNvCxnSpPr>
            <a:cxnSpLocks/>
            <a:stCxn id="309" idx="2"/>
            <a:endCxn id="315" idx="3"/>
          </p:cNvCxnSpPr>
          <p:nvPr/>
        </p:nvCxnSpPr>
        <p:spPr>
          <a:xfrm flipH="1">
            <a:off x="1781383" y="3116750"/>
            <a:ext cx="278336" cy="2527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9" name="Connettore diritto 318">
            <a:extLst>
              <a:ext uri="{FF2B5EF4-FFF2-40B4-BE49-F238E27FC236}">
                <a16:creationId xmlns:a16="http://schemas.microsoft.com/office/drawing/2014/main" id="{31AA252E-6266-44C6-817C-3BE2EE48D676}"/>
              </a:ext>
            </a:extLst>
          </p:cNvPr>
          <p:cNvCxnSpPr>
            <a:cxnSpLocks/>
            <a:stCxn id="312" idx="2"/>
            <a:endCxn id="315" idx="1"/>
          </p:cNvCxnSpPr>
          <p:nvPr/>
        </p:nvCxnSpPr>
        <p:spPr>
          <a:xfrm>
            <a:off x="791997" y="3144884"/>
            <a:ext cx="453725" cy="2246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0" name="Connettore diritto 319">
            <a:extLst>
              <a:ext uri="{FF2B5EF4-FFF2-40B4-BE49-F238E27FC236}">
                <a16:creationId xmlns:a16="http://schemas.microsoft.com/office/drawing/2014/main" id="{B376E741-AE13-46FE-ABA6-420BAE26F036}"/>
              </a:ext>
            </a:extLst>
          </p:cNvPr>
          <p:cNvCxnSpPr>
            <a:cxnSpLocks/>
            <a:stCxn id="312" idx="2"/>
            <a:endCxn id="306" idx="0"/>
          </p:cNvCxnSpPr>
          <p:nvPr/>
        </p:nvCxnSpPr>
        <p:spPr>
          <a:xfrm>
            <a:off x="791997" y="3144884"/>
            <a:ext cx="211773" cy="116128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21" name="Connettore diritto 320">
            <a:extLst>
              <a:ext uri="{FF2B5EF4-FFF2-40B4-BE49-F238E27FC236}">
                <a16:creationId xmlns:a16="http://schemas.microsoft.com/office/drawing/2014/main" id="{CA6054EE-10FE-4144-A7D2-5E776C64E448}"/>
              </a:ext>
            </a:extLst>
          </p:cNvPr>
          <p:cNvCxnSpPr>
            <a:cxnSpLocks/>
            <a:stCxn id="312" idx="2"/>
            <a:endCxn id="297" idx="1"/>
          </p:cNvCxnSpPr>
          <p:nvPr/>
        </p:nvCxnSpPr>
        <p:spPr>
          <a:xfrm>
            <a:off x="791997" y="3144884"/>
            <a:ext cx="1037353" cy="14280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22" name="Modello 3D 321" descr="Monitor per PC">
                <a:extLst>
                  <a:ext uri="{FF2B5EF4-FFF2-40B4-BE49-F238E27FC236}">
                    <a16:creationId xmlns:a16="http://schemas.microsoft.com/office/drawing/2014/main" id="{6FE7E853-92C6-4FEE-82CD-1E51378C447A}"/>
                  </a:ext>
                </a:extLst>
              </p:cNvPr>
              <p:cNvGraphicFramePr>
                <a:graphicFrameLocks noChangeAspect="1"/>
              </p:cNvGraphicFramePr>
              <p:nvPr>
                <p:extLst>
                  <p:ext uri="{D42A27DB-BD31-4B8C-83A1-F6EECF244321}">
                    <p14:modId xmlns:p14="http://schemas.microsoft.com/office/powerpoint/2010/main" val="1303429118"/>
                  </p:ext>
                </p:extLst>
              </p:nvPr>
            </p:nvGraphicFramePr>
            <p:xfrm>
              <a:off x="1603118" y="1761721"/>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2" name="Modello 3D 321" descr="Monitor per PC">
                <a:extLst>
                  <a:ext uri="{FF2B5EF4-FFF2-40B4-BE49-F238E27FC236}">
                    <a16:creationId xmlns:a16="http://schemas.microsoft.com/office/drawing/2014/main" id="{6FE7E853-92C6-4FEE-82CD-1E51378C447A}"/>
                  </a:ext>
                </a:extLst>
              </p:cNvPr>
              <p:cNvPicPr>
                <a:picLocks noGrp="1" noRot="1" noChangeAspect="1" noMove="1" noResize="1" noEditPoints="1" noAdjustHandles="1" noChangeArrowheads="1" noChangeShapeType="1" noCrop="1"/>
              </p:cNvPicPr>
              <p:nvPr/>
            </p:nvPicPr>
            <p:blipFill>
              <a:blip r:embed="rId12"/>
              <a:stretch>
                <a:fillRect/>
              </a:stretch>
            </p:blipFill>
            <p:spPr>
              <a:xfrm>
                <a:off x="1603118" y="1761721"/>
                <a:ext cx="844971" cy="621363"/>
              </a:xfrm>
              <a:prstGeom prst="rect">
                <a:avLst/>
              </a:prstGeom>
            </p:spPr>
          </p:pic>
        </mc:Fallback>
      </mc:AlternateContent>
      <p:cxnSp>
        <p:nvCxnSpPr>
          <p:cNvPr id="323" name="Connettore diritto 322">
            <a:extLst>
              <a:ext uri="{FF2B5EF4-FFF2-40B4-BE49-F238E27FC236}">
                <a16:creationId xmlns:a16="http://schemas.microsoft.com/office/drawing/2014/main" id="{40A855E7-C381-4C23-866E-4A47B544179F}"/>
              </a:ext>
            </a:extLst>
          </p:cNvPr>
          <p:cNvCxnSpPr>
            <a:cxnSpLocks/>
            <a:stCxn id="312" idx="0"/>
            <a:endCxn id="322" idx="1"/>
          </p:cNvCxnSpPr>
          <p:nvPr/>
        </p:nvCxnSpPr>
        <p:spPr>
          <a:xfrm flipV="1">
            <a:off x="791997" y="2072403"/>
            <a:ext cx="811121" cy="604569"/>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24" name="Connettore diritto 323">
            <a:extLst>
              <a:ext uri="{FF2B5EF4-FFF2-40B4-BE49-F238E27FC236}">
                <a16:creationId xmlns:a16="http://schemas.microsoft.com/office/drawing/2014/main" id="{43266F40-089D-4716-ABD6-B9DC0C1D114C}"/>
              </a:ext>
            </a:extLst>
          </p:cNvPr>
          <p:cNvCxnSpPr>
            <a:cxnSpLocks/>
            <a:stCxn id="294" idx="0"/>
            <a:endCxn id="322" idx="3"/>
          </p:cNvCxnSpPr>
          <p:nvPr/>
        </p:nvCxnSpPr>
        <p:spPr>
          <a:xfrm flipH="1" flipV="1">
            <a:off x="2448089" y="2072403"/>
            <a:ext cx="774922" cy="5585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5" name="Connettore diritto 324">
            <a:extLst>
              <a:ext uri="{FF2B5EF4-FFF2-40B4-BE49-F238E27FC236}">
                <a16:creationId xmlns:a16="http://schemas.microsoft.com/office/drawing/2014/main" id="{ADB3DF44-E126-4A05-9CAD-F33F7787E9CF}"/>
              </a:ext>
            </a:extLst>
          </p:cNvPr>
          <p:cNvCxnSpPr>
            <a:cxnSpLocks/>
            <a:stCxn id="297" idx="3"/>
            <a:endCxn id="294" idx="2"/>
          </p:cNvCxnSpPr>
          <p:nvPr/>
        </p:nvCxnSpPr>
        <p:spPr>
          <a:xfrm flipV="1">
            <a:off x="2359126" y="3193087"/>
            <a:ext cx="863885" cy="1379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6" name="Connettore diritto 325">
            <a:extLst>
              <a:ext uri="{FF2B5EF4-FFF2-40B4-BE49-F238E27FC236}">
                <a16:creationId xmlns:a16="http://schemas.microsoft.com/office/drawing/2014/main" id="{42E22427-D87F-453B-B846-12752D9CF651}"/>
              </a:ext>
            </a:extLst>
          </p:cNvPr>
          <p:cNvCxnSpPr>
            <a:cxnSpLocks/>
            <a:stCxn id="300" idx="0"/>
            <a:endCxn id="294" idx="2"/>
          </p:cNvCxnSpPr>
          <p:nvPr/>
        </p:nvCxnSpPr>
        <p:spPr>
          <a:xfrm flipV="1">
            <a:off x="3119558" y="3193087"/>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27" name="Modello 3D 326" descr="Monitor per PC">
                <a:extLst>
                  <a:ext uri="{FF2B5EF4-FFF2-40B4-BE49-F238E27FC236}">
                    <a16:creationId xmlns:a16="http://schemas.microsoft.com/office/drawing/2014/main" id="{96D4E97D-E9AF-4021-81DB-296536E7120D}"/>
                  </a:ext>
                </a:extLst>
              </p:cNvPr>
              <p:cNvGraphicFramePr>
                <a:graphicFrameLocks noChangeAspect="1"/>
              </p:cNvGraphicFramePr>
              <p:nvPr>
                <p:extLst>
                  <p:ext uri="{D42A27DB-BD31-4B8C-83A1-F6EECF244321}">
                    <p14:modId xmlns:p14="http://schemas.microsoft.com/office/powerpoint/2010/main" val="1995124755"/>
                  </p:ext>
                </p:extLst>
              </p:nvPr>
            </p:nvGraphicFramePr>
            <p:xfrm>
              <a:off x="1618972" y="5245113"/>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27" name="Modello 3D 326" descr="Monitor per PC">
                <a:extLst>
                  <a:ext uri="{FF2B5EF4-FFF2-40B4-BE49-F238E27FC236}">
                    <a16:creationId xmlns:a16="http://schemas.microsoft.com/office/drawing/2014/main" id="{96D4E97D-E9AF-4021-81DB-296536E7120D}"/>
                  </a:ext>
                </a:extLst>
              </p:cNvPr>
              <p:cNvPicPr>
                <a:picLocks noGrp="1" noRot="1" noChangeAspect="1" noMove="1" noResize="1" noEditPoints="1" noAdjustHandles="1" noChangeArrowheads="1" noChangeShapeType="1" noCrop="1"/>
              </p:cNvPicPr>
              <p:nvPr/>
            </p:nvPicPr>
            <p:blipFill>
              <a:blip r:embed="rId12"/>
              <a:stretch>
                <a:fillRect/>
              </a:stretch>
            </p:blipFill>
            <p:spPr>
              <a:xfrm>
                <a:off x="1618972" y="5245113"/>
                <a:ext cx="844971" cy="621363"/>
              </a:xfrm>
              <a:prstGeom prst="rect">
                <a:avLst/>
              </a:prstGeom>
            </p:spPr>
          </p:pic>
        </mc:Fallback>
      </mc:AlternateContent>
      <p:cxnSp>
        <p:nvCxnSpPr>
          <p:cNvPr id="328" name="Connettore diritto 327">
            <a:extLst>
              <a:ext uri="{FF2B5EF4-FFF2-40B4-BE49-F238E27FC236}">
                <a16:creationId xmlns:a16="http://schemas.microsoft.com/office/drawing/2014/main" id="{DCB622B2-D776-4217-B59C-78A0BBE03018}"/>
              </a:ext>
            </a:extLst>
          </p:cNvPr>
          <p:cNvCxnSpPr>
            <a:cxnSpLocks/>
            <a:stCxn id="307" idx="2"/>
            <a:endCxn id="327" idx="1"/>
          </p:cNvCxnSpPr>
          <p:nvPr/>
        </p:nvCxnSpPr>
        <p:spPr>
          <a:xfrm>
            <a:off x="984670" y="4674163"/>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9" name="Connettore diritto 328">
            <a:extLst>
              <a:ext uri="{FF2B5EF4-FFF2-40B4-BE49-F238E27FC236}">
                <a16:creationId xmlns:a16="http://schemas.microsoft.com/office/drawing/2014/main" id="{72A850BA-4276-4A28-8DB5-F100E5218342}"/>
              </a:ext>
            </a:extLst>
          </p:cNvPr>
          <p:cNvCxnSpPr>
            <a:cxnSpLocks/>
            <a:stCxn id="327" idx="3"/>
            <a:endCxn id="300" idx="2"/>
          </p:cNvCxnSpPr>
          <p:nvPr/>
        </p:nvCxnSpPr>
        <p:spPr>
          <a:xfrm flipV="1">
            <a:off x="2463943" y="4834539"/>
            <a:ext cx="655615" cy="7212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0" name="Connettore diritto 329">
            <a:extLst>
              <a:ext uri="{FF2B5EF4-FFF2-40B4-BE49-F238E27FC236}">
                <a16:creationId xmlns:a16="http://schemas.microsoft.com/office/drawing/2014/main" id="{0FC5B851-9F7A-4B36-9233-875DF4BB13A1}"/>
              </a:ext>
            </a:extLst>
          </p:cNvPr>
          <p:cNvCxnSpPr>
            <a:cxnSpLocks/>
            <a:stCxn id="303" idx="3"/>
            <a:endCxn id="294" idx="2"/>
          </p:cNvCxnSpPr>
          <p:nvPr/>
        </p:nvCxnSpPr>
        <p:spPr>
          <a:xfrm flipV="1">
            <a:off x="2892489" y="3193087"/>
            <a:ext cx="330522" cy="1577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1" name="Connettore diritto 330">
            <a:extLst>
              <a:ext uri="{FF2B5EF4-FFF2-40B4-BE49-F238E27FC236}">
                <a16:creationId xmlns:a16="http://schemas.microsoft.com/office/drawing/2014/main" id="{0DDCEA7E-0D82-44D5-81DF-5DAD42CD898D}"/>
              </a:ext>
            </a:extLst>
          </p:cNvPr>
          <p:cNvCxnSpPr>
            <a:cxnSpLocks/>
            <a:stCxn id="322" idx="2"/>
            <a:endCxn id="309" idx="0"/>
          </p:cNvCxnSpPr>
          <p:nvPr/>
        </p:nvCxnSpPr>
        <p:spPr>
          <a:xfrm>
            <a:off x="2025604" y="2383084"/>
            <a:ext cx="34115" cy="2802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784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8" cy="7022123"/>
          </a:xfrm>
          <a:prstGeom prst="rect">
            <a:avLst/>
          </a:prstGeom>
          <a:solidFill>
            <a:schemeClr val="bg2">
              <a:lumMod val="2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0" name="Rettangolo 19">
            <a:extLst>
              <a:ext uri="{FF2B5EF4-FFF2-40B4-BE49-F238E27FC236}">
                <a16:creationId xmlns:a16="http://schemas.microsoft.com/office/drawing/2014/main" id="{B09536D3-4D96-425D-AFA9-C39504FD98D0}"/>
              </a:ext>
            </a:extLst>
          </p:cNvPr>
          <p:cNvSpPr/>
          <p:nvPr/>
        </p:nvSpPr>
        <p:spPr>
          <a:xfrm>
            <a:off x="12526514" y="61469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11843467" y="48723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sp>
        <p:nvSpPr>
          <p:cNvPr id="149" name="CasellaDiTesto 148">
            <a:extLst>
              <a:ext uri="{FF2B5EF4-FFF2-40B4-BE49-F238E27FC236}">
                <a16:creationId xmlns:a16="http://schemas.microsoft.com/office/drawing/2014/main" id="{C83B8CD6-D3C3-4074-B049-9D65904D7C08}"/>
              </a:ext>
            </a:extLst>
          </p:cNvPr>
          <p:cNvSpPr txBox="1"/>
          <p:nvPr/>
        </p:nvSpPr>
        <p:spPr>
          <a:xfrm>
            <a:off x="10181983" y="1554330"/>
            <a:ext cx="269200" cy="369332"/>
          </a:xfrm>
          <a:prstGeom prst="rect">
            <a:avLst/>
          </a:prstGeom>
          <a:noFill/>
        </p:spPr>
        <p:txBody>
          <a:bodyPr wrap="square" rtlCol="0">
            <a:spAutoFit/>
          </a:bodyPr>
          <a:lstStyle/>
          <a:p>
            <a:r>
              <a:rPr lang="en-US" dirty="0"/>
              <a:t>7</a:t>
            </a:r>
            <a:endParaRPr lang="it-IT" dirty="0"/>
          </a:p>
        </p:txBody>
      </p:sp>
      <p:sp>
        <p:nvSpPr>
          <p:cNvPr id="152" name="CasellaDiTesto 151">
            <a:extLst>
              <a:ext uri="{FF2B5EF4-FFF2-40B4-BE49-F238E27FC236}">
                <a16:creationId xmlns:a16="http://schemas.microsoft.com/office/drawing/2014/main" id="{9F074946-BE61-420E-AE9E-770621D637B0}"/>
              </a:ext>
            </a:extLst>
          </p:cNvPr>
          <p:cNvSpPr txBox="1"/>
          <p:nvPr/>
        </p:nvSpPr>
        <p:spPr>
          <a:xfrm>
            <a:off x="8357306" y="1587314"/>
            <a:ext cx="269200" cy="369332"/>
          </a:xfrm>
          <a:prstGeom prst="rect">
            <a:avLst/>
          </a:prstGeom>
          <a:noFill/>
        </p:spPr>
        <p:txBody>
          <a:bodyPr wrap="square" rtlCol="0">
            <a:spAutoFit/>
          </a:bodyPr>
          <a:lstStyle/>
          <a:p>
            <a:r>
              <a:rPr lang="en-US" dirty="0"/>
              <a:t>8</a:t>
            </a:r>
            <a:endParaRPr lang="it-IT" dirty="0"/>
          </a:p>
        </p:txBody>
      </p:sp>
      <p:sp>
        <p:nvSpPr>
          <p:cNvPr id="153" name="CasellaDiTesto 152">
            <a:extLst>
              <a:ext uri="{FF2B5EF4-FFF2-40B4-BE49-F238E27FC236}">
                <a16:creationId xmlns:a16="http://schemas.microsoft.com/office/drawing/2014/main" id="{C876E847-63F6-463C-822E-5F7A884EB2E9}"/>
              </a:ext>
            </a:extLst>
          </p:cNvPr>
          <p:cNvSpPr txBox="1"/>
          <p:nvPr/>
        </p:nvSpPr>
        <p:spPr>
          <a:xfrm>
            <a:off x="9014927" y="2038129"/>
            <a:ext cx="269200" cy="369332"/>
          </a:xfrm>
          <a:prstGeom prst="rect">
            <a:avLst/>
          </a:prstGeom>
          <a:noFill/>
        </p:spPr>
        <p:txBody>
          <a:bodyPr wrap="square" rtlCol="0">
            <a:spAutoFit/>
          </a:bodyPr>
          <a:lstStyle/>
          <a:p>
            <a:r>
              <a:rPr lang="en-US" dirty="0"/>
              <a:t>3</a:t>
            </a:r>
            <a:endParaRPr lang="it-IT" dirty="0"/>
          </a:p>
        </p:txBody>
      </p:sp>
      <p:sp>
        <p:nvSpPr>
          <p:cNvPr id="154" name="CasellaDiTesto 153">
            <a:extLst>
              <a:ext uri="{FF2B5EF4-FFF2-40B4-BE49-F238E27FC236}">
                <a16:creationId xmlns:a16="http://schemas.microsoft.com/office/drawing/2014/main" id="{2F86EE8A-E67D-4D47-AE61-674128639F8B}"/>
              </a:ext>
            </a:extLst>
          </p:cNvPr>
          <p:cNvSpPr txBox="1"/>
          <p:nvPr/>
        </p:nvSpPr>
        <p:spPr>
          <a:xfrm>
            <a:off x="9630209" y="2922347"/>
            <a:ext cx="269200" cy="369332"/>
          </a:xfrm>
          <a:prstGeom prst="rect">
            <a:avLst/>
          </a:prstGeom>
          <a:noFill/>
        </p:spPr>
        <p:txBody>
          <a:bodyPr wrap="square" rtlCol="0">
            <a:spAutoFit/>
          </a:bodyPr>
          <a:lstStyle/>
          <a:p>
            <a:r>
              <a:rPr lang="en-US" dirty="0"/>
              <a:t>2</a:t>
            </a:r>
            <a:endParaRPr lang="it-IT" dirty="0"/>
          </a:p>
        </p:txBody>
      </p:sp>
      <p:sp>
        <p:nvSpPr>
          <p:cNvPr id="155" name="CasellaDiTesto 154">
            <a:extLst>
              <a:ext uri="{FF2B5EF4-FFF2-40B4-BE49-F238E27FC236}">
                <a16:creationId xmlns:a16="http://schemas.microsoft.com/office/drawing/2014/main" id="{4C5A428F-84D5-484B-A1B1-29A3515E6C9B}"/>
              </a:ext>
            </a:extLst>
          </p:cNvPr>
          <p:cNvSpPr txBox="1"/>
          <p:nvPr/>
        </p:nvSpPr>
        <p:spPr>
          <a:xfrm>
            <a:off x="10194897" y="2903367"/>
            <a:ext cx="269200" cy="369332"/>
          </a:xfrm>
          <a:prstGeom prst="rect">
            <a:avLst/>
          </a:prstGeom>
          <a:noFill/>
        </p:spPr>
        <p:txBody>
          <a:bodyPr wrap="square" rtlCol="0">
            <a:spAutoFit/>
          </a:bodyPr>
          <a:lstStyle/>
          <a:p>
            <a:r>
              <a:rPr lang="en-US" dirty="0"/>
              <a:t>2</a:t>
            </a:r>
            <a:endParaRPr lang="it-IT" dirty="0"/>
          </a:p>
        </p:txBody>
      </p:sp>
      <p:sp>
        <p:nvSpPr>
          <p:cNvPr id="156" name="CasellaDiTesto 155">
            <a:extLst>
              <a:ext uri="{FF2B5EF4-FFF2-40B4-BE49-F238E27FC236}">
                <a16:creationId xmlns:a16="http://schemas.microsoft.com/office/drawing/2014/main" id="{5661C0C5-F5B1-41D1-90D7-67C476572EBB}"/>
              </a:ext>
            </a:extLst>
          </p:cNvPr>
          <p:cNvSpPr txBox="1"/>
          <p:nvPr/>
        </p:nvSpPr>
        <p:spPr>
          <a:xfrm>
            <a:off x="9045029" y="2922347"/>
            <a:ext cx="269200" cy="369332"/>
          </a:xfrm>
          <a:prstGeom prst="rect">
            <a:avLst/>
          </a:prstGeom>
          <a:noFill/>
        </p:spPr>
        <p:txBody>
          <a:bodyPr wrap="square" rtlCol="0">
            <a:spAutoFit/>
          </a:bodyPr>
          <a:lstStyle/>
          <a:p>
            <a:r>
              <a:rPr lang="en-US" dirty="0"/>
              <a:t>6</a:t>
            </a:r>
            <a:endParaRPr lang="it-IT" dirty="0"/>
          </a:p>
        </p:txBody>
      </p:sp>
      <p:sp>
        <p:nvSpPr>
          <p:cNvPr id="157" name="CasellaDiTesto 156">
            <a:extLst>
              <a:ext uri="{FF2B5EF4-FFF2-40B4-BE49-F238E27FC236}">
                <a16:creationId xmlns:a16="http://schemas.microsoft.com/office/drawing/2014/main" id="{7D7876FD-6E7B-4B7A-92A4-26BC4492D579}"/>
              </a:ext>
            </a:extLst>
          </p:cNvPr>
          <p:cNvSpPr txBox="1"/>
          <p:nvPr/>
        </p:nvSpPr>
        <p:spPr>
          <a:xfrm>
            <a:off x="8428505" y="2909036"/>
            <a:ext cx="269200" cy="369332"/>
          </a:xfrm>
          <a:prstGeom prst="rect">
            <a:avLst/>
          </a:prstGeom>
          <a:noFill/>
        </p:spPr>
        <p:txBody>
          <a:bodyPr wrap="square" rtlCol="0">
            <a:spAutoFit/>
          </a:bodyPr>
          <a:lstStyle/>
          <a:p>
            <a:r>
              <a:rPr lang="en-US" dirty="0"/>
              <a:t>3</a:t>
            </a:r>
            <a:endParaRPr lang="it-IT" dirty="0"/>
          </a:p>
        </p:txBody>
      </p:sp>
      <p:sp>
        <p:nvSpPr>
          <p:cNvPr id="159" name="CasellaDiTesto 158">
            <a:extLst>
              <a:ext uri="{FF2B5EF4-FFF2-40B4-BE49-F238E27FC236}">
                <a16:creationId xmlns:a16="http://schemas.microsoft.com/office/drawing/2014/main" id="{2677817D-4806-4332-AE41-6CA9444C93E2}"/>
              </a:ext>
            </a:extLst>
          </p:cNvPr>
          <p:cNvSpPr txBox="1"/>
          <p:nvPr/>
        </p:nvSpPr>
        <p:spPr>
          <a:xfrm>
            <a:off x="8843661" y="3897425"/>
            <a:ext cx="269200" cy="369332"/>
          </a:xfrm>
          <a:prstGeom prst="rect">
            <a:avLst/>
          </a:prstGeom>
          <a:noFill/>
        </p:spPr>
        <p:txBody>
          <a:bodyPr wrap="square" rtlCol="0">
            <a:spAutoFit/>
          </a:bodyPr>
          <a:lstStyle/>
          <a:p>
            <a:r>
              <a:rPr lang="en-US" dirty="0"/>
              <a:t>9</a:t>
            </a:r>
            <a:endParaRPr lang="it-IT" dirty="0"/>
          </a:p>
        </p:txBody>
      </p:sp>
      <p:sp>
        <p:nvSpPr>
          <p:cNvPr id="160" name="CasellaDiTesto 159">
            <a:extLst>
              <a:ext uri="{FF2B5EF4-FFF2-40B4-BE49-F238E27FC236}">
                <a16:creationId xmlns:a16="http://schemas.microsoft.com/office/drawing/2014/main" id="{C9B2AF28-D278-4905-8B51-4D9A2AC68128}"/>
              </a:ext>
            </a:extLst>
          </p:cNvPr>
          <p:cNvSpPr txBox="1"/>
          <p:nvPr/>
        </p:nvSpPr>
        <p:spPr>
          <a:xfrm>
            <a:off x="9880246" y="3814148"/>
            <a:ext cx="269200" cy="369332"/>
          </a:xfrm>
          <a:prstGeom prst="rect">
            <a:avLst/>
          </a:prstGeom>
          <a:noFill/>
        </p:spPr>
        <p:txBody>
          <a:bodyPr wrap="square" rtlCol="0">
            <a:spAutoFit/>
          </a:bodyPr>
          <a:lstStyle/>
          <a:p>
            <a:r>
              <a:rPr lang="en-US" dirty="0"/>
              <a:t>9</a:t>
            </a:r>
            <a:endParaRPr lang="it-IT" dirty="0"/>
          </a:p>
        </p:txBody>
      </p:sp>
      <p:sp>
        <p:nvSpPr>
          <p:cNvPr id="161" name="CasellaDiTesto 160">
            <a:extLst>
              <a:ext uri="{FF2B5EF4-FFF2-40B4-BE49-F238E27FC236}">
                <a16:creationId xmlns:a16="http://schemas.microsoft.com/office/drawing/2014/main" id="{579AFDF9-3133-48D4-852A-8BC79282C83E}"/>
              </a:ext>
            </a:extLst>
          </p:cNvPr>
          <p:cNvSpPr txBox="1"/>
          <p:nvPr/>
        </p:nvSpPr>
        <p:spPr>
          <a:xfrm>
            <a:off x="10556667" y="3264380"/>
            <a:ext cx="269200" cy="369332"/>
          </a:xfrm>
          <a:prstGeom prst="rect">
            <a:avLst/>
          </a:prstGeom>
          <a:noFill/>
        </p:spPr>
        <p:txBody>
          <a:bodyPr wrap="square" rtlCol="0">
            <a:spAutoFit/>
          </a:bodyPr>
          <a:lstStyle/>
          <a:p>
            <a:r>
              <a:rPr lang="en-US" dirty="0"/>
              <a:t>4</a:t>
            </a:r>
            <a:endParaRPr lang="it-IT" dirty="0"/>
          </a:p>
        </p:txBody>
      </p:sp>
      <p:sp>
        <p:nvSpPr>
          <p:cNvPr id="163" name="CasellaDiTesto 162">
            <a:extLst>
              <a:ext uri="{FF2B5EF4-FFF2-40B4-BE49-F238E27FC236}">
                <a16:creationId xmlns:a16="http://schemas.microsoft.com/office/drawing/2014/main" id="{2DBC5A98-E506-4112-ADEF-4B18F3A70467}"/>
              </a:ext>
            </a:extLst>
          </p:cNvPr>
          <p:cNvSpPr txBox="1"/>
          <p:nvPr/>
        </p:nvSpPr>
        <p:spPr>
          <a:xfrm>
            <a:off x="8059877" y="3688675"/>
            <a:ext cx="269200" cy="369332"/>
          </a:xfrm>
          <a:prstGeom prst="rect">
            <a:avLst/>
          </a:prstGeom>
          <a:noFill/>
        </p:spPr>
        <p:txBody>
          <a:bodyPr wrap="square" rtlCol="0">
            <a:spAutoFit/>
          </a:bodyPr>
          <a:lstStyle/>
          <a:p>
            <a:r>
              <a:rPr lang="en-US" dirty="0"/>
              <a:t>4</a:t>
            </a:r>
            <a:endParaRPr lang="it-IT" dirty="0"/>
          </a:p>
        </p:txBody>
      </p:sp>
      <p:sp>
        <p:nvSpPr>
          <p:cNvPr id="164" name="CasellaDiTesto 163">
            <a:extLst>
              <a:ext uri="{FF2B5EF4-FFF2-40B4-BE49-F238E27FC236}">
                <a16:creationId xmlns:a16="http://schemas.microsoft.com/office/drawing/2014/main" id="{4B0BD530-D577-4521-AE17-B8AEE3C8C531}"/>
              </a:ext>
            </a:extLst>
          </p:cNvPr>
          <p:cNvSpPr txBox="1"/>
          <p:nvPr/>
        </p:nvSpPr>
        <p:spPr>
          <a:xfrm>
            <a:off x="8563461" y="5096420"/>
            <a:ext cx="269200" cy="369332"/>
          </a:xfrm>
          <a:prstGeom prst="rect">
            <a:avLst/>
          </a:prstGeom>
          <a:noFill/>
        </p:spPr>
        <p:txBody>
          <a:bodyPr wrap="square" rtlCol="0">
            <a:spAutoFit/>
          </a:bodyPr>
          <a:lstStyle/>
          <a:p>
            <a:r>
              <a:rPr lang="en-US" dirty="0"/>
              <a:t>1</a:t>
            </a:r>
            <a:endParaRPr lang="it-IT" dirty="0"/>
          </a:p>
        </p:txBody>
      </p:sp>
      <p:sp>
        <p:nvSpPr>
          <p:cNvPr id="165" name="CasellaDiTesto 164">
            <a:extLst>
              <a:ext uri="{FF2B5EF4-FFF2-40B4-BE49-F238E27FC236}">
                <a16:creationId xmlns:a16="http://schemas.microsoft.com/office/drawing/2014/main" id="{A853FC12-A550-4084-869C-60FE02BAA473}"/>
              </a:ext>
            </a:extLst>
          </p:cNvPr>
          <p:cNvSpPr txBox="1"/>
          <p:nvPr/>
        </p:nvSpPr>
        <p:spPr>
          <a:xfrm>
            <a:off x="10082860" y="4929923"/>
            <a:ext cx="269200" cy="369332"/>
          </a:xfrm>
          <a:prstGeom prst="rect">
            <a:avLst/>
          </a:prstGeom>
          <a:noFill/>
        </p:spPr>
        <p:txBody>
          <a:bodyPr wrap="square" rtlCol="0">
            <a:spAutoFit/>
          </a:bodyPr>
          <a:lstStyle/>
          <a:p>
            <a:r>
              <a:rPr lang="en-US" dirty="0"/>
              <a:t>4</a:t>
            </a:r>
            <a:endParaRPr lang="it-IT" dirty="0"/>
          </a:p>
        </p:txBody>
      </p:sp>
      <p:sp>
        <p:nvSpPr>
          <p:cNvPr id="213" name="CasellaDiTesto 212">
            <a:extLst>
              <a:ext uri="{FF2B5EF4-FFF2-40B4-BE49-F238E27FC236}">
                <a16:creationId xmlns:a16="http://schemas.microsoft.com/office/drawing/2014/main" id="{29928A79-65FD-4A2B-B3B4-D4AA6C27239A}"/>
              </a:ext>
            </a:extLst>
          </p:cNvPr>
          <p:cNvSpPr txBox="1"/>
          <p:nvPr/>
        </p:nvSpPr>
        <p:spPr>
          <a:xfrm>
            <a:off x="4769530" y="962344"/>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GRAFI</a:t>
            </a:r>
          </a:p>
        </p:txBody>
      </p:sp>
      <p:grpSp>
        <p:nvGrpSpPr>
          <p:cNvPr id="277" name="Gruppo 276">
            <a:extLst>
              <a:ext uri="{FF2B5EF4-FFF2-40B4-BE49-F238E27FC236}">
                <a16:creationId xmlns:a16="http://schemas.microsoft.com/office/drawing/2014/main" id="{C299C884-7B3F-4683-9CA2-F268F6A7C0AA}"/>
              </a:ext>
            </a:extLst>
          </p:cNvPr>
          <p:cNvGrpSpPr/>
          <p:nvPr/>
        </p:nvGrpSpPr>
        <p:grpSpPr>
          <a:xfrm>
            <a:off x="2938388" y="2630642"/>
            <a:ext cx="569246" cy="562145"/>
            <a:chOff x="7156642" y="2544529"/>
            <a:chExt cx="1083401" cy="1083401"/>
          </a:xfrm>
        </p:grpSpPr>
        <mc:AlternateContent xmlns:mc="http://schemas.openxmlformats.org/markup-compatibility/2006">
          <mc:Choice xmlns:am3d="http://schemas.microsoft.com/office/drawing/2017/model3d" Requires="am3d">
            <p:graphicFrame>
              <p:nvGraphicFramePr>
                <p:cNvPr id="278" name="Modello 3D 277" descr="Sfera grigio chiaro">
                  <a:extLst>
                    <a:ext uri="{FF2B5EF4-FFF2-40B4-BE49-F238E27FC236}">
                      <a16:creationId xmlns:a16="http://schemas.microsoft.com/office/drawing/2014/main" id="{E456B5B4-6C57-45EF-93E5-C3C15427048E}"/>
                    </a:ext>
                  </a:extLst>
                </p:cNvPr>
                <p:cNvGraphicFramePr>
                  <a:graphicFrameLocks noChangeAspect="1"/>
                </p:cNvGraphicFramePr>
                <p:nvPr>
                  <p:extLst>
                    <p:ext uri="{D42A27DB-BD31-4B8C-83A1-F6EECF244321}">
                      <p14:modId xmlns:p14="http://schemas.microsoft.com/office/powerpoint/2010/main" val="1896845957"/>
                    </p:ext>
                  </p:extLst>
                </p:nvPr>
              </p:nvGraphicFramePr>
              <p:xfrm>
                <a:off x="7156642" y="2544529"/>
                <a:ext cx="1083401" cy="1083401"/>
              </p:xfrm>
              <a:graphic>
                <a:graphicData uri="http://schemas.microsoft.com/office/drawing/2017/model3d">
                  <am3d:model3d r:embed="rId2">
                    <am3d:spPr>
                      <a:xfrm>
                        <a:off x="0" y="0"/>
                        <a:ext cx="1083401" cy="108340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8744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78" name="Modello 3D 277" descr="Sfera grigio chiaro">
                  <a:extLst>
                    <a:ext uri="{FF2B5EF4-FFF2-40B4-BE49-F238E27FC236}">
                      <a16:creationId xmlns:a16="http://schemas.microsoft.com/office/drawing/2014/main" id="{E456B5B4-6C57-45EF-93E5-C3C15427048E}"/>
                    </a:ext>
                  </a:extLst>
                </p:cNvPr>
                <p:cNvPicPr>
                  <a:picLocks noGrp="1" noRot="1" noChangeAspect="1" noMove="1" noResize="1" noEditPoints="1" noAdjustHandles="1" noChangeArrowheads="1" noChangeShapeType="1" noCrop="1"/>
                </p:cNvPicPr>
                <p:nvPr/>
              </p:nvPicPr>
              <p:blipFill>
                <a:blip r:embed="rId3"/>
                <a:stretch>
                  <a:fillRect/>
                </a:stretch>
              </p:blipFill>
              <p:spPr>
                <a:xfrm>
                  <a:off x="2938388" y="2630642"/>
                  <a:ext cx="569246" cy="562145"/>
                </a:xfrm>
                <a:prstGeom prst="rect">
                  <a:avLst/>
                </a:prstGeom>
              </p:spPr>
            </p:pic>
          </mc:Fallback>
        </mc:AlternateContent>
        <p:sp>
          <p:nvSpPr>
            <p:cNvPr id="279" name="CasellaDiTesto 278">
              <a:extLst>
                <a:ext uri="{FF2B5EF4-FFF2-40B4-BE49-F238E27FC236}">
                  <a16:creationId xmlns:a16="http://schemas.microsoft.com/office/drawing/2014/main" id="{D44820FA-E2A6-472A-B2F8-4859D6F188C6}"/>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80" name="Gruppo 279">
            <a:extLst>
              <a:ext uri="{FF2B5EF4-FFF2-40B4-BE49-F238E27FC236}">
                <a16:creationId xmlns:a16="http://schemas.microsoft.com/office/drawing/2014/main" id="{25BD6C38-94D4-4FBF-ABDD-2A0D8BCEA2AC}"/>
              </a:ext>
            </a:extLst>
          </p:cNvPr>
          <p:cNvGrpSpPr/>
          <p:nvPr/>
        </p:nvGrpSpPr>
        <p:grpSpPr>
          <a:xfrm>
            <a:off x="1829350" y="4311071"/>
            <a:ext cx="529776" cy="523168"/>
            <a:chOff x="2029030" y="3475956"/>
            <a:chExt cx="1008280" cy="1008281"/>
          </a:xfrm>
        </p:grpSpPr>
        <mc:AlternateContent xmlns:mc="http://schemas.openxmlformats.org/markup-compatibility/2006">
          <mc:Choice xmlns:am3d="http://schemas.microsoft.com/office/drawing/2017/model3d" Requires="am3d">
            <p:graphicFrame>
              <p:nvGraphicFramePr>
                <p:cNvPr id="281" name="Modello 3D 280" descr="Sfera grigio chiaro">
                  <a:extLst>
                    <a:ext uri="{FF2B5EF4-FFF2-40B4-BE49-F238E27FC236}">
                      <a16:creationId xmlns:a16="http://schemas.microsoft.com/office/drawing/2014/main" id="{6FBFB561-28E4-4C19-848F-09F07B3C7C03}"/>
                    </a:ext>
                  </a:extLst>
                </p:cNvPr>
                <p:cNvGraphicFramePr>
                  <a:graphicFrameLocks noChangeAspect="1"/>
                </p:cNvGraphicFramePr>
                <p:nvPr>
                  <p:extLst>
                    <p:ext uri="{D42A27DB-BD31-4B8C-83A1-F6EECF244321}">
                      <p14:modId xmlns:p14="http://schemas.microsoft.com/office/powerpoint/2010/main" val="2175851536"/>
                    </p:ext>
                  </p:extLst>
                </p:nvPr>
              </p:nvGraphicFramePr>
              <p:xfrm>
                <a:off x="2029030" y="3475956"/>
                <a:ext cx="1008280" cy="1008281"/>
              </p:xfrm>
              <a:graphic>
                <a:graphicData uri="http://schemas.microsoft.com/office/drawing/2017/model3d">
                  <am3d:model3d r:embed="rId2">
                    <am3d:spPr>
                      <a:xfrm>
                        <a:off x="0" y="0"/>
                        <a:ext cx="1008280" cy="100828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84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1" name="Modello 3D 280" descr="Sfera grigio chiaro">
                  <a:extLst>
                    <a:ext uri="{FF2B5EF4-FFF2-40B4-BE49-F238E27FC236}">
                      <a16:creationId xmlns:a16="http://schemas.microsoft.com/office/drawing/2014/main" id="{6FBFB561-28E4-4C19-848F-09F07B3C7C03}"/>
                    </a:ext>
                  </a:extLst>
                </p:cNvPr>
                <p:cNvPicPr>
                  <a:picLocks noGrp="1" noRot="1" noChangeAspect="1" noMove="1" noResize="1" noEditPoints="1" noAdjustHandles="1" noChangeArrowheads="1" noChangeShapeType="1" noCrop="1"/>
                </p:cNvPicPr>
                <p:nvPr/>
              </p:nvPicPr>
              <p:blipFill>
                <a:blip r:embed="rId4"/>
                <a:stretch>
                  <a:fillRect/>
                </a:stretch>
              </p:blipFill>
              <p:spPr>
                <a:xfrm>
                  <a:off x="1829350" y="4311071"/>
                  <a:ext cx="529776" cy="523168"/>
                </a:xfrm>
                <a:prstGeom prst="rect">
                  <a:avLst/>
                </a:prstGeom>
              </p:spPr>
            </p:pic>
          </mc:Fallback>
        </mc:AlternateContent>
        <p:sp>
          <p:nvSpPr>
            <p:cNvPr id="282" name="CasellaDiTesto 281">
              <a:extLst>
                <a:ext uri="{FF2B5EF4-FFF2-40B4-BE49-F238E27FC236}">
                  <a16:creationId xmlns:a16="http://schemas.microsoft.com/office/drawing/2014/main" id="{AFB753FF-BD8C-448E-9951-88D347BF0CDC}"/>
                </a:ext>
              </a:extLst>
            </p:cNvPr>
            <p:cNvSpPr txBox="1"/>
            <p:nvPr/>
          </p:nvSpPr>
          <p:spPr>
            <a:xfrm>
              <a:off x="2271076" y="3683512"/>
              <a:ext cx="496579" cy="593166"/>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grpSp>
        <p:nvGrpSpPr>
          <p:cNvPr id="283" name="Gruppo 282">
            <a:extLst>
              <a:ext uri="{FF2B5EF4-FFF2-40B4-BE49-F238E27FC236}">
                <a16:creationId xmlns:a16="http://schemas.microsoft.com/office/drawing/2014/main" id="{937C36AD-1030-4FCE-A865-AF8A898FA56F}"/>
              </a:ext>
            </a:extLst>
          </p:cNvPr>
          <p:cNvGrpSpPr/>
          <p:nvPr/>
        </p:nvGrpSpPr>
        <p:grpSpPr>
          <a:xfrm>
            <a:off x="2852035" y="4305868"/>
            <a:ext cx="535045" cy="528371"/>
            <a:chOff x="2096089" y="4934808"/>
            <a:chExt cx="1018309" cy="1018310"/>
          </a:xfrm>
        </p:grpSpPr>
        <mc:AlternateContent xmlns:mc="http://schemas.openxmlformats.org/markup-compatibility/2006">
          <mc:Choice xmlns:am3d="http://schemas.microsoft.com/office/drawing/2017/model3d" Requires="am3d">
            <p:graphicFrame>
              <p:nvGraphicFramePr>
                <p:cNvPr id="284" name="Modello 3D 283" descr="Sfera grigio chiaro">
                  <a:extLst>
                    <a:ext uri="{FF2B5EF4-FFF2-40B4-BE49-F238E27FC236}">
                      <a16:creationId xmlns:a16="http://schemas.microsoft.com/office/drawing/2014/main" id="{54D15DA4-2BEB-4621-AF6E-9F030A97FCFE}"/>
                    </a:ext>
                  </a:extLst>
                </p:cNvPr>
                <p:cNvGraphicFramePr>
                  <a:graphicFrameLocks noChangeAspect="1"/>
                </p:cNvGraphicFramePr>
                <p:nvPr>
                  <p:extLst>
                    <p:ext uri="{D42A27DB-BD31-4B8C-83A1-F6EECF244321}">
                      <p14:modId xmlns:p14="http://schemas.microsoft.com/office/powerpoint/2010/main" val="2813164292"/>
                    </p:ext>
                  </p:extLst>
                </p:nvPr>
              </p:nvGraphicFramePr>
              <p:xfrm>
                <a:off x="2096089" y="4934808"/>
                <a:ext cx="1018309" cy="1018310"/>
              </p:xfrm>
              <a:graphic>
                <a:graphicData uri="http://schemas.microsoft.com/office/drawing/2017/model3d">
                  <am3d:model3d r:embed="rId2">
                    <am3d:spPr>
                      <a:xfrm>
                        <a:off x="0" y="0"/>
                        <a:ext cx="1018309" cy="101831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81790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4" name="Modello 3D 283" descr="Sfera grigio chiaro">
                  <a:extLst>
                    <a:ext uri="{FF2B5EF4-FFF2-40B4-BE49-F238E27FC236}">
                      <a16:creationId xmlns:a16="http://schemas.microsoft.com/office/drawing/2014/main" id="{54D15DA4-2BEB-4621-AF6E-9F030A97FCFE}"/>
                    </a:ext>
                  </a:extLst>
                </p:cNvPr>
                <p:cNvPicPr>
                  <a:picLocks noGrp="1" noRot="1" noChangeAspect="1" noMove="1" noResize="1" noEditPoints="1" noAdjustHandles="1" noChangeArrowheads="1" noChangeShapeType="1" noCrop="1"/>
                </p:cNvPicPr>
                <p:nvPr/>
              </p:nvPicPr>
              <p:blipFill>
                <a:blip r:embed="rId5"/>
                <a:stretch>
                  <a:fillRect/>
                </a:stretch>
              </p:blipFill>
              <p:spPr>
                <a:xfrm>
                  <a:off x="2852035" y="4305868"/>
                  <a:ext cx="535045" cy="528371"/>
                </a:xfrm>
                <a:prstGeom prst="rect">
                  <a:avLst/>
                </a:prstGeom>
              </p:spPr>
            </p:pic>
          </mc:Fallback>
        </mc:AlternateContent>
        <p:sp>
          <p:nvSpPr>
            <p:cNvPr id="285" name="CasellaDiTesto 284">
              <a:extLst>
                <a:ext uri="{FF2B5EF4-FFF2-40B4-BE49-F238E27FC236}">
                  <a16:creationId xmlns:a16="http://schemas.microsoft.com/office/drawing/2014/main" id="{BD6EDFBA-2737-40C4-966B-3FFD7F38FF27}"/>
                </a:ext>
              </a:extLst>
            </p:cNvPr>
            <p:cNvSpPr txBox="1"/>
            <p:nvPr/>
          </p:nvSpPr>
          <p:spPr>
            <a:xfrm>
              <a:off x="2278359" y="5060886"/>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286" name="Gruppo 285">
            <a:extLst>
              <a:ext uri="{FF2B5EF4-FFF2-40B4-BE49-F238E27FC236}">
                <a16:creationId xmlns:a16="http://schemas.microsoft.com/office/drawing/2014/main" id="{2BE6AB0A-7047-4B94-887C-07BF1332AA42}"/>
              </a:ext>
            </a:extLst>
          </p:cNvPr>
          <p:cNvGrpSpPr/>
          <p:nvPr/>
        </p:nvGrpSpPr>
        <p:grpSpPr>
          <a:xfrm>
            <a:off x="2418412" y="3116449"/>
            <a:ext cx="474077" cy="468163"/>
            <a:chOff x="6214478" y="3704781"/>
            <a:chExt cx="902273" cy="902272"/>
          </a:xfrm>
        </p:grpSpPr>
        <mc:AlternateContent xmlns:mc="http://schemas.openxmlformats.org/markup-compatibility/2006">
          <mc:Choice xmlns:am3d="http://schemas.microsoft.com/office/drawing/2017/model3d" Requires="am3d">
            <p:graphicFrame>
              <p:nvGraphicFramePr>
                <p:cNvPr id="287" name="Modello 3D 286" descr="Sfera grigio chiaro">
                  <a:extLst>
                    <a:ext uri="{FF2B5EF4-FFF2-40B4-BE49-F238E27FC236}">
                      <a16:creationId xmlns:a16="http://schemas.microsoft.com/office/drawing/2014/main" id="{AD728971-EA09-43F1-BF97-7BE1503712BA}"/>
                    </a:ext>
                  </a:extLst>
                </p:cNvPr>
                <p:cNvGraphicFramePr>
                  <a:graphicFrameLocks noChangeAspect="1"/>
                </p:cNvGraphicFramePr>
                <p:nvPr>
                  <p:extLst>
                    <p:ext uri="{D42A27DB-BD31-4B8C-83A1-F6EECF244321}">
                      <p14:modId xmlns:p14="http://schemas.microsoft.com/office/powerpoint/2010/main" val="634100592"/>
                    </p:ext>
                  </p:extLst>
                </p:nvPr>
              </p:nvGraphicFramePr>
              <p:xfrm>
                <a:off x="6214478" y="3704781"/>
                <a:ext cx="902273" cy="902272"/>
              </p:xfrm>
              <a:graphic>
                <a:graphicData uri="http://schemas.microsoft.com/office/drawing/2017/model3d">
                  <am3d:model3d r:embed="rId2">
                    <am3d:spPr>
                      <a:xfrm>
                        <a:off x="0" y="0"/>
                        <a:ext cx="902273" cy="90227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1242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87" name="Modello 3D 286" descr="Sfera grigio chiaro">
                  <a:extLst>
                    <a:ext uri="{FF2B5EF4-FFF2-40B4-BE49-F238E27FC236}">
                      <a16:creationId xmlns:a16="http://schemas.microsoft.com/office/drawing/2014/main" id="{AD728971-EA09-43F1-BF97-7BE1503712BA}"/>
                    </a:ext>
                  </a:extLst>
                </p:cNvPr>
                <p:cNvPicPr>
                  <a:picLocks noGrp="1" noRot="1" noChangeAspect="1" noMove="1" noResize="1" noEditPoints="1" noAdjustHandles="1" noChangeArrowheads="1" noChangeShapeType="1" noCrop="1"/>
                </p:cNvPicPr>
                <p:nvPr/>
              </p:nvPicPr>
              <p:blipFill>
                <a:blip r:embed="rId6"/>
                <a:stretch>
                  <a:fillRect/>
                </a:stretch>
              </p:blipFill>
              <p:spPr>
                <a:xfrm>
                  <a:off x="2418412" y="3116449"/>
                  <a:ext cx="474077" cy="468163"/>
                </a:xfrm>
                <a:prstGeom prst="rect">
                  <a:avLst/>
                </a:prstGeom>
              </p:spPr>
            </p:pic>
          </mc:Fallback>
        </mc:AlternateContent>
        <p:sp>
          <p:nvSpPr>
            <p:cNvPr id="288" name="CasellaDiTesto 287">
              <a:extLst>
                <a:ext uri="{FF2B5EF4-FFF2-40B4-BE49-F238E27FC236}">
                  <a16:creationId xmlns:a16="http://schemas.microsoft.com/office/drawing/2014/main" id="{E5A9C086-527E-445D-80EE-A813491AAC04}"/>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289" name="Gruppo 288">
            <a:extLst>
              <a:ext uri="{FF2B5EF4-FFF2-40B4-BE49-F238E27FC236}">
                <a16:creationId xmlns:a16="http://schemas.microsoft.com/office/drawing/2014/main" id="{7453F246-EB85-4F99-B0D7-B81D4465D823}"/>
              </a:ext>
            </a:extLst>
          </p:cNvPr>
          <p:cNvGrpSpPr/>
          <p:nvPr/>
        </p:nvGrpSpPr>
        <p:grpSpPr>
          <a:xfrm>
            <a:off x="766858" y="4305870"/>
            <a:ext cx="473823" cy="467913"/>
            <a:chOff x="1286302" y="3979004"/>
            <a:chExt cx="901789" cy="901790"/>
          </a:xfrm>
        </p:grpSpPr>
        <mc:AlternateContent xmlns:mc="http://schemas.openxmlformats.org/markup-compatibility/2006">
          <mc:Choice xmlns:am3d="http://schemas.microsoft.com/office/drawing/2017/model3d" Requires="am3d">
            <p:graphicFrame>
              <p:nvGraphicFramePr>
                <p:cNvPr id="290" name="Modello 3D 289" descr="Sfera grigio chiaro">
                  <a:extLst>
                    <a:ext uri="{FF2B5EF4-FFF2-40B4-BE49-F238E27FC236}">
                      <a16:creationId xmlns:a16="http://schemas.microsoft.com/office/drawing/2014/main" id="{73BC6A1D-9954-4526-807E-B7272302D452}"/>
                    </a:ext>
                  </a:extLst>
                </p:cNvPr>
                <p:cNvGraphicFramePr>
                  <a:graphicFrameLocks noChangeAspect="1"/>
                </p:cNvGraphicFramePr>
                <p:nvPr>
                  <p:extLst>
                    <p:ext uri="{D42A27DB-BD31-4B8C-83A1-F6EECF244321}">
                      <p14:modId xmlns:p14="http://schemas.microsoft.com/office/powerpoint/2010/main" val="1084506839"/>
                    </p:ext>
                  </p:extLst>
                </p:nvPr>
              </p:nvGraphicFramePr>
              <p:xfrm>
                <a:off x="1286302" y="3979004"/>
                <a:ext cx="901789" cy="901790"/>
              </p:xfrm>
              <a:graphic>
                <a:graphicData uri="http://schemas.microsoft.com/office/drawing/2017/model3d">
                  <am3d:model3d r:embed="rId2">
                    <am3d:spPr>
                      <a:xfrm>
                        <a:off x="0" y="0"/>
                        <a:ext cx="901789" cy="90179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120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0" name="Modello 3D 289" descr="Sfera grigio chiaro">
                  <a:extLst>
                    <a:ext uri="{FF2B5EF4-FFF2-40B4-BE49-F238E27FC236}">
                      <a16:creationId xmlns:a16="http://schemas.microsoft.com/office/drawing/2014/main" id="{73BC6A1D-9954-4526-807E-B7272302D452}"/>
                    </a:ext>
                  </a:extLst>
                </p:cNvPr>
                <p:cNvPicPr>
                  <a:picLocks noGrp="1" noRot="1" noChangeAspect="1" noMove="1" noResize="1" noEditPoints="1" noAdjustHandles="1" noChangeArrowheads="1" noChangeShapeType="1" noCrop="1"/>
                </p:cNvPicPr>
                <p:nvPr/>
              </p:nvPicPr>
              <p:blipFill>
                <a:blip r:embed="rId7"/>
                <a:stretch>
                  <a:fillRect/>
                </a:stretch>
              </p:blipFill>
              <p:spPr>
                <a:xfrm>
                  <a:off x="766858" y="4305870"/>
                  <a:ext cx="473823" cy="467913"/>
                </a:xfrm>
                <a:prstGeom prst="rect">
                  <a:avLst/>
                </a:prstGeom>
              </p:spPr>
            </p:pic>
          </mc:Fallback>
        </mc:AlternateContent>
        <p:sp>
          <p:nvSpPr>
            <p:cNvPr id="291" name="CasellaDiTesto 290">
              <a:extLst>
                <a:ext uri="{FF2B5EF4-FFF2-40B4-BE49-F238E27FC236}">
                  <a16:creationId xmlns:a16="http://schemas.microsoft.com/office/drawing/2014/main" id="{00C853EF-28F1-4CB9-930F-8B17D4469749}"/>
                </a:ext>
              </a:extLst>
            </p:cNvPr>
            <p:cNvSpPr txBox="1"/>
            <p:nvPr/>
          </p:nvSpPr>
          <p:spPr>
            <a:xfrm>
              <a:off x="1452556" y="4095056"/>
              <a:ext cx="496578" cy="593166"/>
            </a:xfrm>
            <a:prstGeom prst="rect">
              <a:avLst/>
            </a:prstGeom>
            <a:noFill/>
          </p:spPr>
          <p:txBody>
            <a:bodyPr wrap="square" rtlCol="0">
              <a:spAutoFit/>
            </a:bodyPr>
            <a:lstStyle/>
            <a:p>
              <a:pPr algn="ctr"/>
              <a:r>
                <a:rPr lang="en-US" sz="1400" b="1" dirty="0">
                  <a:latin typeface="LEMON MILK" panose="00000500000000000000" pitchFamily="50" charset="0"/>
                </a:rPr>
                <a:t>H</a:t>
              </a:r>
            </a:p>
          </p:txBody>
        </p:sp>
      </p:grpSp>
      <p:grpSp>
        <p:nvGrpSpPr>
          <p:cNvPr id="292" name="Gruppo 291">
            <a:extLst>
              <a:ext uri="{FF2B5EF4-FFF2-40B4-BE49-F238E27FC236}">
                <a16:creationId xmlns:a16="http://schemas.microsoft.com/office/drawing/2014/main" id="{3C8D65C5-EC12-491E-A3C2-7E5A8693FB58}"/>
              </a:ext>
            </a:extLst>
          </p:cNvPr>
          <p:cNvGrpSpPr/>
          <p:nvPr/>
        </p:nvGrpSpPr>
        <p:grpSpPr>
          <a:xfrm>
            <a:off x="1830167" y="2663074"/>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293" name="Modello 3D 292" descr="Sfera grigio chiaro">
                  <a:extLst>
                    <a:ext uri="{FF2B5EF4-FFF2-40B4-BE49-F238E27FC236}">
                      <a16:creationId xmlns:a16="http://schemas.microsoft.com/office/drawing/2014/main" id="{0D33ED20-459D-4383-9B50-F91BC87E0E22}"/>
                    </a:ext>
                  </a:extLst>
                </p:cNvPr>
                <p:cNvGraphicFramePr>
                  <a:graphicFrameLocks noChangeAspect="1"/>
                </p:cNvGraphicFramePr>
                <p:nvPr>
                  <p:extLst>
                    <p:ext uri="{D42A27DB-BD31-4B8C-83A1-F6EECF244321}">
                      <p14:modId xmlns:p14="http://schemas.microsoft.com/office/powerpoint/2010/main" val="3020041585"/>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3" name="Modello 3D 292" descr="Sfera grigio chiaro">
                  <a:extLst>
                    <a:ext uri="{FF2B5EF4-FFF2-40B4-BE49-F238E27FC236}">
                      <a16:creationId xmlns:a16="http://schemas.microsoft.com/office/drawing/2014/main" id="{0D33ED20-459D-4383-9B50-F91BC87E0E22}"/>
                    </a:ext>
                  </a:extLst>
                </p:cNvPr>
                <p:cNvPicPr>
                  <a:picLocks noGrp="1" noRot="1" noChangeAspect="1" noMove="1" noResize="1" noEditPoints="1" noAdjustHandles="1" noChangeArrowheads="1" noChangeShapeType="1" noCrop="1"/>
                </p:cNvPicPr>
                <p:nvPr/>
              </p:nvPicPr>
              <p:blipFill>
                <a:blip r:embed="rId8"/>
                <a:stretch>
                  <a:fillRect/>
                </a:stretch>
              </p:blipFill>
              <p:spPr>
                <a:xfrm>
                  <a:off x="1830167" y="2663074"/>
                  <a:ext cx="459103" cy="453376"/>
                </a:xfrm>
                <a:prstGeom prst="rect">
                  <a:avLst/>
                </a:prstGeom>
              </p:spPr>
            </p:pic>
          </mc:Fallback>
        </mc:AlternateContent>
        <p:sp>
          <p:nvSpPr>
            <p:cNvPr id="294" name="CasellaDiTesto 293">
              <a:extLst>
                <a:ext uri="{FF2B5EF4-FFF2-40B4-BE49-F238E27FC236}">
                  <a16:creationId xmlns:a16="http://schemas.microsoft.com/office/drawing/2014/main" id="{D05582F9-45B6-469E-B78A-FF6EEE850ACB}"/>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295" name="Gruppo 294">
            <a:extLst>
              <a:ext uri="{FF2B5EF4-FFF2-40B4-BE49-F238E27FC236}">
                <a16:creationId xmlns:a16="http://schemas.microsoft.com/office/drawing/2014/main" id="{0A9589C8-3744-4A37-AC8B-CA8AA795C8B2}"/>
              </a:ext>
            </a:extLst>
          </p:cNvPr>
          <p:cNvGrpSpPr/>
          <p:nvPr/>
        </p:nvGrpSpPr>
        <p:grpSpPr>
          <a:xfrm>
            <a:off x="555085" y="2676672"/>
            <a:ext cx="473823" cy="467912"/>
            <a:chOff x="8758910" y="3645182"/>
            <a:chExt cx="899015" cy="901791"/>
          </a:xfrm>
        </p:grpSpPr>
        <mc:AlternateContent xmlns:mc="http://schemas.openxmlformats.org/markup-compatibility/2006">
          <mc:Choice xmlns:am3d="http://schemas.microsoft.com/office/drawing/2017/model3d" Requires="am3d">
            <p:graphicFrame>
              <p:nvGraphicFramePr>
                <p:cNvPr id="296" name="Modello 3D 295" descr="Sfera grigio chiaro">
                  <a:extLst>
                    <a:ext uri="{FF2B5EF4-FFF2-40B4-BE49-F238E27FC236}">
                      <a16:creationId xmlns:a16="http://schemas.microsoft.com/office/drawing/2014/main" id="{0256E518-58E2-44A2-AB23-2A8EC6B4C084}"/>
                    </a:ext>
                  </a:extLst>
                </p:cNvPr>
                <p:cNvGraphicFramePr>
                  <a:graphicFrameLocks noChangeAspect="1"/>
                </p:cNvGraphicFramePr>
                <p:nvPr>
                  <p:extLst>
                    <p:ext uri="{D42A27DB-BD31-4B8C-83A1-F6EECF244321}">
                      <p14:modId xmlns:p14="http://schemas.microsoft.com/office/powerpoint/2010/main" val="1160541665"/>
                    </p:ext>
                  </p:extLst>
                </p:nvPr>
              </p:nvGraphicFramePr>
              <p:xfrm>
                <a:off x="8758910" y="3645182"/>
                <a:ext cx="899015" cy="901791"/>
              </p:xfrm>
              <a:graphic>
                <a:graphicData uri="http://schemas.microsoft.com/office/drawing/2017/model3d">
                  <am3d:model3d r:embed="rId2">
                    <am3d:spPr>
                      <a:xfrm>
                        <a:off x="0" y="0"/>
                        <a:ext cx="899015" cy="90179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9"/>
                    </am3d:raster>
                    <am3d:objViewport viewportSz="7120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6" name="Modello 3D 295" descr="Sfera grigio chiaro">
                  <a:extLst>
                    <a:ext uri="{FF2B5EF4-FFF2-40B4-BE49-F238E27FC236}">
                      <a16:creationId xmlns:a16="http://schemas.microsoft.com/office/drawing/2014/main" id="{0256E518-58E2-44A2-AB23-2A8EC6B4C084}"/>
                    </a:ext>
                  </a:extLst>
                </p:cNvPr>
                <p:cNvPicPr>
                  <a:picLocks noGrp="1" noRot="1" noChangeAspect="1" noMove="1" noResize="1" noEditPoints="1" noAdjustHandles="1" noChangeArrowheads="1" noChangeShapeType="1" noCrop="1"/>
                </p:cNvPicPr>
                <p:nvPr/>
              </p:nvPicPr>
              <p:blipFill>
                <a:blip r:embed="rId9"/>
                <a:stretch>
                  <a:fillRect/>
                </a:stretch>
              </p:blipFill>
              <p:spPr>
                <a:xfrm>
                  <a:off x="555085" y="2676672"/>
                  <a:ext cx="473823" cy="467912"/>
                </a:xfrm>
                <a:prstGeom prst="rect">
                  <a:avLst/>
                </a:prstGeom>
              </p:spPr>
            </p:pic>
          </mc:Fallback>
        </mc:AlternateContent>
        <p:sp>
          <p:nvSpPr>
            <p:cNvPr id="297" name="CasellaDiTesto 296">
              <a:extLst>
                <a:ext uri="{FF2B5EF4-FFF2-40B4-BE49-F238E27FC236}">
                  <a16:creationId xmlns:a16="http://schemas.microsoft.com/office/drawing/2014/main" id="{EC5E557B-F0D0-4E91-87C2-85EA50E238C0}"/>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298" name="Gruppo 297">
            <a:extLst>
              <a:ext uri="{FF2B5EF4-FFF2-40B4-BE49-F238E27FC236}">
                <a16:creationId xmlns:a16="http://schemas.microsoft.com/office/drawing/2014/main" id="{A26776E6-8A88-4D12-9EE5-483FE146CA69}"/>
              </a:ext>
            </a:extLst>
          </p:cNvPr>
          <p:cNvGrpSpPr/>
          <p:nvPr/>
        </p:nvGrpSpPr>
        <p:grpSpPr>
          <a:xfrm>
            <a:off x="1245722" y="3104733"/>
            <a:ext cx="535661" cy="528979"/>
            <a:chOff x="7328689" y="2428043"/>
            <a:chExt cx="1019480" cy="1019480"/>
          </a:xfrm>
        </p:grpSpPr>
        <mc:AlternateContent xmlns:mc="http://schemas.openxmlformats.org/markup-compatibility/2006">
          <mc:Choice xmlns:am3d="http://schemas.microsoft.com/office/drawing/2017/model3d" Requires="am3d">
            <p:graphicFrame>
              <p:nvGraphicFramePr>
                <p:cNvPr id="299" name="Modello 3D 298" descr="Sfera grigio chiaro">
                  <a:extLst>
                    <a:ext uri="{FF2B5EF4-FFF2-40B4-BE49-F238E27FC236}">
                      <a16:creationId xmlns:a16="http://schemas.microsoft.com/office/drawing/2014/main" id="{DA63DD45-BCB2-496F-91D5-FAFFE43DF591}"/>
                    </a:ext>
                  </a:extLst>
                </p:cNvPr>
                <p:cNvGraphicFramePr>
                  <a:graphicFrameLocks noChangeAspect="1"/>
                </p:cNvGraphicFramePr>
                <p:nvPr>
                  <p:extLst>
                    <p:ext uri="{D42A27DB-BD31-4B8C-83A1-F6EECF244321}">
                      <p14:modId xmlns:p14="http://schemas.microsoft.com/office/powerpoint/2010/main" val="2771619451"/>
                    </p:ext>
                  </p:extLst>
                </p:nvPr>
              </p:nvGraphicFramePr>
              <p:xfrm>
                <a:off x="7328689" y="2428043"/>
                <a:ext cx="1019480" cy="1019480"/>
              </p:xfrm>
              <a:graphic>
                <a:graphicData uri="http://schemas.microsoft.com/office/drawing/2017/model3d">
                  <am3d:model3d r:embed="rId2">
                    <am3d:spPr>
                      <a:xfrm>
                        <a:off x="0" y="0"/>
                        <a:ext cx="1019480" cy="101948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10"/>
                    </am3d:raster>
                    <am3d:objViewport viewportSz="818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99" name="Modello 3D 298" descr="Sfera grigio chiaro">
                  <a:extLst>
                    <a:ext uri="{FF2B5EF4-FFF2-40B4-BE49-F238E27FC236}">
                      <a16:creationId xmlns:a16="http://schemas.microsoft.com/office/drawing/2014/main" id="{DA63DD45-BCB2-496F-91D5-FAFFE43DF591}"/>
                    </a:ext>
                  </a:extLst>
                </p:cNvPr>
                <p:cNvPicPr>
                  <a:picLocks noGrp="1" noRot="1" noChangeAspect="1" noMove="1" noResize="1" noEditPoints="1" noAdjustHandles="1" noChangeArrowheads="1" noChangeShapeType="1" noCrop="1"/>
                </p:cNvPicPr>
                <p:nvPr/>
              </p:nvPicPr>
              <p:blipFill>
                <a:blip r:embed="rId10"/>
                <a:stretch>
                  <a:fillRect/>
                </a:stretch>
              </p:blipFill>
              <p:spPr>
                <a:xfrm>
                  <a:off x="1245722" y="3104733"/>
                  <a:ext cx="535661" cy="528979"/>
                </a:xfrm>
                <a:prstGeom prst="rect">
                  <a:avLst/>
                </a:prstGeom>
              </p:spPr>
            </p:pic>
          </mc:Fallback>
        </mc:AlternateContent>
        <p:sp>
          <p:nvSpPr>
            <p:cNvPr id="300" name="CasellaDiTesto 299">
              <a:extLst>
                <a:ext uri="{FF2B5EF4-FFF2-40B4-BE49-F238E27FC236}">
                  <a16:creationId xmlns:a16="http://schemas.microsoft.com/office/drawing/2014/main" id="{51CAE552-3665-46AC-B496-8211F5BB7041}"/>
                </a:ext>
              </a:extLst>
            </p:cNvPr>
            <p:cNvSpPr txBox="1"/>
            <p:nvPr/>
          </p:nvSpPr>
          <p:spPr>
            <a:xfrm>
              <a:off x="7461305" y="2597748"/>
              <a:ext cx="496578" cy="593166"/>
            </a:xfrm>
            <a:prstGeom prst="rect">
              <a:avLst/>
            </a:prstGeom>
            <a:noFill/>
          </p:spPr>
          <p:txBody>
            <a:bodyPr wrap="square" rtlCol="0">
              <a:spAutoFit/>
            </a:bodyPr>
            <a:lstStyle/>
            <a:p>
              <a:pPr algn="ctr"/>
              <a:r>
                <a:rPr lang="en-US" sz="1400" b="1" dirty="0">
                  <a:latin typeface="LEMON MILK" panose="00000500000000000000" pitchFamily="50" charset="0"/>
                </a:rPr>
                <a:t>g</a:t>
              </a:r>
              <a:endParaRPr lang="it-IT" sz="1400" b="1" dirty="0">
                <a:latin typeface="LEMON MILK" panose="00000500000000000000" pitchFamily="50" charset="0"/>
              </a:endParaRPr>
            </a:p>
          </p:txBody>
        </p:sp>
      </p:grpSp>
      <p:cxnSp>
        <p:nvCxnSpPr>
          <p:cNvPr id="301" name="Connettore diritto 300">
            <a:extLst>
              <a:ext uri="{FF2B5EF4-FFF2-40B4-BE49-F238E27FC236}">
                <a16:creationId xmlns:a16="http://schemas.microsoft.com/office/drawing/2014/main" id="{C3B2EBC8-4FC9-42F0-8A77-FE1B4BE6CCDF}"/>
              </a:ext>
            </a:extLst>
          </p:cNvPr>
          <p:cNvCxnSpPr>
            <a:cxnSpLocks/>
            <a:stCxn id="287" idx="1"/>
            <a:endCxn id="293" idx="2"/>
          </p:cNvCxnSpPr>
          <p:nvPr/>
        </p:nvCxnSpPr>
        <p:spPr>
          <a:xfrm flipH="1" flipV="1">
            <a:off x="2059719" y="3116450"/>
            <a:ext cx="358693" cy="234081"/>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2" name="Connettore diritto 301">
            <a:extLst>
              <a:ext uri="{FF2B5EF4-FFF2-40B4-BE49-F238E27FC236}">
                <a16:creationId xmlns:a16="http://schemas.microsoft.com/office/drawing/2014/main" id="{6CAAE15F-71F9-41D5-9E1E-89BDA5CDD4C5}"/>
              </a:ext>
            </a:extLst>
          </p:cNvPr>
          <p:cNvCxnSpPr>
            <a:cxnSpLocks/>
            <a:stCxn id="293" idx="2"/>
            <a:endCxn id="299" idx="3"/>
          </p:cNvCxnSpPr>
          <p:nvPr/>
        </p:nvCxnSpPr>
        <p:spPr>
          <a:xfrm flipH="1">
            <a:off x="1781383" y="3116450"/>
            <a:ext cx="278336" cy="2527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3" name="Connettore diritto 302">
            <a:extLst>
              <a:ext uri="{FF2B5EF4-FFF2-40B4-BE49-F238E27FC236}">
                <a16:creationId xmlns:a16="http://schemas.microsoft.com/office/drawing/2014/main" id="{685D5840-1F31-4CB9-BE6D-8B15E3A1C77E}"/>
              </a:ext>
            </a:extLst>
          </p:cNvPr>
          <p:cNvCxnSpPr>
            <a:cxnSpLocks/>
            <a:stCxn id="296" idx="2"/>
            <a:endCxn id="299" idx="1"/>
          </p:cNvCxnSpPr>
          <p:nvPr/>
        </p:nvCxnSpPr>
        <p:spPr>
          <a:xfrm>
            <a:off x="791997" y="3144584"/>
            <a:ext cx="453725" cy="2246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4" name="Connettore diritto 303">
            <a:extLst>
              <a:ext uri="{FF2B5EF4-FFF2-40B4-BE49-F238E27FC236}">
                <a16:creationId xmlns:a16="http://schemas.microsoft.com/office/drawing/2014/main" id="{35847471-169C-4A53-BD3C-4F016BB511B1}"/>
              </a:ext>
            </a:extLst>
          </p:cNvPr>
          <p:cNvCxnSpPr>
            <a:cxnSpLocks/>
            <a:stCxn id="296" idx="2"/>
            <a:endCxn id="290" idx="0"/>
          </p:cNvCxnSpPr>
          <p:nvPr/>
        </p:nvCxnSpPr>
        <p:spPr>
          <a:xfrm>
            <a:off x="791997" y="3144584"/>
            <a:ext cx="211773" cy="116128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5" name="Connettore diritto 304">
            <a:extLst>
              <a:ext uri="{FF2B5EF4-FFF2-40B4-BE49-F238E27FC236}">
                <a16:creationId xmlns:a16="http://schemas.microsoft.com/office/drawing/2014/main" id="{45AEE71D-24CF-462E-9EE1-4F6EBA3C38A5}"/>
              </a:ext>
            </a:extLst>
          </p:cNvPr>
          <p:cNvCxnSpPr>
            <a:cxnSpLocks/>
            <a:stCxn id="296" idx="2"/>
            <a:endCxn id="281" idx="1"/>
          </p:cNvCxnSpPr>
          <p:nvPr/>
        </p:nvCxnSpPr>
        <p:spPr>
          <a:xfrm>
            <a:off x="791997" y="3144584"/>
            <a:ext cx="1037353" cy="14280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06" name="Modello 3D 305" descr="Monitor per PC">
                <a:extLst>
                  <a:ext uri="{FF2B5EF4-FFF2-40B4-BE49-F238E27FC236}">
                    <a16:creationId xmlns:a16="http://schemas.microsoft.com/office/drawing/2014/main" id="{C230E7DC-3F6E-401A-93D5-75FCE091CCEF}"/>
                  </a:ext>
                </a:extLst>
              </p:cNvPr>
              <p:cNvGraphicFramePr>
                <a:graphicFrameLocks noChangeAspect="1"/>
              </p:cNvGraphicFramePr>
              <p:nvPr>
                <p:extLst>
                  <p:ext uri="{D42A27DB-BD31-4B8C-83A1-F6EECF244321}">
                    <p14:modId xmlns:p14="http://schemas.microsoft.com/office/powerpoint/2010/main" val="2826655116"/>
                  </p:ext>
                </p:extLst>
              </p:nvPr>
            </p:nvGraphicFramePr>
            <p:xfrm>
              <a:off x="1603118" y="1761421"/>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06" name="Modello 3D 305" descr="Monitor per PC">
                <a:extLst>
                  <a:ext uri="{FF2B5EF4-FFF2-40B4-BE49-F238E27FC236}">
                    <a16:creationId xmlns:a16="http://schemas.microsoft.com/office/drawing/2014/main" id="{C230E7DC-3F6E-401A-93D5-75FCE091CCEF}"/>
                  </a:ext>
                </a:extLst>
              </p:cNvPr>
              <p:cNvPicPr>
                <a:picLocks noGrp="1" noRot="1" noChangeAspect="1" noMove="1" noResize="1" noEditPoints="1" noAdjustHandles="1" noChangeArrowheads="1" noChangeShapeType="1" noCrop="1"/>
              </p:cNvPicPr>
              <p:nvPr/>
            </p:nvPicPr>
            <p:blipFill>
              <a:blip r:embed="rId12"/>
              <a:stretch>
                <a:fillRect/>
              </a:stretch>
            </p:blipFill>
            <p:spPr>
              <a:xfrm>
                <a:off x="1603118" y="1761421"/>
                <a:ext cx="844971" cy="621363"/>
              </a:xfrm>
              <a:prstGeom prst="rect">
                <a:avLst/>
              </a:prstGeom>
            </p:spPr>
          </p:pic>
        </mc:Fallback>
      </mc:AlternateContent>
      <p:cxnSp>
        <p:nvCxnSpPr>
          <p:cNvPr id="307" name="Connettore diritto 306">
            <a:extLst>
              <a:ext uri="{FF2B5EF4-FFF2-40B4-BE49-F238E27FC236}">
                <a16:creationId xmlns:a16="http://schemas.microsoft.com/office/drawing/2014/main" id="{B7AEE420-ADEF-43B8-9EEE-469A519959A7}"/>
              </a:ext>
            </a:extLst>
          </p:cNvPr>
          <p:cNvCxnSpPr>
            <a:cxnSpLocks/>
            <a:stCxn id="296" idx="0"/>
            <a:endCxn id="306" idx="1"/>
          </p:cNvCxnSpPr>
          <p:nvPr/>
        </p:nvCxnSpPr>
        <p:spPr>
          <a:xfrm flipV="1">
            <a:off x="791997" y="2072103"/>
            <a:ext cx="811121" cy="604569"/>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8" name="Connettore diritto 307">
            <a:extLst>
              <a:ext uri="{FF2B5EF4-FFF2-40B4-BE49-F238E27FC236}">
                <a16:creationId xmlns:a16="http://schemas.microsoft.com/office/drawing/2014/main" id="{56BA05D1-54E6-44E0-8AD0-F4CC52E2C1A1}"/>
              </a:ext>
            </a:extLst>
          </p:cNvPr>
          <p:cNvCxnSpPr>
            <a:cxnSpLocks/>
            <a:stCxn id="278" idx="0"/>
            <a:endCxn id="306" idx="3"/>
          </p:cNvCxnSpPr>
          <p:nvPr/>
        </p:nvCxnSpPr>
        <p:spPr>
          <a:xfrm flipH="1" flipV="1">
            <a:off x="2448089" y="2072103"/>
            <a:ext cx="774922" cy="5585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9" name="Connettore diritto 308">
            <a:extLst>
              <a:ext uri="{FF2B5EF4-FFF2-40B4-BE49-F238E27FC236}">
                <a16:creationId xmlns:a16="http://schemas.microsoft.com/office/drawing/2014/main" id="{6AF7D56B-ADCA-425F-B16C-26E211E7F3C2}"/>
              </a:ext>
            </a:extLst>
          </p:cNvPr>
          <p:cNvCxnSpPr>
            <a:cxnSpLocks/>
            <a:stCxn id="281" idx="3"/>
            <a:endCxn id="278" idx="2"/>
          </p:cNvCxnSpPr>
          <p:nvPr/>
        </p:nvCxnSpPr>
        <p:spPr>
          <a:xfrm flipV="1">
            <a:off x="2359126" y="3192787"/>
            <a:ext cx="863885" cy="1379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0" name="Connettore diritto 309">
            <a:extLst>
              <a:ext uri="{FF2B5EF4-FFF2-40B4-BE49-F238E27FC236}">
                <a16:creationId xmlns:a16="http://schemas.microsoft.com/office/drawing/2014/main" id="{F1B07C80-2C54-4201-AE63-FA080A881CCF}"/>
              </a:ext>
            </a:extLst>
          </p:cNvPr>
          <p:cNvCxnSpPr>
            <a:cxnSpLocks/>
            <a:stCxn id="284" idx="0"/>
            <a:endCxn id="278" idx="2"/>
          </p:cNvCxnSpPr>
          <p:nvPr/>
        </p:nvCxnSpPr>
        <p:spPr>
          <a:xfrm flipV="1">
            <a:off x="3119558" y="3192787"/>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11" name="Modello 3D 310" descr="Monitor per PC">
                <a:extLst>
                  <a:ext uri="{FF2B5EF4-FFF2-40B4-BE49-F238E27FC236}">
                    <a16:creationId xmlns:a16="http://schemas.microsoft.com/office/drawing/2014/main" id="{3116B99D-5ACD-4DE3-9791-7D331C9E9045}"/>
                  </a:ext>
                </a:extLst>
              </p:cNvPr>
              <p:cNvGraphicFramePr>
                <a:graphicFrameLocks noChangeAspect="1"/>
              </p:cNvGraphicFramePr>
              <p:nvPr>
                <p:extLst>
                  <p:ext uri="{D42A27DB-BD31-4B8C-83A1-F6EECF244321}">
                    <p14:modId xmlns:p14="http://schemas.microsoft.com/office/powerpoint/2010/main" val="148765596"/>
                  </p:ext>
                </p:extLst>
              </p:nvPr>
            </p:nvGraphicFramePr>
            <p:xfrm>
              <a:off x="1618972" y="5244813"/>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11" name="Modello 3D 310" descr="Monitor per PC">
                <a:extLst>
                  <a:ext uri="{FF2B5EF4-FFF2-40B4-BE49-F238E27FC236}">
                    <a16:creationId xmlns:a16="http://schemas.microsoft.com/office/drawing/2014/main" id="{3116B99D-5ACD-4DE3-9791-7D331C9E9045}"/>
                  </a:ext>
                </a:extLst>
              </p:cNvPr>
              <p:cNvPicPr>
                <a:picLocks noGrp="1" noRot="1" noChangeAspect="1" noMove="1" noResize="1" noEditPoints="1" noAdjustHandles="1" noChangeArrowheads="1" noChangeShapeType="1" noCrop="1"/>
              </p:cNvPicPr>
              <p:nvPr/>
            </p:nvPicPr>
            <p:blipFill>
              <a:blip r:embed="rId12"/>
              <a:stretch>
                <a:fillRect/>
              </a:stretch>
            </p:blipFill>
            <p:spPr>
              <a:xfrm>
                <a:off x="1618972" y="5244813"/>
                <a:ext cx="844971" cy="621363"/>
              </a:xfrm>
              <a:prstGeom prst="rect">
                <a:avLst/>
              </a:prstGeom>
            </p:spPr>
          </p:pic>
        </mc:Fallback>
      </mc:AlternateContent>
      <p:cxnSp>
        <p:nvCxnSpPr>
          <p:cNvPr id="312" name="Connettore diritto 311">
            <a:extLst>
              <a:ext uri="{FF2B5EF4-FFF2-40B4-BE49-F238E27FC236}">
                <a16:creationId xmlns:a16="http://schemas.microsoft.com/office/drawing/2014/main" id="{2888BA47-3C00-43FE-8879-943BE01C9299}"/>
              </a:ext>
            </a:extLst>
          </p:cNvPr>
          <p:cNvCxnSpPr>
            <a:cxnSpLocks/>
            <a:stCxn id="291" idx="2"/>
            <a:endCxn id="311" idx="1"/>
          </p:cNvCxnSpPr>
          <p:nvPr/>
        </p:nvCxnSpPr>
        <p:spPr>
          <a:xfrm>
            <a:off x="984670" y="4673863"/>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3" name="Connettore diritto 312">
            <a:extLst>
              <a:ext uri="{FF2B5EF4-FFF2-40B4-BE49-F238E27FC236}">
                <a16:creationId xmlns:a16="http://schemas.microsoft.com/office/drawing/2014/main" id="{EC4F06EA-527E-48E9-876F-1F443FFFA99C}"/>
              </a:ext>
            </a:extLst>
          </p:cNvPr>
          <p:cNvCxnSpPr>
            <a:cxnSpLocks/>
            <a:stCxn id="311" idx="3"/>
            <a:endCxn id="284" idx="2"/>
          </p:cNvCxnSpPr>
          <p:nvPr/>
        </p:nvCxnSpPr>
        <p:spPr>
          <a:xfrm flipV="1">
            <a:off x="2463943" y="4834239"/>
            <a:ext cx="655615" cy="7212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4" name="Connettore diritto 313">
            <a:extLst>
              <a:ext uri="{FF2B5EF4-FFF2-40B4-BE49-F238E27FC236}">
                <a16:creationId xmlns:a16="http://schemas.microsoft.com/office/drawing/2014/main" id="{17988F50-EE18-448C-B856-B39B48804A67}"/>
              </a:ext>
            </a:extLst>
          </p:cNvPr>
          <p:cNvCxnSpPr>
            <a:cxnSpLocks/>
            <a:stCxn id="287" idx="3"/>
            <a:endCxn id="278" idx="2"/>
          </p:cNvCxnSpPr>
          <p:nvPr/>
        </p:nvCxnSpPr>
        <p:spPr>
          <a:xfrm flipV="1">
            <a:off x="2892489" y="3192787"/>
            <a:ext cx="330522" cy="1577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5" name="Connettore diritto 314">
            <a:extLst>
              <a:ext uri="{FF2B5EF4-FFF2-40B4-BE49-F238E27FC236}">
                <a16:creationId xmlns:a16="http://schemas.microsoft.com/office/drawing/2014/main" id="{3C2330FD-87B5-426F-9CC2-843788EF50F4}"/>
              </a:ext>
            </a:extLst>
          </p:cNvPr>
          <p:cNvCxnSpPr>
            <a:cxnSpLocks/>
            <a:stCxn id="306" idx="2"/>
            <a:endCxn id="293" idx="0"/>
          </p:cNvCxnSpPr>
          <p:nvPr/>
        </p:nvCxnSpPr>
        <p:spPr>
          <a:xfrm>
            <a:off x="2025604" y="2382784"/>
            <a:ext cx="34115" cy="2802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31" name="Gruppo 330">
            <a:extLst>
              <a:ext uri="{FF2B5EF4-FFF2-40B4-BE49-F238E27FC236}">
                <a16:creationId xmlns:a16="http://schemas.microsoft.com/office/drawing/2014/main" id="{C72D1701-E5CA-43B0-8943-DB970313F08C}"/>
              </a:ext>
            </a:extLst>
          </p:cNvPr>
          <p:cNvGrpSpPr/>
          <p:nvPr/>
        </p:nvGrpSpPr>
        <p:grpSpPr>
          <a:xfrm>
            <a:off x="1830167" y="2663374"/>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332" name="Modello 3D 331" descr="Sfera grigio chiaro">
                  <a:extLst>
                    <a:ext uri="{FF2B5EF4-FFF2-40B4-BE49-F238E27FC236}">
                      <a16:creationId xmlns:a16="http://schemas.microsoft.com/office/drawing/2014/main" id="{AFB48644-3A95-4533-9359-3D547F2A8B66}"/>
                    </a:ext>
                  </a:extLst>
                </p:cNvPr>
                <p:cNvGraphicFramePr>
                  <a:graphicFrameLocks noChangeAspect="1"/>
                </p:cNvGraphicFramePr>
                <p:nvPr>
                  <p:extLst>
                    <p:ext uri="{D42A27DB-BD31-4B8C-83A1-F6EECF244321}">
                      <p14:modId xmlns:p14="http://schemas.microsoft.com/office/powerpoint/2010/main" val="956569614"/>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32" name="Modello 3D 331" descr="Sfera grigio chiaro">
                  <a:extLst>
                    <a:ext uri="{FF2B5EF4-FFF2-40B4-BE49-F238E27FC236}">
                      <a16:creationId xmlns:a16="http://schemas.microsoft.com/office/drawing/2014/main" id="{AFB48644-3A95-4533-9359-3D547F2A8B66}"/>
                    </a:ext>
                  </a:extLst>
                </p:cNvPr>
                <p:cNvPicPr>
                  <a:picLocks noGrp="1" noRot="1" noChangeAspect="1" noMove="1" noResize="1" noEditPoints="1" noAdjustHandles="1" noChangeArrowheads="1" noChangeShapeType="1" noCrop="1"/>
                </p:cNvPicPr>
                <p:nvPr/>
              </p:nvPicPr>
              <p:blipFill>
                <a:blip r:embed="rId8"/>
                <a:stretch>
                  <a:fillRect/>
                </a:stretch>
              </p:blipFill>
              <p:spPr>
                <a:xfrm>
                  <a:off x="1830167" y="2663374"/>
                  <a:ext cx="459103" cy="453376"/>
                </a:xfrm>
                <a:prstGeom prst="rect">
                  <a:avLst/>
                </a:prstGeom>
              </p:spPr>
            </p:pic>
          </mc:Fallback>
        </mc:AlternateContent>
        <p:sp>
          <p:nvSpPr>
            <p:cNvPr id="333" name="CasellaDiTesto 332">
              <a:extLst>
                <a:ext uri="{FF2B5EF4-FFF2-40B4-BE49-F238E27FC236}">
                  <a16:creationId xmlns:a16="http://schemas.microsoft.com/office/drawing/2014/main" id="{776D5929-CA80-41DA-8E3D-A1D6F9E198F8}"/>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cxnSp>
        <p:nvCxnSpPr>
          <p:cNvPr id="349" name="Connettore diritto 348">
            <a:extLst>
              <a:ext uri="{FF2B5EF4-FFF2-40B4-BE49-F238E27FC236}">
                <a16:creationId xmlns:a16="http://schemas.microsoft.com/office/drawing/2014/main" id="{0A346AA3-4F0E-4CEC-948B-EBC02DBE9653}"/>
              </a:ext>
            </a:extLst>
          </p:cNvPr>
          <p:cNvCxnSpPr>
            <a:cxnSpLocks/>
          </p:cNvCxnSpPr>
          <p:nvPr/>
        </p:nvCxnSpPr>
        <p:spPr>
          <a:xfrm flipV="1">
            <a:off x="3119558" y="3193087"/>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51" name="Connettore diritto 350">
            <a:extLst>
              <a:ext uri="{FF2B5EF4-FFF2-40B4-BE49-F238E27FC236}">
                <a16:creationId xmlns:a16="http://schemas.microsoft.com/office/drawing/2014/main" id="{60077AE9-7779-4C6E-968B-716ADE656272}"/>
              </a:ext>
            </a:extLst>
          </p:cNvPr>
          <p:cNvCxnSpPr>
            <a:cxnSpLocks/>
          </p:cNvCxnSpPr>
          <p:nvPr/>
        </p:nvCxnSpPr>
        <p:spPr>
          <a:xfrm>
            <a:off x="984670" y="4674163"/>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55" name="Gruppo 354">
            <a:extLst>
              <a:ext uri="{FF2B5EF4-FFF2-40B4-BE49-F238E27FC236}">
                <a16:creationId xmlns:a16="http://schemas.microsoft.com/office/drawing/2014/main" id="{C8FFC4EE-B749-4284-937B-234F08F1589E}"/>
              </a:ext>
            </a:extLst>
          </p:cNvPr>
          <p:cNvGrpSpPr/>
          <p:nvPr/>
        </p:nvGrpSpPr>
        <p:grpSpPr>
          <a:xfrm>
            <a:off x="10354691" y="2258170"/>
            <a:ext cx="569246" cy="562145"/>
            <a:chOff x="7156642" y="2544529"/>
            <a:chExt cx="1083401" cy="1083401"/>
          </a:xfrm>
        </p:grpSpPr>
        <mc:AlternateContent xmlns:mc="http://schemas.openxmlformats.org/markup-compatibility/2006">
          <mc:Choice xmlns:am3d="http://schemas.microsoft.com/office/drawing/2017/model3d" Requires="am3d">
            <p:graphicFrame>
              <p:nvGraphicFramePr>
                <p:cNvPr id="356" name="Modello 3D 355" descr="Sfera grigio chiaro">
                  <a:extLst>
                    <a:ext uri="{FF2B5EF4-FFF2-40B4-BE49-F238E27FC236}">
                      <a16:creationId xmlns:a16="http://schemas.microsoft.com/office/drawing/2014/main" id="{A1E98DDB-EDB5-40A5-AFBD-3CCDDEDF8DE8}"/>
                    </a:ext>
                  </a:extLst>
                </p:cNvPr>
                <p:cNvGraphicFramePr>
                  <a:graphicFrameLocks noChangeAspect="1"/>
                </p:cNvGraphicFramePr>
                <p:nvPr>
                  <p:extLst>
                    <p:ext uri="{D42A27DB-BD31-4B8C-83A1-F6EECF244321}">
                      <p14:modId xmlns:p14="http://schemas.microsoft.com/office/powerpoint/2010/main" val="1120052523"/>
                    </p:ext>
                  </p:extLst>
                </p:nvPr>
              </p:nvGraphicFramePr>
              <p:xfrm>
                <a:off x="7156642" y="2544529"/>
                <a:ext cx="1083401" cy="1083401"/>
              </p:xfrm>
              <a:graphic>
                <a:graphicData uri="http://schemas.microsoft.com/office/drawing/2017/model3d">
                  <am3d:model3d r:embed="rId2">
                    <am3d:spPr>
                      <a:xfrm>
                        <a:off x="0" y="0"/>
                        <a:ext cx="1083401" cy="108340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87444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6" name="Modello 3D 355" descr="Sfera grigio chiaro">
                  <a:extLst>
                    <a:ext uri="{FF2B5EF4-FFF2-40B4-BE49-F238E27FC236}">
                      <a16:creationId xmlns:a16="http://schemas.microsoft.com/office/drawing/2014/main" id="{A1E98DDB-EDB5-40A5-AFBD-3CCDDEDF8DE8}"/>
                    </a:ext>
                  </a:extLst>
                </p:cNvPr>
                <p:cNvPicPr>
                  <a:picLocks noGrp="1" noRot="1" noChangeAspect="1" noMove="1" noResize="1" noEditPoints="1" noAdjustHandles="1" noChangeArrowheads="1" noChangeShapeType="1" noCrop="1"/>
                </p:cNvPicPr>
                <p:nvPr/>
              </p:nvPicPr>
              <p:blipFill>
                <a:blip r:embed="rId3"/>
                <a:stretch>
                  <a:fillRect/>
                </a:stretch>
              </p:blipFill>
              <p:spPr>
                <a:xfrm>
                  <a:off x="10354691" y="2258170"/>
                  <a:ext cx="569246" cy="562145"/>
                </a:xfrm>
                <a:prstGeom prst="rect">
                  <a:avLst/>
                </a:prstGeom>
              </p:spPr>
            </p:pic>
          </mc:Fallback>
        </mc:AlternateContent>
        <p:sp>
          <p:nvSpPr>
            <p:cNvPr id="357" name="CasellaDiTesto 356">
              <a:extLst>
                <a:ext uri="{FF2B5EF4-FFF2-40B4-BE49-F238E27FC236}">
                  <a16:creationId xmlns:a16="http://schemas.microsoft.com/office/drawing/2014/main" id="{3BF68811-BF53-4FA8-A9E7-4671D17F104A}"/>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358" name="Gruppo 357">
            <a:extLst>
              <a:ext uri="{FF2B5EF4-FFF2-40B4-BE49-F238E27FC236}">
                <a16:creationId xmlns:a16="http://schemas.microsoft.com/office/drawing/2014/main" id="{C4F7098D-3F4C-4C2A-BE91-23650DCAAB1B}"/>
              </a:ext>
            </a:extLst>
          </p:cNvPr>
          <p:cNvGrpSpPr/>
          <p:nvPr/>
        </p:nvGrpSpPr>
        <p:grpSpPr>
          <a:xfrm>
            <a:off x="9245653" y="3938599"/>
            <a:ext cx="529776" cy="523168"/>
            <a:chOff x="2029030" y="3475956"/>
            <a:chExt cx="1008280" cy="1008281"/>
          </a:xfrm>
        </p:grpSpPr>
        <mc:AlternateContent xmlns:mc="http://schemas.openxmlformats.org/markup-compatibility/2006">
          <mc:Choice xmlns:am3d="http://schemas.microsoft.com/office/drawing/2017/model3d" Requires="am3d">
            <p:graphicFrame>
              <p:nvGraphicFramePr>
                <p:cNvPr id="359" name="Modello 3D 358" descr="Sfera grigio chiaro">
                  <a:extLst>
                    <a:ext uri="{FF2B5EF4-FFF2-40B4-BE49-F238E27FC236}">
                      <a16:creationId xmlns:a16="http://schemas.microsoft.com/office/drawing/2014/main" id="{FE3F4203-C669-4CEF-B263-1F3E814D308B}"/>
                    </a:ext>
                  </a:extLst>
                </p:cNvPr>
                <p:cNvGraphicFramePr>
                  <a:graphicFrameLocks noChangeAspect="1"/>
                </p:cNvGraphicFramePr>
                <p:nvPr>
                  <p:extLst>
                    <p:ext uri="{D42A27DB-BD31-4B8C-83A1-F6EECF244321}">
                      <p14:modId xmlns:p14="http://schemas.microsoft.com/office/powerpoint/2010/main" val="3625186649"/>
                    </p:ext>
                  </p:extLst>
                </p:nvPr>
              </p:nvGraphicFramePr>
              <p:xfrm>
                <a:off x="2029030" y="3475956"/>
                <a:ext cx="1008280" cy="1008281"/>
              </p:xfrm>
              <a:graphic>
                <a:graphicData uri="http://schemas.microsoft.com/office/drawing/2017/model3d">
                  <am3d:model3d r:embed="rId2">
                    <am3d:spPr>
                      <a:xfrm>
                        <a:off x="0" y="0"/>
                        <a:ext cx="1008280" cy="100828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8475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59" name="Modello 3D 358" descr="Sfera grigio chiaro">
                  <a:extLst>
                    <a:ext uri="{FF2B5EF4-FFF2-40B4-BE49-F238E27FC236}">
                      <a16:creationId xmlns:a16="http://schemas.microsoft.com/office/drawing/2014/main" id="{FE3F4203-C669-4CEF-B263-1F3E814D308B}"/>
                    </a:ext>
                  </a:extLst>
                </p:cNvPr>
                <p:cNvPicPr>
                  <a:picLocks noGrp="1" noRot="1" noChangeAspect="1" noMove="1" noResize="1" noEditPoints="1" noAdjustHandles="1" noChangeArrowheads="1" noChangeShapeType="1" noCrop="1"/>
                </p:cNvPicPr>
                <p:nvPr/>
              </p:nvPicPr>
              <p:blipFill>
                <a:blip r:embed="rId4"/>
                <a:stretch>
                  <a:fillRect/>
                </a:stretch>
              </p:blipFill>
              <p:spPr>
                <a:xfrm>
                  <a:off x="9245653" y="3938599"/>
                  <a:ext cx="529776" cy="523168"/>
                </a:xfrm>
                <a:prstGeom prst="rect">
                  <a:avLst/>
                </a:prstGeom>
              </p:spPr>
            </p:pic>
          </mc:Fallback>
        </mc:AlternateContent>
        <p:sp>
          <p:nvSpPr>
            <p:cNvPr id="360" name="CasellaDiTesto 359">
              <a:extLst>
                <a:ext uri="{FF2B5EF4-FFF2-40B4-BE49-F238E27FC236}">
                  <a16:creationId xmlns:a16="http://schemas.microsoft.com/office/drawing/2014/main" id="{B2BCC10A-4C21-4AA0-8A00-7F5468E36BCA}"/>
                </a:ext>
              </a:extLst>
            </p:cNvPr>
            <p:cNvSpPr txBox="1"/>
            <p:nvPr/>
          </p:nvSpPr>
          <p:spPr>
            <a:xfrm>
              <a:off x="2271076" y="3683512"/>
              <a:ext cx="496579" cy="593166"/>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grpSp>
        <p:nvGrpSpPr>
          <p:cNvPr id="361" name="Gruppo 360">
            <a:extLst>
              <a:ext uri="{FF2B5EF4-FFF2-40B4-BE49-F238E27FC236}">
                <a16:creationId xmlns:a16="http://schemas.microsoft.com/office/drawing/2014/main" id="{6ED3E97F-B0E1-4AC5-8810-A48F87DE6BFC}"/>
              </a:ext>
            </a:extLst>
          </p:cNvPr>
          <p:cNvGrpSpPr/>
          <p:nvPr/>
        </p:nvGrpSpPr>
        <p:grpSpPr>
          <a:xfrm>
            <a:off x="10268338" y="3933396"/>
            <a:ext cx="535045" cy="528371"/>
            <a:chOff x="2096089" y="4934808"/>
            <a:chExt cx="1018309" cy="1018310"/>
          </a:xfrm>
        </p:grpSpPr>
        <mc:AlternateContent xmlns:mc="http://schemas.openxmlformats.org/markup-compatibility/2006">
          <mc:Choice xmlns:am3d="http://schemas.microsoft.com/office/drawing/2017/model3d" Requires="am3d">
            <p:graphicFrame>
              <p:nvGraphicFramePr>
                <p:cNvPr id="362" name="Modello 3D 361" descr="Sfera grigio chiaro">
                  <a:extLst>
                    <a:ext uri="{FF2B5EF4-FFF2-40B4-BE49-F238E27FC236}">
                      <a16:creationId xmlns:a16="http://schemas.microsoft.com/office/drawing/2014/main" id="{C25C9AE1-B6B3-4978-B190-98B121DBC256}"/>
                    </a:ext>
                  </a:extLst>
                </p:cNvPr>
                <p:cNvGraphicFramePr>
                  <a:graphicFrameLocks noChangeAspect="1"/>
                </p:cNvGraphicFramePr>
                <p:nvPr>
                  <p:extLst>
                    <p:ext uri="{D42A27DB-BD31-4B8C-83A1-F6EECF244321}">
                      <p14:modId xmlns:p14="http://schemas.microsoft.com/office/powerpoint/2010/main" val="2279970757"/>
                    </p:ext>
                  </p:extLst>
                </p:nvPr>
              </p:nvGraphicFramePr>
              <p:xfrm>
                <a:off x="2096089" y="4934808"/>
                <a:ext cx="1018309" cy="1018310"/>
              </p:xfrm>
              <a:graphic>
                <a:graphicData uri="http://schemas.microsoft.com/office/drawing/2017/model3d">
                  <am3d:model3d r:embed="rId2">
                    <am3d:spPr>
                      <a:xfrm>
                        <a:off x="0" y="0"/>
                        <a:ext cx="1018309" cy="101831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81790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2" name="Modello 3D 361" descr="Sfera grigio chiaro">
                  <a:extLst>
                    <a:ext uri="{FF2B5EF4-FFF2-40B4-BE49-F238E27FC236}">
                      <a16:creationId xmlns:a16="http://schemas.microsoft.com/office/drawing/2014/main" id="{C25C9AE1-B6B3-4978-B190-98B121DBC256}"/>
                    </a:ext>
                  </a:extLst>
                </p:cNvPr>
                <p:cNvPicPr>
                  <a:picLocks noGrp="1" noRot="1" noChangeAspect="1" noMove="1" noResize="1" noEditPoints="1" noAdjustHandles="1" noChangeArrowheads="1" noChangeShapeType="1" noCrop="1"/>
                </p:cNvPicPr>
                <p:nvPr/>
              </p:nvPicPr>
              <p:blipFill>
                <a:blip r:embed="rId5"/>
                <a:stretch>
                  <a:fillRect/>
                </a:stretch>
              </p:blipFill>
              <p:spPr>
                <a:xfrm>
                  <a:off x="10268338" y="3933396"/>
                  <a:ext cx="535045" cy="528371"/>
                </a:xfrm>
                <a:prstGeom prst="rect">
                  <a:avLst/>
                </a:prstGeom>
              </p:spPr>
            </p:pic>
          </mc:Fallback>
        </mc:AlternateContent>
        <p:sp>
          <p:nvSpPr>
            <p:cNvPr id="363" name="CasellaDiTesto 362">
              <a:extLst>
                <a:ext uri="{FF2B5EF4-FFF2-40B4-BE49-F238E27FC236}">
                  <a16:creationId xmlns:a16="http://schemas.microsoft.com/office/drawing/2014/main" id="{E393B43A-F2AF-4125-84B8-DF99F9155A8A}"/>
                </a:ext>
              </a:extLst>
            </p:cNvPr>
            <p:cNvSpPr txBox="1"/>
            <p:nvPr/>
          </p:nvSpPr>
          <p:spPr>
            <a:xfrm>
              <a:off x="2278359" y="5060886"/>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364" name="Gruppo 363">
            <a:extLst>
              <a:ext uri="{FF2B5EF4-FFF2-40B4-BE49-F238E27FC236}">
                <a16:creationId xmlns:a16="http://schemas.microsoft.com/office/drawing/2014/main" id="{139F2BBA-2AFA-4881-8A9C-B236CB30A0FA}"/>
              </a:ext>
            </a:extLst>
          </p:cNvPr>
          <p:cNvGrpSpPr/>
          <p:nvPr/>
        </p:nvGrpSpPr>
        <p:grpSpPr>
          <a:xfrm>
            <a:off x="9834715" y="2743977"/>
            <a:ext cx="474077" cy="468163"/>
            <a:chOff x="6214478" y="3704781"/>
            <a:chExt cx="902273" cy="902272"/>
          </a:xfrm>
        </p:grpSpPr>
        <mc:AlternateContent xmlns:mc="http://schemas.openxmlformats.org/markup-compatibility/2006">
          <mc:Choice xmlns:am3d="http://schemas.microsoft.com/office/drawing/2017/model3d" Requires="am3d">
            <p:graphicFrame>
              <p:nvGraphicFramePr>
                <p:cNvPr id="365" name="Modello 3D 364" descr="Sfera grigio chiaro">
                  <a:extLst>
                    <a:ext uri="{FF2B5EF4-FFF2-40B4-BE49-F238E27FC236}">
                      <a16:creationId xmlns:a16="http://schemas.microsoft.com/office/drawing/2014/main" id="{7A25D669-A30B-4CA9-AE1E-29E52B8F4966}"/>
                    </a:ext>
                  </a:extLst>
                </p:cNvPr>
                <p:cNvGraphicFramePr>
                  <a:graphicFrameLocks noChangeAspect="1"/>
                </p:cNvGraphicFramePr>
                <p:nvPr>
                  <p:extLst>
                    <p:ext uri="{D42A27DB-BD31-4B8C-83A1-F6EECF244321}">
                      <p14:modId xmlns:p14="http://schemas.microsoft.com/office/powerpoint/2010/main" val="4039189413"/>
                    </p:ext>
                  </p:extLst>
                </p:nvPr>
              </p:nvGraphicFramePr>
              <p:xfrm>
                <a:off x="6214478" y="3704781"/>
                <a:ext cx="902273" cy="902272"/>
              </p:xfrm>
              <a:graphic>
                <a:graphicData uri="http://schemas.microsoft.com/office/drawing/2017/model3d">
                  <am3d:model3d r:embed="rId2">
                    <am3d:spPr>
                      <a:xfrm>
                        <a:off x="0" y="0"/>
                        <a:ext cx="902273" cy="902272"/>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1242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5" name="Modello 3D 364" descr="Sfera grigio chiaro">
                  <a:extLst>
                    <a:ext uri="{FF2B5EF4-FFF2-40B4-BE49-F238E27FC236}">
                      <a16:creationId xmlns:a16="http://schemas.microsoft.com/office/drawing/2014/main" id="{7A25D669-A30B-4CA9-AE1E-29E52B8F4966}"/>
                    </a:ext>
                  </a:extLst>
                </p:cNvPr>
                <p:cNvPicPr>
                  <a:picLocks noGrp="1" noRot="1" noChangeAspect="1" noMove="1" noResize="1" noEditPoints="1" noAdjustHandles="1" noChangeArrowheads="1" noChangeShapeType="1" noCrop="1"/>
                </p:cNvPicPr>
                <p:nvPr/>
              </p:nvPicPr>
              <p:blipFill>
                <a:blip r:embed="rId6"/>
                <a:stretch>
                  <a:fillRect/>
                </a:stretch>
              </p:blipFill>
              <p:spPr>
                <a:xfrm>
                  <a:off x="9834715" y="2743977"/>
                  <a:ext cx="474077" cy="468163"/>
                </a:xfrm>
                <a:prstGeom prst="rect">
                  <a:avLst/>
                </a:prstGeom>
              </p:spPr>
            </p:pic>
          </mc:Fallback>
        </mc:AlternateContent>
        <p:sp>
          <p:nvSpPr>
            <p:cNvPr id="366" name="CasellaDiTesto 365">
              <a:extLst>
                <a:ext uri="{FF2B5EF4-FFF2-40B4-BE49-F238E27FC236}">
                  <a16:creationId xmlns:a16="http://schemas.microsoft.com/office/drawing/2014/main" id="{73604A23-7EF5-415A-B4AE-A862F29FF432}"/>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367" name="Gruppo 366">
            <a:extLst>
              <a:ext uri="{FF2B5EF4-FFF2-40B4-BE49-F238E27FC236}">
                <a16:creationId xmlns:a16="http://schemas.microsoft.com/office/drawing/2014/main" id="{0F0D5A14-A737-41B4-962F-041E232FA45E}"/>
              </a:ext>
            </a:extLst>
          </p:cNvPr>
          <p:cNvGrpSpPr/>
          <p:nvPr/>
        </p:nvGrpSpPr>
        <p:grpSpPr>
          <a:xfrm>
            <a:off x="8183161" y="3933398"/>
            <a:ext cx="473823" cy="467913"/>
            <a:chOff x="1286302" y="3979004"/>
            <a:chExt cx="901789" cy="901790"/>
          </a:xfrm>
        </p:grpSpPr>
        <mc:AlternateContent xmlns:mc="http://schemas.openxmlformats.org/markup-compatibility/2006">
          <mc:Choice xmlns:am3d="http://schemas.microsoft.com/office/drawing/2017/model3d" Requires="am3d">
            <p:graphicFrame>
              <p:nvGraphicFramePr>
                <p:cNvPr id="368" name="Modello 3D 367" descr="Sfera grigio chiaro">
                  <a:extLst>
                    <a:ext uri="{FF2B5EF4-FFF2-40B4-BE49-F238E27FC236}">
                      <a16:creationId xmlns:a16="http://schemas.microsoft.com/office/drawing/2014/main" id="{8C546450-6EEA-48D5-A462-7EADD78CB11B}"/>
                    </a:ext>
                  </a:extLst>
                </p:cNvPr>
                <p:cNvGraphicFramePr>
                  <a:graphicFrameLocks noChangeAspect="1"/>
                </p:cNvGraphicFramePr>
                <p:nvPr>
                  <p:extLst>
                    <p:ext uri="{D42A27DB-BD31-4B8C-83A1-F6EECF244321}">
                      <p14:modId xmlns:p14="http://schemas.microsoft.com/office/powerpoint/2010/main" val="1210490933"/>
                    </p:ext>
                  </p:extLst>
                </p:nvPr>
              </p:nvGraphicFramePr>
              <p:xfrm>
                <a:off x="1286302" y="3979004"/>
                <a:ext cx="901789" cy="901790"/>
              </p:xfrm>
              <a:graphic>
                <a:graphicData uri="http://schemas.microsoft.com/office/drawing/2017/model3d">
                  <am3d:model3d r:embed="rId2">
                    <am3d:spPr>
                      <a:xfrm>
                        <a:off x="0" y="0"/>
                        <a:ext cx="901789" cy="90179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1204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68" name="Modello 3D 367" descr="Sfera grigio chiaro">
                  <a:extLst>
                    <a:ext uri="{FF2B5EF4-FFF2-40B4-BE49-F238E27FC236}">
                      <a16:creationId xmlns:a16="http://schemas.microsoft.com/office/drawing/2014/main" id="{8C546450-6EEA-48D5-A462-7EADD78CB11B}"/>
                    </a:ext>
                  </a:extLst>
                </p:cNvPr>
                <p:cNvPicPr>
                  <a:picLocks noGrp="1" noRot="1" noChangeAspect="1" noMove="1" noResize="1" noEditPoints="1" noAdjustHandles="1" noChangeArrowheads="1" noChangeShapeType="1" noCrop="1"/>
                </p:cNvPicPr>
                <p:nvPr/>
              </p:nvPicPr>
              <p:blipFill>
                <a:blip r:embed="rId7"/>
                <a:stretch>
                  <a:fillRect/>
                </a:stretch>
              </p:blipFill>
              <p:spPr>
                <a:xfrm>
                  <a:off x="8183161" y="3933398"/>
                  <a:ext cx="473823" cy="467913"/>
                </a:xfrm>
                <a:prstGeom prst="rect">
                  <a:avLst/>
                </a:prstGeom>
              </p:spPr>
            </p:pic>
          </mc:Fallback>
        </mc:AlternateContent>
        <p:sp>
          <p:nvSpPr>
            <p:cNvPr id="369" name="CasellaDiTesto 368">
              <a:extLst>
                <a:ext uri="{FF2B5EF4-FFF2-40B4-BE49-F238E27FC236}">
                  <a16:creationId xmlns:a16="http://schemas.microsoft.com/office/drawing/2014/main" id="{9051C70C-3D79-4FC1-BC5D-C3D04F03BB9F}"/>
                </a:ext>
              </a:extLst>
            </p:cNvPr>
            <p:cNvSpPr txBox="1"/>
            <p:nvPr/>
          </p:nvSpPr>
          <p:spPr>
            <a:xfrm>
              <a:off x="1452556" y="4095056"/>
              <a:ext cx="496578" cy="593166"/>
            </a:xfrm>
            <a:prstGeom prst="rect">
              <a:avLst/>
            </a:prstGeom>
            <a:noFill/>
          </p:spPr>
          <p:txBody>
            <a:bodyPr wrap="square" rtlCol="0">
              <a:spAutoFit/>
            </a:bodyPr>
            <a:lstStyle/>
            <a:p>
              <a:pPr algn="ctr"/>
              <a:r>
                <a:rPr lang="en-US" sz="1400" b="1" dirty="0">
                  <a:latin typeface="LEMON MILK" panose="00000500000000000000" pitchFamily="50" charset="0"/>
                </a:rPr>
                <a:t>H</a:t>
              </a:r>
            </a:p>
          </p:txBody>
        </p:sp>
      </p:grpSp>
      <p:grpSp>
        <p:nvGrpSpPr>
          <p:cNvPr id="370" name="Gruppo 369">
            <a:extLst>
              <a:ext uri="{FF2B5EF4-FFF2-40B4-BE49-F238E27FC236}">
                <a16:creationId xmlns:a16="http://schemas.microsoft.com/office/drawing/2014/main" id="{3B2E087A-D3C9-4817-9498-70E9E084E9B0}"/>
              </a:ext>
            </a:extLst>
          </p:cNvPr>
          <p:cNvGrpSpPr/>
          <p:nvPr/>
        </p:nvGrpSpPr>
        <p:grpSpPr>
          <a:xfrm>
            <a:off x="9246470" y="2290602"/>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371" name="Modello 3D 370" descr="Sfera grigio chiaro">
                  <a:extLst>
                    <a:ext uri="{FF2B5EF4-FFF2-40B4-BE49-F238E27FC236}">
                      <a16:creationId xmlns:a16="http://schemas.microsoft.com/office/drawing/2014/main" id="{C01FD979-6582-4B31-801F-096FF6854D0D}"/>
                    </a:ext>
                  </a:extLst>
                </p:cNvPr>
                <p:cNvGraphicFramePr>
                  <a:graphicFrameLocks noChangeAspect="1"/>
                </p:cNvGraphicFramePr>
                <p:nvPr>
                  <p:extLst>
                    <p:ext uri="{D42A27DB-BD31-4B8C-83A1-F6EECF244321}">
                      <p14:modId xmlns:p14="http://schemas.microsoft.com/office/powerpoint/2010/main" val="343767108"/>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1" name="Modello 3D 370" descr="Sfera grigio chiaro">
                  <a:extLst>
                    <a:ext uri="{FF2B5EF4-FFF2-40B4-BE49-F238E27FC236}">
                      <a16:creationId xmlns:a16="http://schemas.microsoft.com/office/drawing/2014/main" id="{C01FD979-6582-4B31-801F-096FF6854D0D}"/>
                    </a:ext>
                  </a:extLst>
                </p:cNvPr>
                <p:cNvPicPr>
                  <a:picLocks noGrp="1" noRot="1" noChangeAspect="1" noMove="1" noResize="1" noEditPoints="1" noAdjustHandles="1" noChangeArrowheads="1" noChangeShapeType="1" noCrop="1"/>
                </p:cNvPicPr>
                <p:nvPr/>
              </p:nvPicPr>
              <p:blipFill>
                <a:blip r:embed="rId8"/>
                <a:stretch>
                  <a:fillRect/>
                </a:stretch>
              </p:blipFill>
              <p:spPr>
                <a:xfrm>
                  <a:off x="9246470" y="2290602"/>
                  <a:ext cx="459103" cy="453376"/>
                </a:xfrm>
                <a:prstGeom prst="rect">
                  <a:avLst/>
                </a:prstGeom>
              </p:spPr>
            </p:pic>
          </mc:Fallback>
        </mc:AlternateContent>
        <p:sp>
          <p:nvSpPr>
            <p:cNvPr id="372" name="CasellaDiTesto 371">
              <a:extLst>
                <a:ext uri="{FF2B5EF4-FFF2-40B4-BE49-F238E27FC236}">
                  <a16:creationId xmlns:a16="http://schemas.microsoft.com/office/drawing/2014/main" id="{499A6905-144A-4D24-93F0-A1EBDBDBC471}"/>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373" name="Gruppo 372">
            <a:extLst>
              <a:ext uri="{FF2B5EF4-FFF2-40B4-BE49-F238E27FC236}">
                <a16:creationId xmlns:a16="http://schemas.microsoft.com/office/drawing/2014/main" id="{B5CFDBC2-6158-43A4-BDF7-A3E7BA2B4D78}"/>
              </a:ext>
            </a:extLst>
          </p:cNvPr>
          <p:cNvGrpSpPr/>
          <p:nvPr/>
        </p:nvGrpSpPr>
        <p:grpSpPr>
          <a:xfrm>
            <a:off x="7971388" y="2304200"/>
            <a:ext cx="473823" cy="467912"/>
            <a:chOff x="8758910" y="3645182"/>
            <a:chExt cx="899015" cy="901791"/>
          </a:xfrm>
        </p:grpSpPr>
        <mc:AlternateContent xmlns:mc="http://schemas.openxmlformats.org/markup-compatibility/2006">
          <mc:Choice xmlns:am3d="http://schemas.microsoft.com/office/drawing/2017/model3d" Requires="am3d">
            <p:graphicFrame>
              <p:nvGraphicFramePr>
                <p:cNvPr id="374" name="Modello 3D 373" descr="Sfera grigio chiaro">
                  <a:extLst>
                    <a:ext uri="{FF2B5EF4-FFF2-40B4-BE49-F238E27FC236}">
                      <a16:creationId xmlns:a16="http://schemas.microsoft.com/office/drawing/2014/main" id="{3C168E21-C5B4-4FE7-AF4C-1DD356BF38E9}"/>
                    </a:ext>
                  </a:extLst>
                </p:cNvPr>
                <p:cNvGraphicFramePr>
                  <a:graphicFrameLocks noChangeAspect="1"/>
                </p:cNvGraphicFramePr>
                <p:nvPr>
                  <p:extLst>
                    <p:ext uri="{D42A27DB-BD31-4B8C-83A1-F6EECF244321}">
                      <p14:modId xmlns:p14="http://schemas.microsoft.com/office/powerpoint/2010/main" val="3938482970"/>
                    </p:ext>
                  </p:extLst>
                </p:nvPr>
              </p:nvGraphicFramePr>
              <p:xfrm>
                <a:off x="8758910" y="3645182"/>
                <a:ext cx="899015" cy="901791"/>
              </p:xfrm>
              <a:graphic>
                <a:graphicData uri="http://schemas.microsoft.com/office/drawing/2017/model3d">
                  <am3d:model3d r:embed="rId2">
                    <am3d:spPr>
                      <a:xfrm>
                        <a:off x="0" y="0"/>
                        <a:ext cx="899015" cy="901791"/>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9"/>
                    </am3d:raster>
                    <am3d:objViewport viewportSz="7120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4" name="Modello 3D 373" descr="Sfera grigio chiaro">
                  <a:extLst>
                    <a:ext uri="{FF2B5EF4-FFF2-40B4-BE49-F238E27FC236}">
                      <a16:creationId xmlns:a16="http://schemas.microsoft.com/office/drawing/2014/main" id="{3C168E21-C5B4-4FE7-AF4C-1DD356BF38E9}"/>
                    </a:ext>
                  </a:extLst>
                </p:cNvPr>
                <p:cNvPicPr>
                  <a:picLocks noGrp="1" noRot="1" noChangeAspect="1" noMove="1" noResize="1" noEditPoints="1" noAdjustHandles="1" noChangeArrowheads="1" noChangeShapeType="1" noCrop="1"/>
                </p:cNvPicPr>
                <p:nvPr/>
              </p:nvPicPr>
              <p:blipFill>
                <a:blip r:embed="rId9"/>
                <a:stretch>
                  <a:fillRect/>
                </a:stretch>
              </p:blipFill>
              <p:spPr>
                <a:xfrm>
                  <a:off x="7971388" y="2304200"/>
                  <a:ext cx="473823" cy="467912"/>
                </a:xfrm>
                <a:prstGeom prst="rect">
                  <a:avLst/>
                </a:prstGeom>
              </p:spPr>
            </p:pic>
          </mc:Fallback>
        </mc:AlternateContent>
        <p:sp>
          <p:nvSpPr>
            <p:cNvPr id="375" name="CasellaDiTesto 374">
              <a:extLst>
                <a:ext uri="{FF2B5EF4-FFF2-40B4-BE49-F238E27FC236}">
                  <a16:creationId xmlns:a16="http://schemas.microsoft.com/office/drawing/2014/main" id="{9D11F081-B5DB-4DA4-9D94-0828D0B48358}"/>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376" name="Gruppo 375">
            <a:extLst>
              <a:ext uri="{FF2B5EF4-FFF2-40B4-BE49-F238E27FC236}">
                <a16:creationId xmlns:a16="http://schemas.microsoft.com/office/drawing/2014/main" id="{C52AC0CB-AE5E-4F2E-953A-8715F37FA894}"/>
              </a:ext>
            </a:extLst>
          </p:cNvPr>
          <p:cNvGrpSpPr/>
          <p:nvPr/>
        </p:nvGrpSpPr>
        <p:grpSpPr>
          <a:xfrm>
            <a:off x="8662025" y="2732261"/>
            <a:ext cx="535661" cy="528979"/>
            <a:chOff x="7328689" y="2428043"/>
            <a:chExt cx="1019480" cy="1019480"/>
          </a:xfrm>
        </p:grpSpPr>
        <mc:AlternateContent xmlns:mc="http://schemas.openxmlformats.org/markup-compatibility/2006">
          <mc:Choice xmlns:am3d="http://schemas.microsoft.com/office/drawing/2017/model3d" Requires="am3d">
            <p:graphicFrame>
              <p:nvGraphicFramePr>
                <p:cNvPr id="377" name="Modello 3D 376" descr="Sfera grigio chiaro">
                  <a:extLst>
                    <a:ext uri="{FF2B5EF4-FFF2-40B4-BE49-F238E27FC236}">
                      <a16:creationId xmlns:a16="http://schemas.microsoft.com/office/drawing/2014/main" id="{1716DD6F-B2E6-4214-818C-FC938ECD22FF}"/>
                    </a:ext>
                  </a:extLst>
                </p:cNvPr>
                <p:cNvGraphicFramePr>
                  <a:graphicFrameLocks noChangeAspect="1"/>
                </p:cNvGraphicFramePr>
                <p:nvPr>
                  <p:extLst>
                    <p:ext uri="{D42A27DB-BD31-4B8C-83A1-F6EECF244321}">
                      <p14:modId xmlns:p14="http://schemas.microsoft.com/office/powerpoint/2010/main" val="1496192514"/>
                    </p:ext>
                  </p:extLst>
                </p:nvPr>
              </p:nvGraphicFramePr>
              <p:xfrm>
                <a:off x="7328689" y="2428043"/>
                <a:ext cx="1019480" cy="1019480"/>
              </p:xfrm>
              <a:graphic>
                <a:graphicData uri="http://schemas.microsoft.com/office/drawing/2017/model3d">
                  <am3d:model3d r:embed="rId2">
                    <am3d:spPr>
                      <a:xfrm>
                        <a:off x="0" y="0"/>
                        <a:ext cx="1019480" cy="1019480"/>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10"/>
                    </am3d:raster>
                    <am3d:objViewport viewportSz="818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7" name="Modello 3D 376" descr="Sfera grigio chiaro">
                  <a:extLst>
                    <a:ext uri="{FF2B5EF4-FFF2-40B4-BE49-F238E27FC236}">
                      <a16:creationId xmlns:a16="http://schemas.microsoft.com/office/drawing/2014/main" id="{1716DD6F-B2E6-4214-818C-FC938ECD22FF}"/>
                    </a:ext>
                  </a:extLst>
                </p:cNvPr>
                <p:cNvPicPr>
                  <a:picLocks noGrp="1" noRot="1" noChangeAspect="1" noMove="1" noResize="1" noEditPoints="1" noAdjustHandles="1" noChangeArrowheads="1" noChangeShapeType="1" noCrop="1"/>
                </p:cNvPicPr>
                <p:nvPr/>
              </p:nvPicPr>
              <p:blipFill>
                <a:blip r:embed="rId10"/>
                <a:stretch>
                  <a:fillRect/>
                </a:stretch>
              </p:blipFill>
              <p:spPr>
                <a:xfrm>
                  <a:off x="8662025" y="2732261"/>
                  <a:ext cx="535661" cy="528979"/>
                </a:xfrm>
                <a:prstGeom prst="rect">
                  <a:avLst/>
                </a:prstGeom>
              </p:spPr>
            </p:pic>
          </mc:Fallback>
        </mc:AlternateContent>
        <p:sp>
          <p:nvSpPr>
            <p:cNvPr id="378" name="CasellaDiTesto 377">
              <a:extLst>
                <a:ext uri="{FF2B5EF4-FFF2-40B4-BE49-F238E27FC236}">
                  <a16:creationId xmlns:a16="http://schemas.microsoft.com/office/drawing/2014/main" id="{74A4A6EE-116E-4696-A720-77D6D3715B03}"/>
                </a:ext>
              </a:extLst>
            </p:cNvPr>
            <p:cNvSpPr txBox="1"/>
            <p:nvPr/>
          </p:nvSpPr>
          <p:spPr>
            <a:xfrm>
              <a:off x="7461305" y="2597748"/>
              <a:ext cx="496578" cy="593166"/>
            </a:xfrm>
            <a:prstGeom prst="rect">
              <a:avLst/>
            </a:prstGeom>
            <a:noFill/>
          </p:spPr>
          <p:txBody>
            <a:bodyPr wrap="square" rtlCol="0">
              <a:spAutoFit/>
            </a:bodyPr>
            <a:lstStyle/>
            <a:p>
              <a:pPr algn="ctr"/>
              <a:r>
                <a:rPr lang="en-US" sz="1400" b="1" dirty="0">
                  <a:latin typeface="LEMON MILK" panose="00000500000000000000" pitchFamily="50" charset="0"/>
                </a:rPr>
                <a:t>g</a:t>
              </a:r>
              <a:endParaRPr lang="it-IT" sz="1400" b="1" dirty="0">
                <a:latin typeface="LEMON MILK" panose="00000500000000000000" pitchFamily="50" charset="0"/>
              </a:endParaRPr>
            </a:p>
          </p:txBody>
        </p:sp>
      </p:grpSp>
      <p:cxnSp>
        <p:nvCxnSpPr>
          <p:cNvPr id="379" name="Connettore diritto 378">
            <a:extLst>
              <a:ext uri="{FF2B5EF4-FFF2-40B4-BE49-F238E27FC236}">
                <a16:creationId xmlns:a16="http://schemas.microsoft.com/office/drawing/2014/main" id="{1D44010B-D801-438A-9C91-3D5AB938BD95}"/>
              </a:ext>
            </a:extLst>
          </p:cNvPr>
          <p:cNvCxnSpPr>
            <a:cxnSpLocks/>
            <a:stCxn id="365" idx="1"/>
            <a:endCxn id="371" idx="2"/>
          </p:cNvCxnSpPr>
          <p:nvPr/>
        </p:nvCxnSpPr>
        <p:spPr>
          <a:xfrm flipH="1" flipV="1">
            <a:off x="9476022" y="2743978"/>
            <a:ext cx="358693" cy="234081"/>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80" name="Connettore diritto 379">
            <a:extLst>
              <a:ext uri="{FF2B5EF4-FFF2-40B4-BE49-F238E27FC236}">
                <a16:creationId xmlns:a16="http://schemas.microsoft.com/office/drawing/2014/main" id="{850E44B7-EF4D-4A7D-911E-71E26ED61023}"/>
              </a:ext>
            </a:extLst>
          </p:cNvPr>
          <p:cNvCxnSpPr>
            <a:cxnSpLocks/>
            <a:stCxn id="371" idx="2"/>
            <a:endCxn id="377" idx="3"/>
          </p:cNvCxnSpPr>
          <p:nvPr/>
        </p:nvCxnSpPr>
        <p:spPr>
          <a:xfrm flipH="1">
            <a:off x="9197686" y="2743978"/>
            <a:ext cx="278336" cy="25277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1" name="Connettore diritto 380">
            <a:extLst>
              <a:ext uri="{FF2B5EF4-FFF2-40B4-BE49-F238E27FC236}">
                <a16:creationId xmlns:a16="http://schemas.microsoft.com/office/drawing/2014/main" id="{105EED3C-3809-4B44-B50C-895ECB014FAA}"/>
              </a:ext>
            </a:extLst>
          </p:cNvPr>
          <p:cNvCxnSpPr>
            <a:cxnSpLocks/>
            <a:stCxn id="374" idx="2"/>
            <a:endCxn id="377" idx="1"/>
          </p:cNvCxnSpPr>
          <p:nvPr/>
        </p:nvCxnSpPr>
        <p:spPr>
          <a:xfrm>
            <a:off x="8208300" y="2772112"/>
            <a:ext cx="453725" cy="2246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2" name="Connettore diritto 381">
            <a:extLst>
              <a:ext uri="{FF2B5EF4-FFF2-40B4-BE49-F238E27FC236}">
                <a16:creationId xmlns:a16="http://schemas.microsoft.com/office/drawing/2014/main" id="{9771E918-BD5A-49AE-A976-D67B25823C3E}"/>
              </a:ext>
            </a:extLst>
          </p:cNvPr>
          <p:cNvCxnSpPr>
            <a:cxnSpLocks/>
            <a:stCxn id="374" idx="2"/>
            <a:endCxn id="368" idx="0"/>
          </p:cNvCxnSpPr>
          <p:nvPr/>
        </p:nvCxnSpPr>
        <p:spPr>
          <a:xfrm>
            <a:off x="8208300" y="2772112"/>
            <a:ext cx="211773" cy="116128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83" name="Connettore diritto 382">
            <a:extLst>
              <a:ext uri="{FF2B5EF4-FFF2-40B4-BE49-F238E27FC236}">
                <a16:creationId xmlns:a16="http://schemas.microsoft.com/office/drawing/2014/main" id="{737425C2-FA63-4C32-9513-1CC2FDED500D}"/>
              </a:ext>
            </a:extLst>
          </p:cNvPr>
          <p:cNvCxnSpPr>
            <a:cxnSpLocks/>
            <a:stCxn id="374" idx="2"/>
            <a:endCxn id="359" idx="1"/>
          </p:cNvCxnSpPr>
          <p:nvPr/>
        </p:nvCxnSpPr>
        <p:spPr>
          <a:xfrm>
            <a:off x="8208300" y="2772112"/>
            <a:ext cx="1037353" cy="14280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84" name="Modello 3D 383" descr="Monitor per PC">
                <a:extLst>
                  <a:ext uri="{FF2B5EF4-FFF2-40B4-BE49-F238E27FC236}">
                    <a16:creationId xmlns:a16="http://schemas.microsoft.com/office/drawing/2014/main" id="{D7EDC0C1-7F59-475B-A8D7-7FB41D693F1A}"/>
                  </a:ext>
                </a:extLst>
              </p:cNvPr>
              <p:cNvGraphicFramePr>
                <a:graphicFrameLocks noChangeAspect="1"/>
              </p:cNvGraphicFramePr>
              <p:nvPr>
                <p:extLst>
                  <p:ext uri="{D42A27DB-BD31-4B8C-83A1-F6EECF244321}">
                    <p14:modId xmlns:p14="http://schemas.microsoft.com/office/powerpoint/2010/main" val="357291384"/>
                  </p:ext>
                </p:extLst>
              </p:nvPr>
            </p:nvGraphicFramePr>
            <p:xfrm>
              <a:off x="9019421" y="1388949"/>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84" name="Modello 3D 383" descr="Monitor per PC">
                <a:extLst>
                  <a:ext uri="{FF2B5EF4-FFF2-40B4-BE49-F238E27FC236}">
                    <a16:creationId xmlns:a16="http://schemas.microsoft.com/office/drawing/2014/main" id="{D7EDC0C1-7F59-475B-A8D7-7FB41D693F1A}"/>
                  </a:ext>
                </a:extLst>
              </p:cNvPr>
              <p:cNvPicPr>
                <a:picLocks noGrp="1" noRot="1" noChangeAspect="1" noMove="1" noResize="1" noEditPoints="1" noAdjustHandles="1" noChangeArrowheads="1" noChangeShapeType="1" noCrop="1"/>
              </p:cNvPicPr>
              <p:nvPr/>
            </p:nvPicPr>
            <p:blipFill>
              <a:blip r:embed="rId12"/>
              <a:stretch>
                <a:fillRect/>
              </a:stretch>
            </p:blipFill>
            <p:spPr>
              <a:xfrm>
                <a:off x="9019421" y="1388949"/>
                <a:ext cx="844971" cy="621363"/>
              </a:xfrm>
              <a:prstGeom prst="rect">
                <a:avLst/>
              </a:prstGeom>
            </p:spPr>
          </p:pic>
        </mc:Fallback>
      </mc:AlternateContent>
      <p:cxnSp>
        <p:nvCxnSpPr>
          <p:cNvPr id="385" name="Connettore diritto 384">
            <a:extLst>
              <a:ext uri="{FF2B5EF4-FFF2-40B4-BE49-F238E27FC236}">
                <a16:creationId xmlns:a16="http://schemas.microsoft.com/office/drawing/2014/main" id="{65197025-449D-49A6-A59F-65DFD90A5416}"/>
              </a:ext>
            </a:extLst>
          </p:cNvPr>
          <p:cNvCxnSpPr>
            <a:cxnSpLocks/>
            <a:stCxn id="374" idx="0"/>
            <a:endCxn id="384" idx="1"/>
          </p:cNvCxnSpPr>
          <p:nvPr/>
        </p:nvCxnSpPr>
        <p:spPr>
          <a:xfrm flipV="1">
            <a:off x="8208300" y="1699631"/>
            <a:ext cx="811121" cy="604569"/>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86" name="Connettore diritto 385">
            <a:extLst>
              <a:ext uri="{FF2B5EF4-FFF2-40B4-BE49-F238E27FC236}">
                <a16:creationId xmlns:a16="http://schemas.microsoft.com/office/drawing/2014/main" id="{471B67A8-4F53-4950-8D6B-9376A940B157}"/>
              </a:ext>
            </a:extLst>
          </p:cNvPr>
          <p:cNvCxnSpPr>
            <a:cxnSpLocks/>
            <a:stCxn id="356" idx="0"/>
            <a:endCxn id="384" idx="3"/>
          </p:cNvCxnSpPr>
          <p:nvPr/>
        </p:nvCxnSpPr>
        <p:spPr>
          <a:xfrm flipH="1" flipV="1">
            <a:off x="9864392" y="1699631"/>
            <a:ext cx="774922" cy="55853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7" name="Connettore diritto 386">
            <a:extLst>
              <a:ext uri="{FF2B5EF4-FFF2-40B4-BE49-F238E27FC236}">
                <a16:creationId xmlns:a16="http://schemas.microsoft.com/office/drawing/2014/main" id="{6D9AE8BF-0E12-44D4-B19D-08B3530F1F2C}"/>
              </a:ext>
            </a:extLst>
          </p:cNvPr>
          <p:cNvCxnSpPr>
            <a:cxnSpLocks/>
            <a:stCxn id="359" idx="3"/>
            <a:endCxn id="356" idx="2"/>
          </p:cNvCxnSpPr>
          <p:nvPr/>
        </p:nvCxnSpPr>
        <p:spPr>
          <a:xfrm flipV="1">
            <a:off x="9775429" y="2820315"/>
            <a:ext cx="863885" cy="137986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88" name="Connettore diritto 387">
            <a:extLst>
              <a:ext uri="{FF2B5EF4-FFF2-40B4-BE49-F238E27FC236}">
                <a16:creationId xmlns:a16="http://schemas.microsoft.com/office/drawing/2014/main" id="{4853B8F2-3164-4090-966D-88A39E56E2B7}"/>
              </a:ext>
            </a:extLst>
          </p:cNvPr>
          <p:cNvCxnSpPr>
            <a:cxnSpLocks/>
            <a:stCxn id="362" idx="0"/>
            <a:endCxn id="356" idx="2"/>
          </p:cNvCxnSpPr>
          <p:nvPr/>
        </p:nvCxnSpPr>
        <p:spPr>
          <a:xfrm flipV="1">
            <a:off x="10535861" y="2820315"/>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389" name="Modello 3D 388" descr="Monitor per PC">
                <a:extLst>
                  <a:ext uri="{FF2B5EF4-FFF2-40B4-BE49-F238E27FC236}">
                    <a16:creationId xmlns:a16="http://schemas.microsoft.com/office/drawing/2014/main" id="{08CAD50F-C198-45C8-9A91-EF732AAB2BB6}"/>
                  </a:ext>
                </a:extLst>
              </p:cNvPr>
              <p:cNvGraphicFramePr>
                <a:graphicFrameLocks noChangeAspect="1"/>
              </p:cNvGraphicFramePr>
              <p:nvPr>
                <p:extLst>
                  <p:ext uri="{D42A27DB-BD31-4B8C-83A1-F6EECF244321}">
                    <p14:modId xmlns:p14="http://schemas.microsoft.com/office/powerpoint/2010/main" val="3624437909"/>
                  </p:ext>
                </p:extLst>
              </p:nvPr>
            </p:nvGraphicFramePr>
            <p:xfrm>
              <a:off x="9035275" y="4872341"/>
              <a:ext cx="844971" cy="621363"/>
            </p:xfrm>
            <a:graphic>
              <a:graphicData uri="http://schemas.microsoft.com/office/drawing/2017/model3d">
                <am3d:model3d r:embed="rId11">
                  <am3d:spPr>
                    <a:xfrm>
                      <a:off x="0" y="0"/>
                      <a:ext cx="844971" cy="621363"/>
                    </a:xfrm>
                    <a:prstGeom prst="rect">
                      <a:avLst/>
                    </a:prstGeom>
                  </am3d:spPr>
                  <am3d:camera>
                    <am3d:pos x="0" y="0" z="59095596"/>
                    <am3d:up dx="0" dy="36000000" dz="0"/>
                    <am3d:lookAt x="0" y="0" z="0"/>
                    <am3d:perspective fov="2700000"/>
                  </am3d:camera>
                  <am3d:trans>
                    <am3d:meterPerModelUnit n="2000000" d="1000000"/>
                    <am3d:preTrans dx="0" dy="0" dz="0"/>
                    <am3d:scale>
                      <am3d:sx n="1000000" d="1000000"/>
                      <am3d:sy n="1000000" d="1000000"/>
                      <am3d:sz n="1000000" d="1000000"/>
                    </am3d:scale>
                    <am3d:rot/>
                    <am3d:postTrans dx="0" dy="0" dz="0"/>
                  </am3d:trans>
                  <am3d:raster rName="Office3DRenderer" rVer="16.0.8326">
                    <am3d:blip r:embed="rId12"/>
                  </am3d:raster>
                  <am3d:objViewport viewportSz="11052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89" name="Modello 3D 388" descr="Monitor per PC">
                <a:extLst>
                  <a:ext uri="{FF2B5EF4-FFF2-40B4-BE49-F238E27FC236}">
                    <a16:creationId xmlns:a16="http://schemas.microsoft.com/office/drawing/2014/main" id="{08CAD50F-C198-45C8-9A91-EF732AAB2BB6}"/>
                  </a:ext>
                </a:extLst>
              </p:cNvPr>
              <p:cNvPicPr>
                <a:picLocks noGrp="1" noRot="1" noChangeAspect="1" noMove="1" noResize="1" noEditPoints="1" noAdjustHandles="1" noChangeArrowheads="1" noChangeShapeType="1" noCrop="1"/>
              </p:cNvPicPr>
              <p:nvPr/>
            </p:nvPicPr>
            <p:blipFill>
              <a:blip r:embed="rId12"/>
              <a:stretch>
                <a:fillRect/>
              </a:stretch>
            </p:blipFill>
            <p:spPr>
              <a:xfrm>
                <a:off x="9035275" y="4872341"/>
                <a:ext cx="844971" cy="621363"/>
              </a:xfrm>
              <a:prstGeom prst="rect">
                <a:avLst/>
              </a:prstGeom>
            </p:spPr>
          </p:pic>
        </mc:Fallback>
      </mc:AlternateContent>
      <p:cxnSp>
        <p:nvCxnSpPr>
          <p:cNvPr id="390" name="Connettore diritto 389">
            <a:extLst>
              <a:ext uri="{FF2B5EF4-FFF2-40B4-BE49-F238E27FC236}">
                <a16:creationId xmlns:a16="http://schemas.microsoft.com/office/drawing/2014/main" id="{532D6E8F-50D4-4657-A716-74494590C0B0}"/>
              </a:ext>
            </a:extLst>
          </p:cNvPr>
          <p:cNvCxnSpPr>
            <a:cxnSpLocks/>
            <a:stCxn id="369" idx="2"/>
            <a:endCxn id="389" idx="1"/>
          </p:cNvCxnSpPr>
          <p:nvPr/>
        </p:nvCxnSpPr>
        <p:spPr>
          <a:xfrm>
            <a:off x="8400973" y="4301391"/>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1" name="Connettore diritto 390">
            <a:extLst>
              <a:ext uri="{FF2B5EF4-FFF2-40B4-BE49-F238E27FC236}">
                <a16:creationId xmlns:a16="http://schemas.microsoft.com/office/drawing/2014/main" id="{62336491-E441-45C7-A82F-A0D3BBB7EDD6}"/>
              </a:ext>
            </a:extLst>
          </p:cNvPr>
          <p:cNvCxnSpPr>
            <a:cxnSpLocks/>
            <a:stCxn id="389" idx="3"/>
            <a:endCxn id="362" idx="2"/>
          </p:cNvCxnSpPr>
          <p:nvPr/>
        </p:nvCxnSpPr>
        <p:spPr>
          <a:xfrm flipV="1">
            <a:off x="9880246" y="4461767"/>
            <a:ext cx="655615" cy="7212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2" name="Connettore diritto 391">
            <a:extLst>
              <a:ext uri="{FF2B5EF4-FFF2-40B4-BE49-F238E27FC236}">
                <a16:creationId xmlns:a16="http://schemas.microsoft.com/office/drawing/2014/main" id="{4EEF7D58-11EE-4BF2-B672-662436DC223E}"/>
              </a:ext>
            </a:extLst>
          </p:cNvPr>
          <p:cNvCxnSpPr>
            <a:cxnSpLocks/>
            <a:stCxn id="365" idx="3"/>
            <a:endCxn id="356" idx="2"/>
          </p:cNvCxnSpPr>
          <p:nvPr/>
        </p:nvCxnSpPr>
        <p:spPr>
          <a:xfrm flipV="1">
            <a:off x="10308792" y="2820315"/>
            <a:ext cx="330522" cy="1577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3" name="Connettore diritto 392">
            <a:extLst>
              <a:ext uri="{FF2B5EF4-FFF2-40B4-BE49-F238E27FC236}">
                <a16:creationId xmlns:a16="http://schemas.microsoft.com/office/drawing/2014/main" id="{985D90E7-8AE1-4D5F-BA9C-73FD80AF561A}"/>
              </a:ext>
            </a:extLst>
          </p:cNvPr>
          <p:cNvCxnSpPr>
            <a:cxnSpLocks/>
            <a:stCxn id="384" idx="2"/>
            <a:endCxn id="371" idx="0"/>
          </p:cNvCxnSpPr>
          <p:nvPr/>
        </p:nvCxnSpPr>
        <p:spPr>
          <a:xfrm>
            <a:off x="9441907" y="2010312"/>
            <a:ext cx="34115" cy="2802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94" name="Gruppo 393">
            <a:extLst>
              <a:ext uri="{FF2B5EF4-FFF2-40B4-BE49-F238E27FC236}">
                <a16:creationId xmlns:a16="http://schemas.microsoft.com/office/drawing/2014/main" id="{20005740-FDCA-4920-8C41-B8B6DBF2FF51}"/>
              </a:ext>
            </a:extLst>
          </p:cNvPr>
          <p:cNvGrpSpPr/>
          <p:nvPr/>
        </p:nvGrpSpPr>
        <p:grpSpPr>
          <a:xfrm>
            <a:off x="9246470" y="2290902"/>
            <a:ext cx="459103" cy="453376"/>
            <a:chOff x="5428969" y="2544529"/>
            <a:chExt cx="873775" cy="873774"/>
          </a:xfrm>
        </p:grpSpPr>
        <mc:AlternateContent xmlns:mc="http://schemas.openxmlformats.org/markup-compatibility/2006">
          <mc:Choice xmlns:am3d="http://schemas.microsoft.com/office/drawing/2017/model3d" Requires="am3d">
            <p:graphicFrame>
              <p:nvGraphicFramePr>
                <p:cNvPr id="395" name="Modello 3D 394" descr="Sfera grigio chiaro">
                  <a:extLst>
                    <a:ext uri="{FF2B5EF4-FFF2-40B4-BE49-F238E27FC236}">
                      <a16:creationId xmlns:a16="http://schemas.microsoft.com/office/drawing/2014/main" id="{611C2656-E99A-452E-A84B-898EEB90526E}"/>
                    </a:ext>
                  </a:extLst>
                </p:cNvPr>
                <p:cNvGraphicFramePr>
                  <a:graphicFrameLocks noChangeAspect="1"/>
                </p:cNvGraphicFramePr>
                <p:nvPr>
                  <p:extLst>
                    <p:ext uri="{D42A27DB-BD31-4B8C-83A1-F6EECF244321}">
                      <p14:modId xmlns:p14="http://schemas.microsoft.com/office/powerpoint/2010/main" val="2848893871"/>
                    </p:ext>
                  </p:extLst>
                </p:nvPr>
              </p:nvGraphicFramePr>
              <p:xfrm>
                <a:off x="5428969" y="2544529"/>
                <a:ext cx="873775" cy="873774"/>
              </p:xfrm>
              <a:graphic>
                <a:graphicData uri="http://schemas.microsoft.com/office/drawing/2017/model3d">
                  <am3d:model3d r:embed="rId2">
                    <am3d:spPr>
                      <a:xfrm>
                        <a:off x="0" y="0"/>
                        <a:ext cx="873775" cy="8737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8"/>
                    </am3d:raster>
                    <am3d:objViewport viewportSz="6702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95" name="Modello 3D 394" descr="Sfera grigio chiaro">
                  <a:extLst>
                    <a:ext uri="{FF2B5EF4-FFF2-40B4-BE49-F238E27FC236}">
                      <a16:creationId xmlns:a16="http://schemas.microsoft.com/office/drawing/2014/main" id="{611C2656-E99A-452E-A84B-898EEB90526E}"/>
                    </a:ext>
                  </a:extLst>
                </p:cNvPr>
                <p:cNvPicPr>
                  <a:picLocks noGrp="1" noRot="1" noChangeAspect="1" noMove="1" noResize="1" noEditPoints="1" noAdjustHandles="1" noChangeArrowheads="1" noChangeShapeType="1" noCrop="1"/>
                </p:cNvPicPr>
                <p:nvPr/>
              </p:nvPicPr>
              <p:blipFill>
                <a:blip r:embed="rId8"/>
                <a:stretch>
                  <a:fillRect/>
                </a:stretch>
              </p:blipFill>
              <p:spPr>
                <a:xfrm>
                  <a:off x="9246470" y="2290902"/>
                  <a:ext cx="459103" cy="453376"/>
                </a:xfrm>
                <a:prstGeom prst="rect">
                  <a:avLst/>
                </a:prstGeom>
              </p:spPr>
            </p:pic>
          </mc:Fallback>
        </mc:AlternateContent>
        <p:sp>
          <p:nvSpPr>
            <p:cNvPr id="396" name="CasellaDiTesto 395">
              <a:extLst>
                <a:ext uri="{FF2B5EF4-FFF2-40B4-BE49-F238E27FC236}">
                  <a16:creationId xmlns:a16="http://schemas.microsoft.com/office/drawing/2014/main" id="{B544E08F-DF5D-459A-A10E-B9DE024CB76A}"/>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cxnSp>
        <p:nvCxnSpPr>
          <p:cNvPr id="397" name="Connettore diritto 396">
            <a:extLst>
              <a:ext uri="{FF2B5EF4-FFF2-40B4-BE49-F238E27FC236}">
                <a16:creationId xmlns:a16="http://schemas.microsoft.com/office/drawing/2014/main" id="{6C6EF97E-6EC0-4FB1-AEE7-8E0490401B61}"/>
              </a:ext>
            </a:extLst>
          </p:cNvPr>
          <p:cNvCxnSpPr>
            <a:cxnSpLocks/>
          </p:cNvCxnSpPr>
          <p:nvPr/>
        </p:nvCxnSpPr>
        <p:spPr>
          <a:xfrm flipV="1">
            <a:off x="10535861" y="2820615"/>
            <a:ext cx="103453" cy="111308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8" name="Connettore diritto 397">
            <a:extLst>
              <a:ext uri="{FF2B5EF4-FFF2-40B4-BE49-F238E27FC236}">
                <a16:creationId xmlns:a16="http://schemas.microsoft.com/office/drawing/2014/main" id="{4C854FFC-2B99-46F9-B546-B92B324DE2FC}"/>
              </a:ext>
            </a:extLst>
          </p:cNvPr>
          <p:cNvCxnSpPr>
            <a:cxnSpLocks/>
          </p:cNvCxnSpPr>
          <p:nvPr/>
        </p:nvCxnSpPr>
        <p:spPr>
          <a:xfrm>
            <a:off x="8400973" y="4301691"/>
            <a:ext cx="634302" cy="88163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113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848" y="-164123"/>
            <a:ext cx="122975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0" name="Rettangolo 19">
            <a:extLst>
              <a:ext uri="{FF2B5EF4-FFF2-40B4-BE49-F238E27FC236}">
                <a16:creationId xmlns:a16="http://schemas.microsoft.com/office/drawing/2014/main" id="{B09536D3-4D96-425D-AFA9-C39504FD98D0}"/>
              </a:ext>
            </a:extLst>
          </p:cNvPr>
          <p:cNvSpPr/>
          <p:nvPr/>
        </p:nvSpPr>
        <p:spPr>
          <a:xfrm>
            <a:off x="12526514" y="61469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11843467" y="48723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grpSp>
        <p:nvGrpSpPr>
          <p:cNvPr id="105" name="Gruppo 104">
            <a:extLst>
              <a:ext uri="{FF2B5EF4-FFF2-40B4-BE49-F238E27FC236}">
                <a16:creationId xmlns:a16="http://schemas.microsoft.com/office/drawing/2014/main" id="{FB5F0A33-D3B1-455A-9BBC-0A5CB111E70C}"/>
              </a:ext>
            </a:extLst>
          </p:cNvPr>
          <p:cNvGrpSpPr/>
          <p:nvPr/>
        </p:nvGrpSpPr>
        <p:grpSpPr>
          <a:xfrm>
            <a:off x="1404085" y="3803969"/>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106" name="Modello 3D 105" descr="Sfera grigio chiaro">
                  <a:extLst>
                    <a:ext uri="{FF2B5EF4-FFF2-40B4-BE49-F238E27FC236}">
                      <a16:creationId xmlns:a16="http://schemas.microsoft.com/office/drawing/2014/main" id="{D264CAE0-BC83-44F4-A775-EE88D8F71B87}"/>
                    </a:ext>
                  </a:extLst>
                </p:cNvPr>
                <p:cNvGraphicFramePr>
                  <a:graphicFrameLocks noChangeAspect="1"/>
                </p:cNvGraphicFramePr>
                <p:nvPr/>
              </p:nvGraphicFramePr>
              <p:xfrm>
                <a:off x="7156642" y="2544531"/>
                <a:ext cx="825273" cy="825273"/>
              </p:xfrm>
              <a:graphic>
                <a:graphicData uri="http://schemas.microsoft.com/office/drawing/2017/model3d">
                  <am3d:model3d r:embed="rId2">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6" name="Modello 3D 105" descr="Sfera grigio chiaro">
                  <a:extLst>
                    <a:ext uri="{FF2B5EF4-FFF2-40B4-BE49-F238E27FC236}">
                      <a16:creationId xmlns:a16="http://schemas.microsoft.com/office/drawing/2014/main" id="{D264CAE0-BC83-44F4-A775-EE88D8F71B87}"/>
                    </a:ext>
                  </a:extLst>
                </p:cNvPr>
                <p:cNvPicPr>
                  <a:picLocks noGrp="1" noRot="1" noChangeAspect="1" noMove="1" noResize="1" noEditPoints="1" noAdjustHandles="1" noChangeArrowheads="1" noChangeShapeType="1" noCrop="1"/>
                </p:cNvPicPr>
                <p:nvPr/>
              </p:nvPicPr>
              <p:blipFill>
                <a:blip r:embed="rId3"/>
                <a:stretch>
                  <a:fillRect/>
                </a:stretch>
              </p:blipFill>
              <p:spPr>
                <a:xfrm>
                  <a:off x="1404085" y="3803969"/>
                  <a:ext cx="433619" cy="428210"/>
                </a:xfrm>
                <a:prstGeom prst="rect">
                  <a:avLst/>
                </a:prstGeom>
              </p:spPr>
            </p:pic>
          </mc:Fallback>
        </mc:AlternateContent>
        <p:sp>
          <p:nvSpPr>
            <p:cNvPr id="107" name="CasellaDiTesto 106">
              <a:extLst>
                <a:ext uri="{FF2B5EF4-FFF2-40B4-BE49-F238E27FC236}">
                  <a16:creationId xmlns:a16="http://schemas.microsoft.com/office/drawing/2014/main" id="{DF491B14-647D-4D37-B100-21A75BC22483}"/>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166" name="Gruppo 165">
            <a:extLst>
              <a:ext uri="{FF2B5EF4-FFF2-40B4-BE49-F238E27FC236}">
                <a16:creationId xmlns:a16="http://schemas.microsoft.com/office/drawing/2014/main" id="{86F28EDD-8233-4CAE-B2EA-5E92E112E764}"/>
              </a:ext>
            </a:extLst>
          </p:cNvPr>
          <p:cNvGrpSpPr/>
          <p:nvPr/>
        </p:nvGrpSpPr>
        <p:grpSpPr>
          <a:xfrm>
            <a:off x="1404084" y="4516040"/>
            <a:ext cx="433620" cy="428211"/>
            <a:chOff x="6214480" y="3704781"/>
            <a:chExt cx="825274" cy="825274"/>
          </a:xfrm>
        </p:grpSpPr>
        <mc:AlternateContent xmlns:mc="http://schemas.openxmlformats.org/markup-compatibility/2006">
          <mc:Choice xmlns:am3d="http://schemas.microsoft.com/office/drawing/2017/model3d" Requires="am3d">
            <p:graphicFrame>
              <p:nvGraphicFramePr>
                <p:cNvPr id="168" name="Modello 3D 167" descr="Sfera grigio chiaro">
                  <a:extLst>
                    <a:ext uri="{FF2B5EF4-FFF2-40B4-BE49-F238E27FC236}">
                      <a16:creationId xmlns:a16="http://schemas.microsoft.com/office/drawing/2014/main" id="{031B6B65-1FE5-4717-A071-332D0D7F5092}"/>
                    </a:ext>
                  </a:extLst>
                </p:cNvPr>
                <p:cNvGraphicFramePr>
                  <a:graphicFrameLocks noChangeAspect="1"/>
                </p:cNvGraphicFramePr>
                <p:nvPr/>
              </p:nvGraphicFramePr>
              <p:xfrm>
                <a:off x="6214480" y="3704781"/>
                <a:ext cx="825274" cy="825274"/>
              </p:xfrm>
              <a:graphic>
                <a:graphicData uri="http://schemas.microsoft.com/office/drawing/2017/model3d">
                  <am3d:model3d r:embed="rId2">
                    <am3d:spPr>
                      <a:xfrm>
                        <a:off x="0" y="0"/>
                        <a:ext cx="825274"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54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8" name="Modello 3D 167" descr="Sfera grigio chiaro">
                  <a:extLst>
                    <a:ext uri="{FF2B5EF4-FFF2-40B4-BE49-F238E27FC236}">
                      <a16:creationId xmlns:a16="http://schemas.microsoft.com/office/drawing/2014/main" id="{031B6B65-1FE5-4717-A071-332D0D7F5092}"/>
                    </a:ext>
                  </a:extLst>
                </p:cNvPr>
                <p:cNvPicPr>
                  <a:picLocks noGrp="1" noRot="1" noChangeAspect="1" noMove="1" noResize="1" noEditPoints="1" noAdjustHandles="1" noChangeArrowheads="1" noChangeShapeType="1" noCrop="1"/>
                </p:cNvPicPr>
                <p:nvPr/>
              </p:nvPicPr>
              <p:blipFill>
                <a:blip r:embed="rId4"/>
                <a:stretch>
                  <a:fillRect/>
                </a:stretch>
              </p:blipFill>
              <p:spPr>
                <a:xfrm>
                  <a:off x="1404084" y="4516040"/>
                  <a:ext cx="433620" cy="428211"/>
                </a:xfrm>
                <a:prstGeom prst="rect">
                  <a:avLst/>
                </a:prstGeom>
              </p:spPr>
            </p:pic>
          </mc:Fallback>
        </mc:AlternateContent>
        <p:sp>
          <p:nvSpPr>
            <p:cNvPr id="169" name="CasellaDiTesto 168">
              <a:extLst>
                <a:ext uri="{FF2B5EF4-FFF2-40B4-BE49-F238E27FC236}">
                  <a16:creationId xmlns:a16="http://schemas.microsoft.com/office/drawing/2014/main" id="{78C0317F-98BF-49A4-9BD1-FB7D734BAC71}"/>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173" name="Gruppo 172">
            <a:extLst>
              <a:ext uri="{FF2B5EF4-FFF2-40B4-BE49-F238E27FC236}">
                <a16:creationId xmlns:a16="http://schemas.microsoft.com/office/drawing/2014/main" id="{FAA5263F-64BA-4369-9BA6-C34858CD2DDD}"/>
              </a:ext>
            </a:extLst>
          </p:cNvPr>
          <p:cNvGrpSpPr/>
          <p:nvPr/>
        </p:nvGrpSpPr>
        <p:grpSpPr>
          <a:xfrm>
            <a:off x="2460789" y="3803969"/>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175" name="Modello 3D 174" descr="Sfera grigio chiaro">
                  <a:extLst>
                    <a:ext uri="{FF2B5EF4-FFF2-40B4-BE49-F238E27FC236}">
                      <a16:creationId xmlns:a16="http://schemas.microsoft.com/office/drawing/2014/main" id="{544B1EBD-495A-4D08-9892-AAA7CC0FAD6E}"/>
                    </a:ext>
                  </a:extLst>
                </p:cNvPr>
                <p:cNvGraphicFramePr>
                  <a:graphicFrameLocks noChangeAspect="1"/>
                </p:cNvGraphicFramePr>
                <p:nvPr>
                  <p:extLst>
                    <p:ext uri="{D42A27DB-BD31-4B8C-83A1-F6EECF244321}">
                      <p14:modId xmlns:p14="http://schemas.microsoft.com/office/powerpoint/2010/main" val="3968729600"/>
                    </p:ext>
                  </p:extLst>
                </p:nvPr>
              </p:nvGraphicFramePr>
              <p:xfrm>
                <a:off x="5434115" y="2544525"/>
                <a:ext cx="814978" cy="825274"/>
              </p:xfrm>
              <a:graphic>
                <a:graphicData uri="http://schemas.microsoft.com/office/drawing/2017/model3d">
                  <am3d:model3d r:embed="rId2">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5" name="Modello 3D 174" descr="Sfera grigio chiaro">
                  <a:extLst>
                    <a:ext uri="{FF2B5EF4-FFF2-40B4-BE49-F238E27FC236}">
                      <a16:creationId xmlns:a16="http://schemas.microsoft.com/office/drawing/2014/main" id="{544B1EBD-495A-4D08-9892-AAA7CC0FAD6E}"/>
                    </a:ext>
                  </a:extLst>
                </p:cNvPr>
                <p:cNvPicPr>
                  <a:picLocks noGrp="1" noRot="1" noChangeAspect="1" noMove="1" noResize="1" noEditPoints="1" noAdjustHandles="1" noChangeArrowheads="1" noChangeShapeType="1" noCrop="1"/>
                </p:cNvPicPr>
                <p:nvPr/>
              </p:nvPicPr>
              <p:blipFill>
                <a:blip r:embed="rId5"/>
                <a:stretch>
                  <a:fillRect/>
                </a:stretch>
              </p:blipFill>
              <p:spPr>
                <a:xfrm>
                  <a:off x="2460789" y="3803969"/>
                  <a:ext cx="428210" cy="428211"/>
                </a:xfrm>
                <a:prstGeom prst="rect">
                  <a:avLst/>
                </a:prstGeom>
              </p:spPr>
            </p:pic>
          </mc:Fallback>
        </mc:AlternateContent>
        <p:sp>
          <p:nvSpPr>
            <p:cNvPr id="176" name="CasellaDiTesto 175">
              <a:extLst>
                <a:ext uri="{FF2B5EF4-FFF2-40B4-BE49-F238E27FC236}">
                  <a16:creationId xmlns:a16="http://schemas.microsoft.com/office/drawing/2014/main" id="{D040ED89-E4E5-4C7D-8799-DDE97DB5C2B9}"/>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177" name="Gruppo 176">
            <a:extLst>
              <a:ext uri="{FF2B5EF4-FFF2-40B4-BE49-F238E27FC236}">
                <a16:creationId xmlns:a16="http://schemas.microsoft.com/office/drawing/2014/main" id="{44613953-DD98-4448-99BD-E900631168E9}"/>
              </a:ext>
            </a:extLst>
          </p:cNvPr>
          <p:cNvGrpSpPr/>
          <p:nvPr/>
        </p:nvGrpSpPr>
        <p:grpSpPr>
          <a:xfrm>
            <a:off x="2445376" y="4516040"/>
            <a:ext cx="433619" cy="428210"/>
            <a:chOff x="8758910" y="3645182"/>
            <a:chExt cx="822733" cy="825275"/>
          </a:xfrm>
        </p:grpSpPr>
        <mc:AlternateContent xmlns:mc="http://schemas.openxmlformats.org/markup-compatibility/2006">
          <mc:Choice xmlns:am3d="http://schemas.microsoft.com/office/drawing/2017/model3d" Requires="am3d">
            <p:graphicFrame>
              <p:nvGraphicFramePr>
                <p:cNvPr id="178" name="Modello 3D 177" descr="Sfera grigio chiaro">
                  <a:extLst>
                    <a:ext uri="{FF2B5EF4-FFF2-40B4-BE49-F238E27FC236}">
                      <a16:creationId xmlns:a16="http://schemas.microsoft.com/office/drawing/2014/main" id="{FCDFD904-6EE7-4F4D-9055-5EEAB6D3C01E}"/>
                    </a:ext>
                  </a:extLst>
                </p:cNvPr>
                <p:cNvGraphicFramePr>
                  <a:graphicFrameLocks noChangeAspect="1"/>
                </p:cNvGraphicFramePr>
                <p:nvPr/>
              </p:nvGraphicFramePr>
              <p:xfrm>
                <a:off x="8758910"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8" name="Modello 3D 177" descr="Sfera grigio chiaro">
                  <a:extLst>
                    <a:ext uri="{FF2B5EF4-FFF2-40B4-BE49-F238E27FC236}">
                      <a16:creationId xmlns:a16="http://schemas.microsoft.com/office/drawing/2014/main" id="{FCDFD904-6EE7-4F4D-9055-5EEAB6D3C01E}"/>
                    </a:ext>
                  </a:extLst>
                </p:cNvPr>
                <p:cNvPicPr>
                  <a:picLocks noGrp="1" noRot="1" noChangeAspect="1" noMove="1" noResize="1" noEditPoints="1" noAdjustHandles="1" noChangeArrowheads="1" noChangeShapeType="1" noCrop="1"/>
                </p:cNvPicPr>
                <p:nvPr/>
              </p:nvPicPr>
              <p:blipFill>
                <a:blip r:embed="rId3"/>
                <a:stretch>
                  <a:fillRect/>
                </a:stretch>
              </p:blipFill>
              <p:spPr>
                <a:xfrm>
                  <a:off x="2445376" y="4516040"/>
                  <a:ext cx="433619" cy="428210"/>
                </a:xfrm>
                <a:prstGeom prst="rect">
                  <a:avLst/>
                </a:prstGeom>
              </p:spPr>
            </p:pic>
          </mc:Fallback>
        </mc:AlternateContent>
        <p:sp>
          <p:nvSpPr>
            <p:cNvPr id="179" name="CasellaDiTesto 178">
              <a:extLst>
                <a:ext uri="{FF2B5EF4-FFF2-40B4-BE49-F238E27FC236}">
                  <a16:creationId xmlns:a16="http://schemas.microsoft.com/office/drawing/2014/main" id="{62E7764D-ABF2-47F7-82F2-A43BDF9853C9}"/>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cxnSp>
        <p:nvCxnSpPr>
          <p:cNvPr id="37" name="Connettore diritto 36">
            <a:extLst>
              <a:ext uri="{FF2B5EF4-FFF2-40B4-BE49-F238E27FC236}">
                <a16:creationId xmlns:a16="http://schemas.microsoft.com/office/drawing/2014/main" id="{40167110-B5C3-48D4-A890-85F508513620}"/>
              </a:ext>
            </a:extLst>
          </p:cNvPr>
          <p:cNvCxnSpPr>
            <a:cxnSpLocks/>
            <a:stCxn id="106" idx="2"/>
            <a:endCxn id="168" idx="0"/>
          </p:cNvCxnSpPr>
          <p:nvPr/>
        </p:nvCxnSpPr>
        <p:spPr>
          <a:xfrm flipH="1">
            <a:off x="1620894" y="4232179"/>
            <a:ext cx="1" cy="283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38CCC613-796D-45AB-A2FB-14B5D2AD1639}"/>
              </a:ext>
            </a:extLst>
          </p:cNvPr>
          <p:cNvCxnSpPr>
            <a:cxnSpLocks/>
            <a:stCxn id="106" idx="3"/>
            <a:endCxn id="175" idx="1"/>
          </p:cNvCxnSpPr>
          <p:nvPr/>
        </p:nvCxnSpPr>
        <p:spPr>
          <a:xfrm>
            <a:off x="1837704" y="4018074"/>
            <a:ext cx="62308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5C17C2EC-49ED-453D-98D2-05C5AF1790AF}"/>
              </a:ext>
            </a:extLst>
          </p:cNvPr>
          <p:cNvCxnSpPr>
            <a:cxnSpLocks/>
            <a:stCxn id="175" idx="2"/>
            <a:endCxn id="178" idx="0"/>
          </p:cNvCxnSpPr>
          <p:nvPr/>
        </p:nvCxnSpPr>
        <p:spPr>
          <a:xfrm flipH="1">
            <a:off x="2662186" y="4232180"/>
            <a:ext cx="12708" cy="283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050A353D-814A-4D1B-96F2-792F4FDE22F4}"/>
              </a:ext>
            </a:extLst>
          </p:cNvPr>
          <p:cNvCxnSpPr>
            <a:cxnSpLocks/>
            <a:stCxn id="168" idx="3"/>
          </p:cNvCxnSpPr>
          <p:nvPr/>
        </p:nvCxnSpPr>
        <p:spPr>
          <a:xfrm flipV="1">
            <a:off x="1837704" y="4176550"/>
            <a:ext cx="711708" cy="553596"/>
          </a:xfrm>
          <a:prstGeom prst="line">
            <a:avLst/>
          </a:prstGeom>
        </p:spPr>
        <p:style>
          <a:lnRef idx="1">
            <a:schemeClr val="accent1"/>
          </a:lnRef>
          <a:fillRef idx="0">
            <a:schemeClr val="accent1"/>
          </a:fillRef>
          <a:effectRef idx="0">
            <a:schemeClr val="accent1"/>
          </a:effectRef>
          <a:fontRef idx="minor">
            <a:schemeClr val="tx1"/>
          </a:fontRef>
        </p:style>
      </p:cxnSp>
      <p:grpSp>
        <p:nvGrpSpPr>
          <p:cNvPr id="200" name="Gruppo 199">
            <a:extLst>
              <a:ext uri="{FF2B5EF4-FFF2-40B4-BE49-F238E27FC236}">
                <a16:creationId xmlns:a16="http://schemas.microsoft.com/office/drawing/2014/main" id="{1CE319DE-95A5-46DF-BC8A-7B54101C38AD}"/>
              </a:ext>
            </a:extLst>
          </p:cNvPr>
          <p:cNvGrpSpPr/>
          <p:nvPr/>
        </p:nvGrpSpPr>
        <p:grpSpPr>
          <a:xfrm>
            <a:off x="5183851" y="3804616"/>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201" name="Modello 3D 200" descr="Sfera grigio chiaro">
                  <a:extLst>
                    <a:ext uri="{FF2B5EF4-FFF2-40B4-BE49-F238E27FC236}">
                      <a16:creationId xmlns:a16="http://schemas.microsoft.com/office/drawing/2014/main" id="{4553372B-6CEA-43C2-81D8-6AC9CC4D8A7D}"/>
                    </a:ext>
                  </a:extLst>
                </p:cNvPr>
                <p:cNvGraphicFramePr>
                  <a:graphicFrameLocks noChangeAspect="1"/>
                </p:cNvGraphicFramePr>
                <p:nvPr/>
              </p:nvGraphicFramePr>
              <p:xfrm>
                <a:off x="7156642" y="2544531"/>
                <a:ext cx="825273" cy="825273"/>
              </p:xfrm>
              <a:graphic>
                <a:graphicData uri="http://schemas.microsoft.com/office/drawing/2017/model3d">
                  <am3d:model3d r:embed="rId2">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1" name="Modello 3D 200" descr="Sfera grigio chiaro">
                  <a:extLst>
                    <a:ext uri="{FF2B5EF4-FFF2-40B4-BE49-F238E27FC236}">
                      <a16:creationId xmlns:a16="http://schemas.microsoft.com/office/drawing/2014/main" id="{4553372B-6CEA-43C2-81D8-6AC9CC4D8A7D}"/>
                    </a:ext>
                  </a:extLst>
                </p:cNvPr>
                <p:cNvPicPr>
                  <a:picLocks noGrp="1" noRot="1" noChangeAspect="1" noMove="1" noResize="1" noEditPoints="1" noAdjustHandles="1" noChangeArrowheads="1" noChangeShapeType="1" noCrop="1"/>
                </p:cNvPicPr>
                <p:nvPr/>
              </p:nvPicPr>
              <p:blipFill>
                <a:blip r:embed="rId3"/>
                <a:stretch>
                  <a:fillRect/>
                </a:stretch>
              </p:blipFill>
              <p:spPr>
                <a:xfrm>
                  <a:off x="5183851" y="3804616"/>
                  <a:ext cx="433619" cy="428210"/>
                </a:xfrm>
                <a:prstGeom prst="rect">
                  <a:avLst/>
                </a:prstGeom>
              </p:spPr>
            </p:pic>
          </mc:Fallback>
        </mc:AlternateContent>
        <p:sp>
          <p:nvSpPr>
            <p:cNvPr id="202" name="CasellaDiTesto 201">
              <a:extLst>
                <a:ext uri="{FF2B5EF4-FFF2-40B4-BE49-F238E27FC236}">
                  <a16:creationId xmlns:a16="http://schemas.microsoft.com/office/drawing/2014/main" id="{1F023023-823B-4887-9F29-078453C73C6E}"/>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03" name="Gruppo 202">
            <a:extLst>
              <a:ext uri="{FF2B5EF4-FFF2-40B4-BE49-F238E27FC236}">
                <a16:creationId xmlns:a16="http://schemas.microsoft.com/office/drawing/2014/main" id="{6DA51CDC-3638-4AB6-86B9-CE77B4935C1E}"/>
              </a:ext>
            </a:extLst>
          </p:cNvPr>
          <p:cNvGrpSpPr/>
          <p:nvPr/>
        </p:nvGrpSpPr>
        <p:grpSpPr>
          <a:xfrm>
            <a:off x="5183850" y="4516687"/>
            <a:ext cx="433620" cy="428211"/>
            <a:chOff x="6214480" y="3704781"/>
            <a:chExt cx="825274" cy="825274"/>
          </a:xfrm>
        </p:grpSpPr>
        <mc:AlternateContent xmlns:mc="http://schemas.openxmlformats.org/markup-compatibility/2006">
          <mc:Choice xmlns:am3d="http://schemas.microsoft.com/office/drawing/2017/model3d" Requires="am3d">
            <p:graphicFrame>
              <p:nvGraphicFramePr>
                <p:cNvPr id="204" name="Modello 3D 203" descr="Sfera grigio chiaro">
                  <a:extLst>
                    <a:ext uri="{FF2B5EF4-FFF2-40B4-BE49-F238E27FC236}">
                      <a16:creationId xmlns:a16="http://schemas.microsoft.com/office/drawing/2014/main" id="{E6AA328C-402B-43EF-B5E8-8F63BFF47450}"/>
                    </a:ext>
                  </a:extLst>
                </p:cNvPr>
                <p:cNvGraphicFramePr>
                  <a:graphicFrameLocks noChangeAspect="1"/>
                </p:cNvGraphicFramePr>
                <p:nvPr/>
              </p:nvGraphicFramePr>
              <p:xfrm>
                <a:off x="6214480" y="3704781"/>
                <a:ext cx="825274" cy="825274"/>
              </p:xfrm>
              <a:graphic>
                <a:graphicData uri="http://schemas.microsoft.com/office/drawing/2017/model3d">
                  <am3d:model3d r:embed="rId2">
                    <am3d:spPr>
                      <a:xfrm>
                        <a:off x="0" y="0"/>
                        <a:ext cx="825274"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54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4" name="Modello 3D 203" descr="Sfera grigio chiaro">
                  <a:extLst>
                    <a:ext uri="{FF2B5EF4-FFF2-40B4-BE49-F238E27FC236}">
                      <a16:creationId xmlns:a16="http://schemas.microsoft.com/office/drawing/2014/main" id="{E6AA328C-402B-43EF-B5E8-8F63BFF47450}"/>
                    </a:ext>
                  </a:extLst>
                </p:cNvPr>
                <p:cNvPicPr>
                  <a:picLocks noGrp="1" noRot="1" noChangeAspect="1" noMove="1" noResize="1" noEditPoints="1" noAdjustHandles="1" noChangeArrowheads="1" noChangeShapeType="1" noCrop="1"/>
                </p:cNvPicPr>
                <p:nvPr/>
              </p:nvPicPr>
              <p:blipFill>
                <a:blip r:embed="rId4"/>
                <a:stretch>
                  <a:fillRect/>
                </a:stretch>
              </p:blipFill>
              <p:spPr>
                <a:xfrm>
                  <a:off x="5183850" y="4516687"/>
                  <a:ext cx="433620" cy="428211"/>
                </a:xfrm>
                <a:prstGeom prst="rect">
                  <a:avLst/>
                </a:prstGeom>
              </p:spPr>
            </p:pic>
          </mc:Fallback>
        </mc:AlternateContent>
        <p:sp>
          <p:nvSpPr>
            <p:cNvPr id="205" name="CasellaDiTesto 204">
              <a:extLst>
                <a:ext uri="{FF2B5EF4-FFF2-40B4-BE49-F238E27FC236}">
                  <a16:creationId xmlns:a16="http://schemas.microsoft.com/office/drawing/2014/main" id="{AAB4AB33-CB88-43BB-BD2E-028FF7BA4FDE}"/>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206" name="Gruppo 205">
            <a:extLst>
              <a:ext uri="{FF2B5EF4-FFF2-40B4-BE49-F238E27FC236}">
                <a16:creationId xmlns:a16="http://schemas.microsoft.com/office/drawing/2014/main" id="{D0E3A6CD-53C7-49AE-B603-0A4BA35F63DF}"/>
              </a:ext>
            </a:extLst>
          </p:cNvPr>
          <p:cNvGrpSpPr/>
          <p:nvPr/>
        </p:nvGrpSpPr>
        <p:grpSpPr>
          <a:xfrm>
            <a:off x="6240555" y="3804616"/>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207" name="Modello 3D 206" descr="Sfera grigio chiaro">
                  <a:extLst>
                    <a:ext uri="{FF2B5EF4-FFF2-40B4-BE49-F238E27FC236}">
                      <a16:creationId xmlns:a16="http://schemas.microsoft.com/office/drawing/2014/main" id="{12ECF169-69A3-4F29-A8FB-FE496F8408DF}"/>
                    </a:ext>
                  </a:extLst>
                </p:cNvPr>
                <p:cNvGraphicFramePr>
                  <a:graphicFrameLocks noChangeAspect="1"/>
                </p:cNvGraphicFramePr>
                <p:nvPr>
                  <p:extLst>
                    <p:ext uri="{D42A27DB-BD31-4B8C-83A1-F6EECF244321}">
                      <p14:modId xmlns:p14="http://schemas.microsoft.com/office/powerpoint/2010/main" val="1969660371"/>
                    </p:ext>
                  </p:extLst>
                </p:nvPr>
              </p:nvGraphicFramePr>
              <p:xfrm>
                <a:off x="5434115" y="2544525"/>
                <a:ext cx="814978" cy="825274"/>
              </p:xfrm>
              <a:graphic>
                <a:graphicData uri="http://schemas.microsoft.com/office/drawing/2017/model3d">
                  <am3d:model3d r:embed="rId2">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7" name="Modello 3D 206" descr="Sfera grigio chiaro">
                  <a:extLst>
                    <a:ext uri="{FF2B5EF4-FFF2-40B4-BE49-F238E27FC236}">
                      <a16:creationId xmlns:a16="http://schemas.microsoft.com/office/drawing/2014/main" id="{12ECF169-69A3-4F29-A8FB-FE496F8408DF}"/>
                    </a:ext>
                  </a:extLst>
                </p:cNvPr>
                <p:cNvPicPr>
                  <a:picLocks noGrp="1" noRot="1" noChangeAspect="1" noMove="1" noResize="1" noEditPoints="1" noAdjustHandles="1" noChangeArrowheads="1" noChangeShapeType="1" noCrop="1"/>
                </p:cNvPicPr>
                <p:nvPr/>
              </p:nvPicPr>
              <p:blipFill>
                <a:blip r:embed="rId5"/>
                <a:stretch>
                  <a:fillRect/>
                </a:stretch>
              </p:blipFill>
              <p:spPr>
                <a:xfrm>
                  <a:off x="6240555" y="3804616"/>
                  <a:ext cx="428210" cy="428211"/>
                </a:xfrm>
                <a:prstGeom prst="rect">
                  <a:avLst/>
                </a:prstGeom>
              </p:spPr>
            </p:pic>
          </mc:Fallback>
        </mc:AlternateContent>
        <p:sp>
          <p:nvSpPr>
            <p:cNvPr id="208" name="CasellaDiTesto 207">
              <a:extLst>
                <a:ext uri="{FF2B5EF4-FFF2-40B4-BE49-F238E27FC236}">
                  <a16:creationId xmlns:a16="http://schemas.microsoft.com/office/drawing/2014/main" id="{02D8A98F-384A-4BBC-8452-7CBF3380D141}"/>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209" name="Gruppo 208">
            <a:extLst>
              <a:ext uri="{FF2B5EF4-FFF2-40B4-BE49-F238E27FC236}">
                <a16:creationId xmlns:a16="http://schemas.microsoft.com/office/drawing/2014/main" id="{107A5C5A-9670-44F3-8E62-F2870967F628}"/>
              </a:ext>
            </a:extLst>
          </p:cNvPr>
          <p:cNvGrpSpPr/>
          <p:nvPr/>
        </p:nvGrpSpPr>
        <p:grpSpPr>
          <a:xfrm>
            <a:off x="6232331" y="4516647"/>
            <a:ext cx="433619" cy="428210"/>
            <a:chOff x="8715018" y="3645182"/>
            <a:chExt cx="822733" cy="825275"/>
          </a:xfrm>
        </p:grpSpPr>
        <mc:AlternateContent xmlns:mc="http://schemas.openxmlformats.org/markup-compatibility/2006">
          <mc:Choice xmlns:am3d="http://schemas.microsoft.com/office/drawing/2017/model3d" Requires="am3d">
            <p:graphicFrame>
              <p:nvGraphicFramePr>
                <p:cNvPr id="210" name="Modello 3D 209" descr="Sfera grigio chiaro">
                  <a:extLst>
                    <a:ext uri="{FF2B5EF4-FFF2-40B4-BE49-F238E27FC236}">
                      <a16:creationId xmlns:a16="http://schemas.microsoft.com/office/drawing/2014/main" id="{B6867032-9CFC-41B7-9492-082E29B06DA8}"/>
                    </a:ext>
                  </a:extLst>
                </p:cNvPr>
                <p:cNvGraphicFramePr>
                  <a:graphicFrameLocks noChangeAspect="1"/>
                </p:cNvGraphicFramePr>
                <p:nvPr>
                  <p:extLst>
                    <p:ext uri="{D42A27DB-BD31-4B8C-83A1-F6EECF244321}">
                      <p14:modId xmlns:p14="http://schemas.microsoft.com/office/powerpoint/2010/main" val="1939079368"/>
                    </p:ext>
                  </p:extLst>
                </p:nvPr>
              </p:nvGraphicFramePr>
              <p:xfrm>
                <a:off x="8715018"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0" name="Modello 3D 209" descr="Sfera grigio chiaro">
                  <a:extLst>
                    <a:ext uri="{FF2B5EF4-FFF2-40B4-BE49-F238E27FC236}">
                      <a16:creationId xmlns:a16="http://schemas.microsoft.com/office/drawing/2014/main" id="{B6867032-9CFC-41B7-9492-082E29B06DA8}"/>
                    </a:ext>
                  </a:extLst>
                </p:cNvPr>
                <p:cNvPicPr>
                  <a:picLocks noGrp="1" noRot="1" noChangeAspect="1" noMove="1" noResize="1" noEditPoints="1" noAdjustHandles="1" noChangeArrowheads="1" noChangeShapeType="1" noCrop="1"/>
                </p:cNvPicPr>
                <p:nvPr/>
              </p:nvPicPr>
              <p:blipFill>
                <a:blip r:embed="rId3"/>
                <a:stretch>
                  <a:fillRect/>
                </a:stretch>
              </p:blipFill>
              <p:spPr>
                <a:xfrm>
                  <a:off x="6232331" y="4516647"/>
                  <a:ext cx="433619" cy="428210"/>
                </a:xfrm>
                <a:prstGeom prst="rect">
                  <a:avLst/>
                </a:prstGeom>
              </p:spPr>
            </p:pic>
          </mc:Fallback>
        </mc:AlternateContent>
        <p:sp>
          <p:nvSpPr>
            <p:cNvPr id="211" name="CasellaDiTesto 210">
              <a:extLst>
                <a:ext uri="{FF2B5EF4-FFF2-40B4-BE49-F238E27FC236}">
                  <a16:creationId xmlns:a16="http://schemas.microsoft.com/office/drawing/2014/main" id="{6923DD9F-968B-4E1D-97FF-BB1F6398B115}"/>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cxnSp>
        <p:nvCxnSpPr>
          <p:cNvPr id="212" name="Connettore diritto 211">
            <a:extLst>
              <a:ext uri="{FF2B5EF4-FFF2-40B4-BE49-F238E27FC236}">
                <a16:creationId xmlns:a16="http://schemas.microsoft.com/office/drawing/2014/main" id="{BEA5E99D-0CA9-40A9-8962-4C25C1E91987}"/>
              </a:ext>
            </a:extLst>
          </p:cNvPr>
          <p:cNvCxnSpPr>
            <a:cxnSpLocks/>
            <a:stCxn id="201" idx="2"/>
            <a:endCxn id="204" idx="0"/>
          </p:cNvCxnSpPr>
          <p:nvPr/>
        </p:nvCxnSpPr>
        <p:spPr>
          <a:xfrm flipH="1">
            <a:off x="5400660" y="4232826"/>
            <a:ext cx="1" cy="283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3" name="Connettore diritto 212">
            <a:extLst>
              <a:ext uri="{FF2B5EF4-FFF2-40B4-BE49-F238E27FC236}">
                <a16:creationId xmlns:a16="http://schemas.microsoft.com/office/drawing/2014/main" id="{8B701175-91C7-475D-90E9-65ECC974D14E}"/>
              </a:ext>
            </a:extLst>
          </p:cNvPr>
          <p:cNvCxnSpPr>
            <a:cxnSpLocks/>
            <a:stCxn id="201" idx="3"/>
            <a:endCxn id="207" idx="1"/>
          </p:cNvCxnSpPr>
          <p:nvPr/>
        </p:nvCxnSpPr>
        <p:spPr>
          <a:xfrm>
            <a:off x="5617470" y="4018721"/>
            <a:ext cx="62308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Connettore diritto 213">
            <a:extLst>
              <a:ext uri="{FF2B5EF4-FFF2-40B4-BE49-F238E27FC236}">
                <a16:creationId xmlns:a16="http://schemas.microsoft.com/office/drawing/2014/main" id="{B2CD4ACC-FCD9-4824-B048-B0F02CA60026}"/>
              </a:ext>
            </a:extLst>
          </p:cNvPr>
          <p:cNvCxnSpPr>
            <a:cxnSpLocks/>
            <a:stCxn id="207" idx="2"/>
            <a:endCxn id="210" idx="0"/>
          </p:cNvCxnSpPr>
          <p:nvPr/>
        </p:nvCxnSpPr>
        <p:spPr>
          <a:xfrm flipH="1">
            <a:off x="6449141" y="4232827"/>
            <a:ext cx="5519" cy="283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Connettore diritto 214">
            <a:extLst>
              <a:ext uri="{FF2B5EF4-FFF2-40B4-BE49-F238E27FC236}">
                <a16:creationId xmlns:a16="http://schemas.microsoft.com/office/drawing/2014/main" id="{B3973FFE-A052-47E6-B5BF-C8792498279B}"/>
              </a:ext>
            </a:extLst>
          </p:cNvPr>
          <p:cNvCxnSpPr>
            <a:cxnSpLocks/>
            <a:stCxn id="204" idx="3"/>
          </p:cNvCxnSpPr>
          <p:nvPr/>
        </p:nvCxnSpPr>
        <p:spPr>
          <a:xfrm flipV="1">
            <a:off x="5617470" y="4177197"/>
            <a:ext cx="711708" cy="553596"/>
          </a:xfrm>
          <a:prstGeom prst="line">
            <a:avLst/>
          </a:prstGeom>
        </p:spPr>
        <p:style>
          <a:lnRef idx="1">
            <a:schemeClr val="accent1"/>
          </a:lnRef>
          <a:fillRef idx="0">
            <a:schemeClr val="accent1"/>
          </a:fillRef>
          <a:effectRef idx="0">
            <a:schemeClr val="accent1"/>
          </a:effectRef>
          <a:fontRef idx="minor">
            <a:schemeClr val="tx1"/>
          </a:fontRef>
        </p:style>
      </p:cxnSp>
      <p:grpSp>
        <p:nvGrpSpPr>
          <p:cNvPr id="216" name="Gruppo 215">
            <a:extLst>
              <a:ext uri="{FF2B5EF4-FFF2-40B4-BE49-F238E27FC236}">
                <a16:creationId xmlns:a16="http://schemas.microsoft.com/office/drawing/2014/main" id="{62657B88-BA78-4B50-BD58-10AFE3AB68E8}"/>
              </a:ext>
            </a:extLst>
          </p:cNvPr>
          <p:cNvGrpSpPr/>
          <p:nvPr/>
        </p:nvGrpSpPr>
        <p:grpSpPr>
          <a:xfrm>
            <a:off x="6974284" y="4177083"/>
            <a:ext cx="433619" cy="428210"/>
            <a:chOff x="8758910" y="3645182"/>
            <a:chExt cx="822733" cy="825275"/>
          </a:xfrm>
        </p:grpSpPr>
        <mc:AlternateContent xmlns:mc="http://schemas.openxmlformats.org/markup-compatibility/2006">
          <mc:Choice xmlns:am3d="http://schemas.microsoft.com/office/drawing/2017/model3d" Requires="am3d">
            <p:graphicFrame>
              <p:nvGraphicFramePr>
                <p:cNvPr id="217" name="Modello 3D 216" descr="Sfera grigio chiaro">
                  <a:extLst>
                    <a:ext uri="{FF2B5EF4-FFF2-40B4-BE49-F238E27FC236}">
                      <a16:creationId xmlns:a16="http://schemas.microsoft.com/office/drawing/2014/main" id="{F251B3F2-8BD3-45D7-973E-75395B1AE193}"/>
                    </a:ext>
                  </a:extLst>
                </p:cNvPr>
                <p:cNvGraphicFramePr>
                  <a:graphicFrameLocks noChangeAspect="1"/>
                </p:cNvGraphicFramePr>
                <p:nvPr/>
              </p:nvGraphicFramePr>
              <p:xfrm>
                <a:off x="8758910"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7" name="Modello 3D 216" descr="Sfera grigio chiaro">
                  <a:extLst>
                    <a:ext uri="{FF2B5EF4-FFF2-40B4-BE49-F238E27FC236}">
                      <a16:creationId xmlns:a16="http://schemas.microsoft.com/office/drawing/2014/main" id="{F251B3F2-8BD3-45D7-973E-75395B1AE193}"/>
                    </a:ext>
                  </a:extLst>
                </p:cNvPr>
                <p:cNvPicPr>
                  <a:picLocks noGrp="1" noRot="1" noChangeAspect="1" noMove="1" noResize="1" noEditPoints="1" noAdjustHandles="1" noChangeArrowheads="1" noChangeShapeType="1" noCrop="1"/>
                </p:cNvPicPr>
                <p:nvPr/>
              </p:nvPicPr>
              <p:blipFill>
                <a:blip r:embed="rId3"/>
                <a:stretch>
                  <a:fillRect/>
                </a:stretch>
              </p:blipFill>
              <p:spPr>
                <a:xfrm>
                  <a:off x="6974284" y="4177083"/>
                  <a:ext cx="433619" cy="428210"/>
                </a:xfrm>
                <a:prstGeom prst="rect">
                  <a:avLst/>
                </a:prstGeom>
              </p:spPr>
            </p:pic>
          </mc:Fallback>
        </mc:AlternateContent>
        <p:sp>
          <p:nvSpPr>
            <p:cNvPr id="218" name="CasellaDiTesto 217">
              <a:extLst>
                <a:ext uri="{FF2B5EF4-FFF2-40B4-BE49-F238E27FC236}">
                  <a16:creationId xmlns:a16="http://schemas.microsoft.com/office/drawing/2014/main" id="{8D6A63FF-954A-4D13-91AE-9237EEF251C9}"/>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cxnSp>
        <p:nvCxnSpPr>
          <p:cNvPr id="60" name="Connettore diritto 59">
            <a:extLst>
              <a:ext uri="{FF2B5EF4-FFF2-40B4-BE49-F238E27FC236}">
                <a16:creationId xmlns:a16="http://schemas.microsoft.com/office/drawing/2014/main" id="{2A8F070B-A7F7-48D3-A884-C72E69D6AACC}"/>
              </a:ext>
            </a:extLst>
          </p:cNvPr>
          <p:cNvCxnSpPr>
            <a:cxnSpLocks/>
            <a:stCxn id="217" idx="0"/>
            <a:endCxn id="207" idx="3"/>
          </p:cNvCxnSpPr>
          <p:nvPr/>
        </p:nvCxnSpPr>
        <p:spPr>
          <a:xfrm flipH="1" flipV="1">
            <a:off x="6668765" y="4018722"/>
            <a:ext cx="522329" cy="1583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D72435C3-E636-40D2-860E-782A1221E713}"/>
              </a:ext>
            </a:extLst>
          </p:cNvPr>
          <p:cNvCxnSpPr>
            <a:cxnSpLocks/>
            <a:stCxn id="210" idx="3"/>
            <a:endCxn id="217" idx="2"/>
          </p:cNvCxnSpPr>
          <p:nvPr/>
        </p:nvCxnSpPr>
        <p:spPr>
          <a:xfrm flipV="1">
            <a:off x="6665950" y="4605293"/>
            <a:ext cx="525144" cy="125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Connettore diritto 69">
            <a:extLst>
              <a:ext uri="{FF2B5EF4-FFF2-40B4-BE49-F238E27FC236}">
                <a16:creationId xmlns:a16="http://schemas.microsoft.com/office/drawing/2014/main" id="{0429A08E-7AA1-4385-BA88-F2D0DD866375}"/>
              </a:ext>
            </a:extLst>
          </p:cNvPr>
          <p:cNvCxnSpPr>
            <a:cxnSpLocks/>
            <a:stCxn id="204" idx="3"/>
            <a:endCxn id="210" idx="1"/>
          </p:cNvCxnSpPr>
          <p:nvPr/>
        </p:nvCxnSpPr>
        <p:spPr>
          <a:xfrm flipV="1">
            <a:off x="5617470" y="4730752"/>
            <a:ext cx="614861" cy="41"/>
          </a:xfrm>
          <a:prstGeom prst="line">
            <a:avLst/>
          </a:prstGeom>
        </p:spPr>
        <p:style>
          <a:lnRef idx="1">
            <a:schemeClr val="accent1"/>
          </a:lnRef>
          <a:fillRef idx="0">
            <a:schemeClr val="accent1"/>
          </a:fillRef>
          <a:effectRef idx="0">
            <a:schemeClr val="accent1"/>
          </a:effectRef>
          <a:fontRef idx="minor">
            <a:schemeClr val="tx1"/>
          </a:fontRef>
        </p:style>
      </p:cxnSp>
      <p:grpSp>
        <p:nvGrpSpPr>
          <p:cNvPr id="219" name="Gruppo 218">
            <a:extLst>
              <a:ext uri="{FF2B5EF4-FFF2-40B4-BE49-F238E27FC236}">
                <a16:creationId xmlns:a16="http://schemas.microsoft.com/office/drawing/2014/main" id="{911FFD5E-C7BF-411B-8D5B-3DED2EAA99AE}"/>
              </a:ext>
            </a:extLst>
          </p:cNvPr>
          <p:cNvGrpSpPr/>
          <p:nvPr/>
        </p:nvGrpSpPr>
        <p:grpSpPr>
          <a:xfrm>
            <a:off x="8476119" y="3803968"/>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220" name="Modello 3D 219" descr="Sfera grigio chiaro">
                  <a:extLst>
                    <a:ext uri="{FF2B5EF4-FFF2-40B4-BE49-F238E27FC236}">
                      <a16:creationId xmlns:a16="http://schemas.microsoft.com/office/drawing/2014/main" id="{98C875EA-80B0-48CF-B6D0-39AC1114E6A1}"/>
                    </a:ext>
                  </a:extLst>
                </p:cNvPr>
                <p:cNvGraphicFramePr>
                  <a:graphicFrameLocks noChangeAspect="1"/>
                </p:cNvGraphicFramePr>
                <p:nvPr/>
              </p:nvGraphicFramePr>
              <p:xfrm>
                <a:off x="7156642" y="2544531"/>
                <a:ext cx="825273" cy="825273"/>
              </p:xfrm>
              <a:graphic>
                <a:graphicData uri="http://schemas.microsoft.com/office/drawing/2017/model3d">
                  <am3d:model3d r:embed="rId2">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0" name="Modello 3D 219" descr="Sfera grigio chiaro">
                  <a:extLst>
                    <a:ext uri="{FF2B5EF4-FFF2-40B4-BE49-F238E27FC236}">
                      <a16:creationId xmlns:a16="http://schemas.microsoft.com/office/drawing/2014/main" id="{98C875EA-80B0-48CF-B6D0-39AC1114E6A1}"/>
                    </a:ext>
                  </a:extLst>
                </p:cNvPr>
                <p:cNvPicPr>
                  <a:picLocks noGrp="1" noRot="1" noChangeAspect="1" noMove="1" noResize="1" noEditPoints="1" noAdjustHandles="1" noChangeArrowheads="1" noChangeShapeType="1" noCrop="1"/>
                </p:cNvPicPr>
                <p:nvPr/>
              </p:nvPicPr>
              <p:blipFill>
                <a:blip r:embed="rId3"/>
                <a:stretch>
                  <a:fillRect/>
                </a:stretch>
              </p:blipFill>
              <p:spPr>
                <a:xfrm>
                  <a:off x="8476119" y="3803968"/>
                  <a:ext cx="433619" cy="428210"/>
                </a:xfrm>
                <a:prstGeom prst="rect">
                  <a:avLst/>
                </a:prstGeom>
              </p:spPr>
            </p:pic>
          </mc:Fallback>
        </mc:AlternateContent>
        <p:sp>
          <p:nvSpPr>
            <p:cNvPr id="221" name="CasellaDiTesto 220">
              <a:extLst>
                <a:ext uri="{FF2B5EF4-FFF2-40B4-BE49-F238E27FC236}">
                  <a16:creationId xmlns:a16="http://schemas.microsoft.com/office/drawing/2014/main" id="{9CEBF9BA-51AE-4849-A04A-5CC8869C2766}"/>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222" name="Gruppo 221">
            <a:extLst>
              <a:ext uri="{FF2B5EF4-FFF2-40B4-BE49-F238E27FC236}">
                <a16:creationId xmlns:a16="http://schemas.microsoft.com/office/drawing/2014/main" id="{BCC7831A-7857-4120-9D22-9947FA21F244}"/>
              </a:ext>
            </a:extLst>
          </p:cNvPr>
          <p:cNvGrpSpPr/>
          <p:nvPr/>
        </p:nvGrpSpPr>
        <p:grpSpPr>
          <a:xfrm>
            <a:off x="8476118" y="4516039"/>
            <a:ext cx="433620" cy="428211"/>
            <a:chOff x="6214480" y="3704781"/>
            <a:chExt cx="825274" cy="825274"/>
          </a:xfrm>
        </p:grpSpPr>
        <mc:AlternateContent xmlns:mc="http://schemas.openxmlformats.org/markup-compatibility/2006">
          <mc:Choice xmlns:am3d="http://schemas.microsoft.com/office/drawing/2017/model3d" Requires="am3d">
            <p:graphicFrame>
              <p:nvGraphicFramePr>
                <p:cNvPr id="223" name="Modello 3D 222" descr="Sfera grigio chiaro">
                  <a:extLst>
                    <a:ext uri="{FF2B5EF4-FFF2-40B4-BE49-F238E27FC236}">
                      <a16:creationId xmlns:a16="http://schemas.microsoft.com/office/drawing/2014/main" id="{B3F8582B-1E31-48C9-866F-642A06848841}"/>
                    </a:ext>
                  </a:extLst>
                </p:cNvPr>
                <p:cNvGraphicFramePr>
                  <a:graphicFrameLocks noChangeAspect="1"/>
                </p:cNvGraphicFramePr>
                <p:nvPr/>
              </p:nvGraphicFramePr>
              <p:xfrm>
                <a:off x="6214480" y="3704781"/>
                <a:ext cx="825274" cy="825274"/>
              </p:xfrm>
              <a:graphic>
                <a:graphicData uri="http://schemas.microsoft.com/office/drawing/2017/model3d">
                  <am3d:model3d r:embed="rId2">
                    <am3d:spPr>
                      <a:xfrm>
                        <a:off x="0" y="0"/>
                        <a:ext cx="825274"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54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3" name="Modello 3D 222" descr="Sfera grigio chiaro">
                  <a:extLst>
                    <a:ext uri="{FF2B5EF4-FFF2-40B4-BE49-F238E27FC236}">
                      <a16:creationId xmlns:a16="http://schemas.microsoft.com/office/drawing/2014/main" id="{B3F8582B-1E31-48C9-866F-642A06848841}"/>
                    </a:ext>
                  </a:extLst>
                </p:cNvPr>
                <p:cNvPicPr>
                  <a:picLocks noGrp="1" noRot="1" noChangeAspect="1" noMove="1" noResize="1" noEditPoints="1" noAdjustHandles="1" noChangeArrowheads="1" noChangeShapeType="1" noCrop="1"/>
                </p:cNvPicPr>
                <p:nvPr/>
              </p:nvPicPr>
              <p:blipFill>
                <a:blip r:embed="rId4"/>
                <a:stretch>
                  <a:fillRect/>
                </a:stretch>
              </p:blipFill>
              <p:spPr>
                <a:xfrm>
                  <a:off x="8476118" y="4516039"/>
                  <a:ext cx="433620" cy="428211"/>
                </a:xfrm>
                <a:prstGeom prst="rect">
                  <a:avLst/>
                </a:prstGeom>
              </p:spPr>
            </p:pic>
          </mc:Fallback>
        </mc:AlternateContent>
        <p:sp>
          <p:nvSpPr>
            <p:cNvPr id="224" name="CasellaDiTesto 223">
              <a:extLst>
                <a:ext uri="{FF2B5EF4-FFF2-40B4-BE49-F238E27FC236}">
                  <a16:creationId xmlns:a16="http://schemas.microsoft.com/office/drawing/2014/main" id="{59518E6E-40F9-4611-8CCD-1C3FEBFF8DFE}"/>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225" name="Gruppo 224">
            <a:extLst>
              <a:ext uri="{FF2B5EF4-FFF2-40B4-BE49-F238E27FC236}">
                <a16:creationId xmlns:a16="http://schemas.microsoft.com/office/drawing/2014/main" id="{03CBFBC9-3E55-4410-ADA0-BF35AF206ABA}"/>
              </a:ext>
            </a:extLst>
          </p:cNvPr>
          <p:cNvGrpSpPr/>
          <p:nvPr/>
        </p:nvGrpSpPr>
        <p:grpSpPr>
          <a:xfrm>
            <a:off x="9532823" y="3803968"/>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226" name="Modello 3D 225" descr="Sfera grigio chiaro">
                  <a:extLst>
                    <a:ext uri="{FF2B5EF4-FFF2-40B4-BE49-F238E27FC236}">
                      <a16:creationId xmlns:a16="http://schemas.microsoft.com/office/drawing/2014/main" id="{807FAF15-AFA6-49C5-BA91-56C05A14D4BD}"/>
                    </a:ext>
                  </a:extLst>
                </p:cNvPr>
                <p:cNvGraphicFramePr>
                  <a:graphicFrameLocks noChangeAspect="1"/>
                </p:cNvGraphicFramePr>
                <p:nvPr>
                  <p:extLst>
                    <p:ext uri="{D42A27DB-BD31-4B8C-83A1-F6EECF244321}">
                      <p14:modId xmlns:p14="http://schemas.microsoft.com/office/powerpoint/2010/main" val="4210481576"/>
                    </p:ext>
                  </p:extLst>
                </p:nvPr>
              </p:nvGraphicFramePr>
              <p:xfrm>
                <a:off x="5434115" y="2544525"/>
                <a:ext cx="814978" cy="825274"/>
              </p:xfrm>
              <a:graphic>
                <a:graphicData uri="http://schemas.microsoft.com/office/drawing/2017/model3d">
                  <am3d:model3d r:embed="rId2">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6" name="Modello 3D 225" descr="Sfera grigio chiaro">
                  <a:extLst>
                    <a:ext uri="{FF2B5EF4-FFF2-40B4-BE49-F238E27FC236}">
                      <a16:creationId xmlns:a16="http://schemas.microsoft.com/office/drawing/2014/main" id="{807FAF15-AFA6-49C5-BA91-56C05A14D4BD}"/>
                    </a:ext>
                  </a:extLst>
                </p:cNvPr>
                <p:cNvPicPr>
                  <a:picLocks noGrp="1" noRot="1" noChangeAspect="1" noMove="1" noResize="1" noEditPoints="1" noAdjustHandles="1" noChangeArrowheads="1" noChangeShapeType="1" noCrop="1"/>
                </p:cNvPicPr>
                <p:nvPr/>
              </p:nvPicPr>
              <p:blipFill>
                <a:blip r:embed="rId5"/>
                <a:stretch>
                  <a:fillRect/>
                </a:stretch>
              </p:blipFill>
              <p:spPr>
                <a:xfrm>
                  <a:off x="9532823" y="3803968"/>
                  <a:ext cx="428210" cy="428211"/>
                </a:xfrm>
                <a:prstGeom prst="rect">
                  <a:avLst/>
                </a:prstGeom>
              </p:spPr>
            </p:pic>
          </mc:Fallback>
        </mc:AlternateContent>
        <p:sp>
          <p:nvSpPr>
            <p:cNvPr id="227" name="CasellaDiTesto 226">
              <a:extLst>
                <a:ext uri="{FF2B5EF4-FFF2-40B4-BE49-F238E27FC236}">
                  <a16:creationId xmlns:a16="http://schemas.microsoft.com/office/drawing/2014/main" id="{2EAAF56A-7365-4440-BDA0-0298F46B0E37}"/>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grpSp>
        <p:nvGrpSpPr>
          <p:cNvPr id="228" name="Gruppo 227">
            <a:extLst>
              <a:ext uri="{FF2B5EF4-FFF2-40B4-BE49-F238E27FC236}">
                <a16:creationId xmlns:a16="http://schemas.microsoft.com/office/drawing/2014/main" id="{C0575918-5E81-49EB-9438-AB7482821D11}"/>
              </a:ext>
            </a:extLst>
          </p:cNvPr>
          <p:cNvGrpSpPr/>
          <p:nvPr/>
        </p:nvGrpSpPr>
        <p:grpSpPr>
          <a:xfrm>
            <a:off x="9524599" y="4515999"/>
            <a:ext cx="433619" cy="428210"/>
            <a:chOff x="8715018" y="3645182"/>
            <a:chExt cx="822733" cy="825275"/>
          </a:xfrm>
        </p:grpSpPr>
        <mc:AlternateContent xmlns:mc="http://schemas.openxmlformats.org/markup-compatibility/2006">
          <mc:Choice xmlns:am3d="http://schemas.microsoft.com/office/drawing/2017/model3d" Requires="am3d">
            <p:graphicFrame>
              <p:nvGraphicFramePr>
                <p:cNvPr id="229" name="Modello 3D 228" descr="Sfera grigio chiaro">
                  <a:extLst>
                    <a:ext uri="{FF2B5EF4-FFF2-40B4-BE49-F238E27FC236}">
                      <a16:creationId xmlns:a16="http://schemas.microsoft.com/office/drawing/2014/main" id="{322AE324-2242-4FB2-A961-B864210A2742}"/>
                    </a:ext>
                  </a:extLst>
                </p:cNvPr>
                <p:cNvGraphicFramePr>
                  <a:graphicFrameLocks noChangeAspect="1"/>
                </p:cNvGraphicFramePr>
                <p:nvPr>
                  <p:extLst>
                    <p:ext uri="{D42A27DB-BD31-4B8C-83A1-F6EECF244321}">
                      <p14:modId xmlns:p14="http://schemas.microsoft.com/office/powerpoint/2010/main" val="3681449228"/>
                    </p:ext>
                  </p:extLst>
                </p:nvPr>
              </p:nvGraphicFramePr>
              <p:xfrm>
                <a:off x="8715018"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9" name="Modello 3D 228" descr="Sfera grigio chiaro">
                  <a:extLst>
                    <a:ext uri="{FF2B5EF4-FFF2-40B4-BE49-F238E27FC236}">
                      <a16:creationId xmlns:a16="http://schemas.microsoft.com/office/drawing/2014/main" id="{322AE324-2242-4FB2-A961-B864210A2742}"/>
                    </a:ext>
                  </a:extLst>
                </p:cNvPr>
                <p:cNvPicPr>
                  <a:picLocks noGrp="1" noRot="1" noChangeAspect="1" noMove="1" noResize="1" noEditPoints="1" noAdjustHandles="1" noChangeArrowheads="1" noChangeShapeType="1" noCrop="1"/>
                </p:cNvPicPr>
                <p:nvPr/>
              </p:nvPicPr>
              <p:blipFill>
                <a:blip r:embed="rId3"/>
                <a:stretch>
                  <a:fillRect/>
                </a:stretch>
              </p:blipFill>
              <p:spPr>
                <a:xfrm>
                  <a:off x="9524599" y="4515999"/>
                  <a:ext cx="433619" cy="428210"/>
                </a:xfrm>
                <a:prstGeom prst="rect">
                  <a:avLst/>
                </a:prstGeom>
              </p:spPr>
            </p:pic>
          </mc:Fallback>
        </mc:AlternateContent>
        <p:sp>
          <p:nvSpPr>
            <p:cNvPr id="230" name="CasellaDiTesto 229">
              <a:extLst>
                <a:ext uri="{FF2B5EF4-FFF2-40B4-BE49-F238E27FC236}">
                  <a16:creationId xmlns:a16="http://schemas.microsoft.com/office/drawing/2014/main" id="{39306217-7D5D-405E-9DF0-58B5EE97DFED}"/>
                </a:ext>
              </a:extLst>
            </p:cNvPr>
            <p:cNvSpPr txBox="1"/>
            <p:nvPr/>
          </p:nvSpPr>
          <p:spPr>
            <a:xfrm>
              <a:off x="8903754"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cxnSp>
        <p:nvCxnSpPr>
          <p:cNvPr id="231" name="Connettore diritto 230">
            <a:extLst>
              <a:ext uri="{FF2B5EF4-FFF2-40B4-BE49-F238E27FC236}">
                <a16:creationId xmlns:a16="http://schemas.microsoft.com/office/drawing/2014/main" id="{909032FA-BEAD-406C-B385-8BF930E795A0}"/>
              </a:ext>
            </a:extLst>
          </p:cNvPr>
          <p:cNvCxnSpPr>
            <a:cxnSpLocks/>
            <a:stCxn id="220" idx="2"/>
            <a:endCxn id="223" idx="0"/>
          </p:cNvCxnSpPr>
          <p:nvPr/>
        </p:nvCxnSpPr>
        <p:spPr>
          <a:xfrm flipH="1">
            <a:off x="8692928" y="4232178"/>
            <a:ext cx="1" cy="283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2" name="Connettore diritto 231">
            <a:extLst>
              <a:ext uri="{FF2B5EF4-FFF2-40B4-BE49-F238E27FC236}">
                <a16:creationId xmlns:a16="http://schemas.microsoft.com/office/drawing/2014/main" id="{2021B929-881F-4AD6-B5CD-02A2FF39A96D}"/>
              </a:ext>
            </a:extLst>
          </p:cNvPr>
          <p:cNvCxnSpPr>
            <a:cxnSpLocks/>
            <a:stCxn id="220" idx="3"/>
            <a:endCxn id="226" idx="1"/>
          </p:cNvCxnSpPr>
          <p:nvPr/>
        </p:nvCxnSpPr>
        <p:spPr>
          <a:xfrm>
            <a:off x="8909738" y="4018073"/>
            <a:ext cx="62308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33" name="Connettore diritto 232">
            <a:extLst>
              <a:ext uri="{FF2B5EF4-FFF2-40B4-BE49-F238E27FC236}">
                <a16:creationId xmlns:a16="http://schemas.microsoft.com/office/drawing/2014/main" id="{B04E83EB-FD67-4CBE-A704-8303F874E343}"/>
              </a:ext>
            </a:extLst>
          </p:cNvPr>
          <p:cNvCxnSpPr>
            <a:cxnSpLocks/>
            <a:stCxn id="226" idx="2"/>
            <a:endCxn id="229" idx="0"/>
          </p:cNvCxnSpPr>
          <p:nvPr/>
        </p:nvCxnSpPr>
        <p:spPr>
          <a:xfrm flipH="1">
            <a:off x="9741409" y="4232179"/>
            <a:ext cx="5519" cy="283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4" name="Connettore diritto 233">
            <a:extLst>
              <a:ext uri="{FF2B5EF4-FFF2-40B4-BE49-F238E27FC236}">
                <a16:creationId xmlns:a16="http://schemas.microsoft.com/office/drawing/2014/main" id="{56972554-CC26-4964-98E5-36D21CE11D7B}"/>
              </a:ext>
            </a:extLst>
          </p:cNvPr>
          <p:cNvCxnSpPr>
            <a:cxnSpLocks/>
            <a:stCxn id="223" idx="3"/>
          </p:cNvCxnSpPr>
          <p:nvPr/>
        </p:nvCxnSpPr>
        <p:spPr>
          <a:xfrm flipV="1">
            <a:off x="8909738" y="4176549"/>
            <a:ext cx="711708" cy="5535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Connettore diritto 239">
            <a:extLst>
              <a:ext uri="{FF2B5EF4-FFF2-40B4-BE49-F238E27FC236}">
                <a16:creationId xmlns:a16="http://schemas.microsoft.com/office/drawing/2014/main" id="{A16C30D2-7E1F-43BD-84A0-4C6E9A63EB55}"/>
              </a:ext>
            </a:extLst>
          </p:cNvPr>
          <p:cNvCxnSpPr>
            <a:cxnSpLocks/>
            <a:stCxn id="223" idx="3"/>
            <a:endCxn id="229" idx="1"/>
          </p:cNvCxnSpPr>
          <p:nvPr/>
        </p:nvCxnSpPr>
        <p:spPr>
          <a:xfrm flipV="1">
            <a:off x="8909738" y="4730104"/>
            <a:ext cx="614861" cy="41"/>
          </a:xfrm>
          <a:prstGeom prst="line">
            <a:avLst/>
          </a:prstGeom>
        </p:spPr>
        <p:style>
          <a:lnRef idx="1">
            <a:schemeClr val="accent1"/>
          </a:lnRef>
          <a:fillRef idx="0">
            <a:schemeClr val="accent1"/>
          </a:fillRef>
          <a:effectRef idx="0">
            <a:schemeClr val="accent1"/>
          </a:effectRef>
          <a:fontRef idx="minor">
            <a:schemeClr val="tx1"/>
          </a:fontRef>
        </p:style>
      </p:cxnSp>
      <p:grpSp>
        <p:nvGrpSpPr>
          <p:cNvPr id="247" name="Gruppo 246">
            <a:extLst>
              <a:ext uri="{FF2B5EF4-FFF2-40B4-BE49-F238E27FC236}">
                <a16:creationId xmlns:a16="http://schemas.microsoft.com/office/drawing/2014/main" id="{87484B79-ABB1-4211-98DF-E2AE64D8038E}"/>
              </a:ext>
            </a:extLst>
          </p:cNvPr>
          <p:cNvGrpSpPr/>
          <p:nvPr/>
        </p:nvGrpSpPr>
        <p:grpSpPr>
          <a:xfrm>
            <a:off x="10581303" y="3803968"/>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248" name="Modello 3D 247" descr="Sfera grigio chiaro">
                  <a:extLst>
                    <a:ext uri="{FF2B5EF4-FFF2-40B4-BE49-F238E27FC236}">
                      <a16:creationId xmlns:a16="http://schemas.microsoft.com/office/drawing/2014/main" id="{F33A674F-2B5E-4D0C-ADFB-65A3F58538C8}"/>
                    </a:ext>
                  </a:extLst>
                </p:cNvPr>
                <p:cNvGraphicFramePr>
                  <a:graphicFrameLocks noChangeAspect="1"/>
                </p:cNvGraphicFramePr>
                <p:nvPr>
                  <p:extLst>
                    <p:ext uri="{D42A27DB-BD31-4B8C-83A1-F6EECF244321}">
                      <p14:modId xmlns:p14="http://schemas.microsoft.com/office/powerpoint/2010/main" val="3798158437"/>
                    </p:ext>
                  </p:extLst>
                </p:nvPr>
              </p:nvGraphicFramePr>
              <p:xfrm>
                <a:off x="5434115" y="2544525"/>
                <a:ext cx="814978" cy="825274"/>
              </p:xfrm>
              <a:graphic>
                <a:graphicData uri="http://schemas.microsoft.com/office/drawing/2017/model3d">
                  <am3d:model3d r:embed="rId2">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8" name="Modello 3D 247" descr="Sfera grigio chiaro">
                  <a:extLst>
                    <a:ext uri="{FF2B5EF4-FFF2-40B4-BE49-F238E27FC236}">
                      <a16:creationId xmlns:a16="http://schemas.microsoft.com/office/drawing/2014/main" id="{F33A674F-2B5E-4D0C-ADFB-65A3F58538C8}"/>
                    </a:ext>
                  </a:extLst>
                </p:cNvPr>
                <p:cNvPicPr>
                  <a:picLocks noGrp="1" noRot="1" noChangeAspect="1" noMove="1" noResize="1" noEditPoints="1" noAdjustHandles="1" noChangeArrowheads="1" noChangeShapeType="1" noCrop="1"/>
                </p:cNvPicPr>
                <p:nvPr/>
              </p:nvPicPr>
              <p:blipFill>
                <a:blip r:embed="rId5"/>
                <a:stretch>
                  <a:fillRect/>
                </a:stretch>
              </p:blipFill>
              <p:spPr>
                <a:xfrm>
                  <a:off x="10581303" y="3803968"/>
                  <a:ext cx="428210" cy="428211"/>
                </a:xfrm>
                <a:prstGeom prst="rect">
                  <a:avLst/>
                </a:prstGeom>
              </p:spPr>
            </p:pic>
          </mc:Fallback>
        </mc:AlternateContent>
        <p:sp>
          <p:nvSpPr>
            <p:cNvPr id="249" name="CasellaDiTesto 248">
              <a:extLst>
                <a:ext uri="{FF2B5EF4-FFF2-40B4-BE49-F238E27FC236}">
                  <a16:creationId xmlns:a16="http://schemas.microsoft.com/office/drawing/2014/main" id="{D4D52CF4-1F5E-4B38-B345-0E12D0A253B1}"/>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f</a:t>
              </a:r>
              <a:endParaRPr lang="it-IT" sz="1400" b="1" dirty="0">
                <a:latin typeface="LEMON MILK" panose="00000500000000000000" pitchFamily="50" charset="0"/>
              </a:endParaRPr>
            </a:p>
          </p:txBody>
        </p:sp>
      </p:grpSp>
      <p:grpSp>
        <p:nvGrpSpPr>
          <p:cNvPr id="250" name="Gruppo 249">
            <a:extLst>
              <a:ext uri="{FF2B5EF4-FFF2-40B4-BE49-F238E27FC236}">
                <a16:creationId xmlns:a16="http://schemas.microsoft.com/office/drawing/2014/main" id="{3CE62F44-9FE4-43E3-9919-40B727861ECD}"/>
              </a:ext>
            </a:extLst>
          </p:cNvPr>
          <p:cNvGrpSpPr/>
          <p:nvPr/>
        </p:nvGrpSpPr>
        <p:grpSpPr>
          <a:xfrm>
            <a:off x="10573080" y="4515999"/>
            <a:ext cx="433619" cy="428210"/>
            <a:chOff x="8715020" y="3645182"/>
            <a:chExt cx="822733" cy="825275"/>
          </a:xfrm>
        </p:grpSpPr>
        <mc:AlternateContent xmlns:mc="http://schemas.openxmlformats.org/markup-compatibility/2006">
          <mc:Choice xmlns:am3d="http://schemas.microsoft.com/office/drawing/2017/model3d" Requires="am3d">
            <p:graphicFrame>
              <p:nvGraphicFramePr>
                <p:cNvPr id="251" name="Modello 3D 250" descr="Sfera grigio chiaro">
                  <a:extLst>
                    <a:ext uri="{FF2B5EF4-FFF2-40B4-BE49-F238E27FC236}">
                      <a16:creationId xmlns:a16="http://schemas.microsoft.com/office/drawing/2014/main" id="{1965EC96-7554-46DD-8445-B51184EC1002}"/>
                    </a:ext>
                  </a:extLst>
                </p:cNvPr>
                <p:cNvGraphicFramePr>
                  <a:graphicFrameLocks noChangeAspect="1"/>
                </p:cNvGraphicFramePr>
                <p:nvPr>
                  <p:extLst>
                    <p:ext uri="{D42A27DB-BD31-4B8C-83A1-F6EECF244321}">
                      <p14:modId xmlns:p14="http://schemas.microsoft.com/office/powerpoint/2010/main" val="37062571"/>
                    </p:ext>
                  </p:extLst>
                </p:nvPr>
              </p:nvGraphicFramePr>
              <p:xfrm>
                <a:off x="8715020"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51" name="Modello 3D 250" descr="Sfera grigio chiaro">
                  <a:extLst>
                    <a:ext uri="{FF2B5EF4-FFF2-40B4-BE49-F238E27FC236}">
                      <a16:creationId xmlns:a16="http://schemas.microsoft.com/office/drawing/2014/main" id="{1965EC96-7554-46DD-8445-B51184EC1002}"/>
                    </a:ext>
                  </a:extLst>
                </p:cNvPr>
                <p:cNvPicPr>
                  <a:picLocks noGrp="1" noRot="1" noChangeAspect="1" noMove="1" noResize="1" noEditPoints="1" noAdjustHandles="1" noChangeArrowheads="1" noChangeShapeType="1" noCrop="1"/>
                </p:cNvPicPr>
                <p:nvPr/>
              </p:nvPicPr>
              <p:blipFill>
                <a:blip r:embed="rId3"/>
                <a:stretch>
                  <a:fillRect/>
                </a:stretch>
              </p:blipFill>
              <p:spPr>
                <a:xfrm>
                  <a:off x="10573080" y="4515999"/>
                  <a:ext cx="433619" cy="428210"/>
                </a:xfrm>
                <a:prstGeom prst="rect">
                  <a:avLst/>
                </a:prstGeom>
              </p:spPr>
            </p:pic>
          </mc:Fallback>
        </mc:AlternateContent>
        <p:sp>
          <p:nvSpPr>
            <p:cNvPr id="252" name="CasellaDiTesto 251">
              <a:extLst>
                <a:ext uri="{FF2B5EF4-FFF2-40B4-BE49-F238E27FC236}">
                  <a16:creationId xmlns:a16="http://schemas.microsoft.com/office/drawing/2014/main" id="{39435886-D0AE-4233-9FAB-6F5D860A2772}"/>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cxnSp>
        <p:nvCxnSpPr>
          <p:cNvPr id="254" name="Connettore diritto 253">
            <a:extLst>
              <a:ext uri="{FF2B5EF4-FFF2-40B4-BE49-F238E27FC236}">
                <a16:creationId xmlns:a16="http://schemas.microsoft.com/office/drawing/2014/main" id="{07D01A02-DB37-4585-B44C-2017F2AB8279}"/>
              </a:ext>
            </a:extLst>
          </p:cNvPr>
          <p:cNvCxnSpPr>
            <a:cxnSpLocks/>
            <a:endCxn id="248" idx="1"/>
          </p:cNvCxnSpPr>
          <p:nvPr/>
        </p:nvCxnSpPr>
        <p:spPr>
          <a:xfrm>
            <a:off x="9958218" y="4018073"/>
            <a:ext cx="623085"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255" name="Connettore diritto 254">
            <a:extLst>
              <a:ext uri="{FF2B5EF4-FFF2-40B4-BE49-F238E27FC236}">
                <a16:creationId xmlns:a16="http://schemas.microsoft.com/office/drawing/2014/main" id="{EB487806-D302-4D4C-9198-ACF9E1EE9AF9}"/>
              </a:ext>
            </a:extLst>
          </p:cNvPr>
          <p:cNvCxnSpPr>
            <a:cxnSpLocks/>
            <a:stCxn id="248" idx="2"/>
            <a:endCxn id="251" idx="0"/>
          </p:cNvCxnSpPr>
          <p:nvPr/>
        </p:nvCxnSpPr>
        <p:spPr>
          <a:xfrm flipH="1">
            <a:off x="10789889" y="4232179"/>
            <a:ext cx="5519" cy="2838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6" name="Connettore diritto 255">
            <a:extLst>
              <a:ext uri="{FF2B5EF4-FFF2-40B4-BE49-F238E27FC236}">
                <a16:creationId xmlns:a16="http://schemas.microsoft.com/office/drawing/2014/main" id="{FF6B4ED8-D7D8-4D52-A669-C6E7A9B78A81}"/>
              </a:ext>
            </a:extLst>
          </p:cNvPr>
          <p:cNvCxnSpPr>
            <a:cxnSpLocks/>
          </p:cNvCxnSpPr>
          <p:nvPr/>
        </p:nvCxnSpPr>
        <p:spPr>
          <a:xfrm flipV="1">
            <a:off x="9958218" y="4176549"/>
            <a:ext cx="711708" cy="5535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7" name="Connettore diritto 256">
            <a:extLst>
              <a:ext uri="{FF2B5EF4-FFF2-40B4-BE49-F238E27FC236}">
                <a16:creationId xmlns:a16="http://schemas.microsoft.com/office/drawing/2014/main" id="{28EE92BA-6689-4B3E-AF11-267EE5533288}"/>
              </a:ext>
            </a:extLst>
          </p:cNvPr>
          <p:cNvCxnSpPr>
            <a:cxnSpLocks/>
            <a:endCxn id="251" idx="1"/>
          </p:cNvCxnSpPr>
          <p:nvPr/>
        </p:nvCxnSpPr>
        <p:spPr>
          <a:xfrm flipV="1">
            <a:off x="9958218" y="4730104"/>
            <a:ext cx="614861" cy="41"/>
          </a:xfrm>
          <a:prstGeom prst="line">
            <a:avLst/>
          </a:prstGeom>
        </p:spPr>
        <p:style>
          <a:lnRef idx="1">
            <a:schemeClr val="accent1"/>
          </a:lnRef>
          <a:fillRef idx="0">
            <a:schemeClr val="accent1"/>
          </a:fillRef>
          <a:effectRef idx="0">
            <a:schemeClr val="accent1"/>
          </a:effectRef>
          <a:fontRef idx="minor">
            <a:schemeClr val="tx1"/>
          </a:fontRef>
        </p:style>
      </p:cxnSp>
      <p:sp>
        <p:nvSpPr>
          <p:cNvPr id="261" name="CasellaDiTesto 260">
            <a:extLst>
              <a:ext uri="{FF2B5EF4-FFF2-40B4-BE49-F238E27FC236}">
                <a16:creationId xmlns:a16="http://schemas.microsoft.com/office/drawing/2014/main" id="{9CD39EB9-6EA0-4708-8C46-AD6ABAAFBCE0}"/>
              </a:ext>
            </a:extLst>
          </p:cNvPr>
          <p:cNvSpPr txBox="1"/>
          <p:nvPr/>
        </p:nvSpPr>
        <p:spPr>
          <a:xfrm>
            <a:off x="1804837" y="1799162"/>
            <a:ext cx="8839200"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a:t>
            </a:r>
            <a:r>
              <a:rPr lang="it-IT" sz="1600" b="1" dirty="0">
                <a:solidFill>
                  <a:schemeClr val="bg1"/>
                </a:solidFill>
                <a:latin typeface="Corbel Light" panose="020B0303020204020204" pitchFamily="34" charset="0"/>
              </a:rPr>
              <a:t>MATRICE DELLE ADIACENZE </a:t>
            </a:r>
            <a:r>
              <a:rPr lang="it-IT" sz="1600" dirty="0">
                <a:solidFill>
                  <a:schemeClr val="bg1"/>
                </a:solidFill>
                <a:latin typeface="Corbel Light" panose="020B0303020204020204" pitchFamily="34" charset="0"/>
              </a:rPr>
              <a:t>utilizza nel caso in cui il grafo si</a:t>
            </a:r>
          </a:p>
          <a:p>
            <a:pPr algn="ctr"/>
            <a:r>
              <a:rPr lang="it-IT" sz="1600" dirty="0">
                <a:solidFill>
                  <a:schemeClr val="bg1"/>
                </a:solidFill>
                <a:latin typeface="Corbel Light" panose="020B0303020204020204" pitchFamily="34" charset="0"/>
              </a:rPr>
              <a:t> riferisca a situazioni dove il numero dei vertici rimane pressoché invariato.</a:t>
            </a:r>
          </a:p>
          <a:p>
            <a:pPr algn="ctr"/>
            <a:r>
              <a:rPr lang="it-IT" sz="1600" dirty="0">
                <a:solidFill>
                  <a:schemeClr val="bg1"/>
                </a:solidFill>
                <a:latin typeface="Corbel Light" panose="020B0303020204020204" pitchFamily="34" charset="0"/>
              </a:rPr>
              <a:t>Qui viene riportato, in ascissa e ordinata, l’elenco dei vertici: nelle</a:t>
            </a:r>
          </a:p>
          <a:p>
            <a:pPr algn="ctr"/>
            <a:r>
              <a:rPr lang="it-IT" sz="1600" dirty="0">
                <a:solidFill>
                  <a:schemeClr val="bg1"/>
                </a:solidFill>
                <a:latin typeface="Corbel Light" panose="020B0303020204020204" pitchFamily="34" charset="0"/>
              </a:rPr>
              <a:t> celle di incrocio tra due nodi si indica con 1 la presenza di </a:t>
            </a:r>
          </a:p>
          <a:p>
            <a:pPr algn="ctr"/>
            <a:r>
              <a:rPr lang="it-IT" sz="1600" dirty="0">
                <a:solidFill>
                  <a:schemeClr val="bg1"/>
                </a:solidFill>
                <a:latin typeface="Corbel Light" panose="020B0303020204020204" pitchFamily="34" charset="0"/>
              </a:rPr>
              <a:t>connessione e con 0 l’assenza.</a:t>
            </a:r>
          </a:p>
        </p:txBody>
      </p:sp>
      <p:sp>
        <p:nvSpPr>
          <p:cNvPr id="262" name="CasellaDiTesto 261">
            <a:extLst>
              <a:ext uri="{FF2B5EF4-FFF2-40B4-BE49-F238E27FC236}">
                <a16:creationId xmlns:a16="http://schemas.microsoft.com/office/drawing/2014/main" id="{99946B36-021F-4DA0-901B-3AC5101ECEF1}"/>
              </a:ext>
            </a:extLst>
          </p:cNvPr>
          <p:cNvSpPr txBox="1"/>
          <p:nvPr/>
        </p:nvSpPr>
        <p:spPr>
          <a:xfrm>
            <a:off x="4769530" y="962344"/>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GRAFI</a:t>
            </a:r>
          </a:p>
        </p:txBody>
      </p:sp>
      <p:pic>
        <p:nvPicPr>
          <p:cNvPr id="85" name="Immagine 84">
            <a:extLst>
              <a:ext uri="{FF2B5EF4-FFF2-40B4-BE49-F238E27FC236}">
                <a16:creationId xmlns:a16="http://schemas.microsoft.com/office/drawing/2014/main" id="{101A2AF9-E34C-42C0-9BD8-AE628886CB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02321" y="4997079"/>
            <a:ext cx="2742410" cy="1544891"/>
          </a:xfrm>
          <a:prstGeom prst="rect">
            <a:avLst/>
          </a:prstGeom>
        </p:spPr>
      </p:pic>
      <p:pic>
        <p:nvPicPr>
          <p:cNvPr id="88" name="Immagine 87">
            <a:extLst>
              <a:ext uri="{FF2B5EF4-FFF2-40B4-BE49-F238E27FC236}">
                <a16:creationId xmlns:a16="http://schemas.microsoft.com/office/drawing/2014/main" id="{A88DCEBA-660F-4D70-A661-82EE34882B0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20616" y="5002322"/>
            <a:ext cx="2742411" cy="1544891"/>
          </a:xfrm>
          <a:prstGeom prst="rect">
            <a:avLst/>
          </a:prstGeom>
        </p:spPr>
      </p:pic>
      <p:pic>
        <p:nvPicPr>
          <p:cNvPr id="91" name="Immagine 90">
            <a:extLst>
              <a:ext uri="{FF2B5EF4-FFF2-40B4-BE49-F238E27FC236}">
                <a16:creationId xmlns:a16="http://schemas.microsoft.com/office/drawing/2014/main" id="{9E8E0DB6-BB69-4247-ABBB-BDB87300538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10420" y="4987113"/>
            <a:ext cx="2742411" cy="1544891"/>
          </a:xfrm>
          <a:prstGeom prst="rect">
            <a:avLst/>
          </a:prstGeom>
        </p:spPr>
      </p:pic>
    </p:spTree>
    <p:extLst>
      <p:ext uri="{BB962C8B-B14F-4D97-AF65-F5344CB8AC3E}">
        <p14:creationId xmlns:p14="http://schemas.microsoft.com/office/powerpoint/2010/main" val="556802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19" name="Modello 3D 18" descr="Femore umano 2">
                <a:extLst>
                  <a:ext uri="{FF2B5EF4-FFF2-40B4-BE49-F238E27FC236}">
                    <a16:creationId xmlns:a16="http://schemas.microsoft.com/office/drawing/2014/main" id="{D0527C5D-305D-4476-9FE6-E114BBD3B007}"/>
                  </a:ext>
                </a:extLst>
              </p:cNvPr>
              <p:cNvGraphicFramePr>
                <a:graphicFrameLocks noChangeAspect="1"/>
              </p:cNvGraphicFramePr>
              <p:nvPr/>
            </p:nvGraphicFramePr>
            <p:xfrm rot="18310835">
              <a:off x="14495247" y="762486"/>
              <a:ext cx="1341095" cy="4936373"/>
            </p:xfrm>
            <a:graphic>
              <a:graphicData uri="http://schemas.microsoft.com/office/drawing/2017/model3d">
                <am3d:model3d r:embed="rId2">
                  <am3d:spPr>
                    <a:xfrm rot="18310835">
                      <a:off x="0" y="0"/>
                      <a:ext cx="1341095" cy="4936373"/>
                    </a:xfrm>
                    <a:prstGeom prst="rect">
                      <a:avLst/>
                    </a:prstGeom>
                  </am3d:spPr>
                  <am3d:camera>
                    <am3d:pos x="0" y="0" z="48750144"/>
                    <am3d:up dx="0" dy="36000000" dz="0"/>
                    <am3d:lookAt x="0" y="0" z="0"/>
                    <am3d:perspective fov="2700000"/>
                  </am3d:camera>
                  <am3d:trans>
                    <am3d:meterPerModelUnit n="2129889" d="1000000"/>
                    <am3d:preTrans dx="0" dy="0" dz="0"/>
                    <am3d:scale>
                      <am3d:sx n="1000000" d="1000000"/>
                      <am3d:sy n="1000000" d="1000000"/>
                      <am3d:sz n="1000000" d="1000000"/>
                    </am3d:scale>
                    <am3d:rot ax="-2866711" ay="-1794091" az="1726972"/>
                    <am3d:postTrans dx="0" dy="0" dz="0"/>
                  </am3d:trans>
                  <am3d:raster rName="Office3DRenderer" rVer="16.0.8326">
                    <am3d:blip r:embed="rId3"/>
                  </am3d:raster>
                  <am3d:objViewport viewportSz="5335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lo 3D 18" descr="Femore umano 2">
                <a:extLst>
                  <a:ext uri="{FF2B5EF4-FFF2-40B4-BE49-F238E27FC236}">
                    <a16:creationId xmlns:a16="http://schemas.microsoft.com/office/drawing/2014/main" id="{D0527C5D-305D-4476-9FE6-E114BBD3B007}"/>
                  </a:ext>
                </a:extLst>
              </p:cNvPr>
              <p:cNvPicPr>
                <a:picLocks noGrp="1" noRot="1" noChangeAspect="1" noMove="1" noResize="1" noEditPoints="1" noAdjustHandles="1" noChangeArrowheads="1" noChangeShapeType="1" noCrop="1"/>
              </p:cNvPicPr>
              <p:nvPr/>
            </p:nvPicPr>
            <p:blipFill>
              <a:blip r:embed="rId3"/>
              <a:stretch>
                <a:fillRect/>
              </a:stretch>
            </p:blipFill>
            <p:spPr>
              <a:xfrm rot="18310835">
                <a:off x="14495247" y="762486"/>
                <a:ext cx="1341095" cy="4936373"/>
              </a:xfrm>
              <a:prstGeom prst="rect">
                <a:avLst/>
              </a:prstGeom>
            </p:spPr>
          </p:pic>
        </mc:Fallback>
      </mc:AlternateContent>
      <p:sp>
        <p:nvSpPr>
          <p:cNvPr id="20" name="Rettangolo 19">
            <a:extLst>
              <a:ext uri="{FF2B5EF4-FFF2-40B4-BE49-F238E27FC236}">
                <a16:creationId xmlns:a16="http://schemas.microsoft.com/office/drawing/2014/main" id="{B09536D3-4D96-425D-AFA9-C39504FD98D0}"/>
              </a:ext>
            </a:extLst>
          </p:cNvPr>
          <p:cNvSpPr/>
          <p:nvPr/>
        </p:nvSpPr>
        <p:spPr>
          <a:xfrm>
            <a:off x="12526514" y="61469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11843467" y="48723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sp>
        <p:nvSpPr>
          <p:cNvPr id="103" name="CasellaDiTesto 102">
            <a:extLst>
              <a:ext uri="{FF2B5EF4-FFF2-40B4-BE49-F238E27FC236}">
                <a16:creationId xmlns:a16="http://schemas.microsoft.com/office/drawing/2014/main" id="{F3089AEE-0298-4DF3-9AB8-69284F69F6F6}"/>
              </a:ext>
            </a:extLst>
          </p:cNvPr>
          <p:cNvSpPr txBox="1"/>
          <p:nvPr/>
        </p:nvSpPr>
        <p:spPr>
          <a:xfrm>
            <a:off x="6795870" y="-9582585"/>
            <a:ext cx="430831" cy="15604272"/>
          </a:xfrm>
          <a:prstGeom prst="rect">
            <a:avLst/>
          </a:prstGeom>
          <a:noFill/>
        </p:spPr>
        <p:txBody>
          <a:bodyPr wrap="square" rtlCol="0">
            <a:spAutoFit/>
          </a:bodyPr>
          <a:lstStyle/>
          <a:p>
            <a:pPr algn="ctr"/>
            <a:endParaRPr lang="pt-BR" sz="3600" dirty="0">
              <a:solidFill>
                <a:schemeClr val="bg1"/>
              </a:solidFill>
              <a:latin typeface="LEMON MILK" panose="00000500000000000000" pitchFamily="50" charset="0"/>
            </a:endParaRPr>
          </a:p>
          <a:p>
            <a:pPr algn="ctr"/>
            <a:r>
              <a:rPr lang="pt-BR" sz="3600" dirty="0">
                <a:solidFill>
                  <a:schemeClr val="bg1"/>
                </a:solidFill>
                <a:latin typeface="LEMON MILK" panose="00000500000000000000" pitchFamily="50" charset="0"/>
              </a:rPr>
              <a:t>A</a:t>
            </a:r>
          </a:p>
          <a:p>
            <a:pPr algn="ctr"/>
            <a:r>
              <a:rPr lang="pt-BR" sz="3600" dirty="0">
                <a:solidFill>
                  <a:schemeClr val="bg1"/>
                </a:solidFill>
                <a:latin typeface="LEMON MILK" panose="00000500000000000000" pitchFamily="50" charset="0"/>
              </a:rPr>
              <a:t>B</a:t>
            </a:r>
          </a:p>
          <a:p>
            <a:pPr algn="ctr"/>
            <a:r>
              <a:rPr lang="pt-BR" sz="3600" dirty="0">
                <a:solidFill>
                  <a:schemeClr val="bg1"/>
                </a:solidFill>
                <a:latin typeface="LEMON MILK" panose="00000500000000000000" pitchFamily="50" charset="0"/>
              </a:rPr>
              <a:t>C</a:t>
            </a:r>
          </a:p>
          <a:p>
            <a:pPr algn="ctr"/>
            <a:r>
              <a:rPr lang="pt-BR" sz="3600" dirty="0">
                <a:solidFill>
                  <a:schemeClr val="bg1"/>
                </a:solidFill>
                <a:latin typeface="LEMON MILK" panose="00000500000000000000" pitchFamily="50" charset="0"/>
              </a:rPr>
              <a:t>D</a:t>
            </a:r>
          </a:p>
          <a:p>
            <a:pPr algn="ctr"/>
            <a:r>
              <a:rPr lang="pt-BR" sz="3600" dirty="0">
                <a:solidFill>
                  <a:schemeClr val="bg1"/>
                </a:solidFill>
                <a:latin typeface="LEMON MILK" panose="00000500000000000000" pitchFamily="50" charset="0"/>
              </a:rPr>
              <a:t>E</a:t>
            </a:r>
          </a:p>
          <a:p>
            <a:pPr algn="ctr"/>
            <a:r>
              <a:rPr lang="pt-BR" sz="3600" dirty="0">
                <a:solidFill>
                  <a:schemeClr val="bg1"/>
                </a:solidFill>
                <a:latin typeface="LEMON MILK" panose="00000500000000000000" pitchFamily="50" charset="0"/>
              </a:rPr>
              <a:t>F</a:t>
            </a:r>
          </a:p>
          <a:p>
            <a:pPr algn="ctr"/>
            <a:r>
              <a:rPr lang="pt-BR" sz="3600" dirty="0">
                <a:solidFill>
                  <a:schemeClr val="bg1"/>
                </a:solidFill>
                <a:latin typeface="LEMON MILK" panose="00000500000000000000" pitchFamily="50" charset="0"/>
              </a:rPr>
              <a:t>G</a:t>
            </a:r>
          </a:p>
          <a:p>
            <a:pPr algn="ctr"/>
            <a:r>
              <a:rPr lang="pt-BR" sz="3600" dirty="0">
                <a:solidFill>
                  <a:schemeClr val="bg1"/>
                </a:solidFill>
                <a:latin typeface="LEMON MILK" panose="00000500000000000000" pitchFamily="50" charset="0"/>
              </a:rPr>
              <a:t>H</a:t>
            </a:r>
          </a:p>
          <a:p>
            <a:pPr algn="ctr"/>
            <a:r>
              <a:rPr lang="pt-BR" sz="3600" dirty="0">
                <a:solidFill>
                  <a:schemeClr val="bg1"/>
                </a:solidFill>
                <a:latin typeface="LEMON MILK" panose="00000500000000000000" pitchFamily="50" charset="0"/>
              </a:rPr>
              <a:t>I</a:t>
            </a:r>
          </a:p>
          <a:p>
            <a:pPr algn="ctr"/>
            <a:r>
              <a:rPr lang="pt-BR" sz="3600" dirty="0">
                <a:solidFill>
                  <a:schemeClr val="bg1"/>
                </a:solidFill>
                <a:latin typeface="LEMON MILK" panose="00000500000000000000" pitchFamily="50" charset="0"/>
              </a:rPr>
              <a:t>J</a:t>
            </a:r>
          </a:p>
          <a:p>
            <a:pPr algn="ctr"/>
            <a:r>
              <a:rPr lang="pt-BR" sz="3600" dirty="0">
                <a:solidFill>
                  <a:schemeClr val="bg1"/>
                </a:solidFill>
                <a:latin typeface="LEMON MILK" panose="00000500000000000000" pitchFamily="50" charset="0"/>
              </a:rPr>
              <a:t>K</a:t>
            </a:r>
          </a:p>
          <a:p>
            <a:pPr algn="ctr"/>
            <a:r>
              <a:rPr lang="pt-BR" sz="3600" dirty="0">
                <a:solidFill>
                  <a:schemeClr val="bg1"/>
                </a:solidFill>
                <a:latin typeface="LEMON MILK" panose="00000500000000000000" pitchFamily="50" charset="0"/>
              </a:rPr>
              <a:t>L</a:t>
            </a:r>
          </a:p>
          <a:p>
            <a:pPr algn="ctr"/>
            <a:r>
              <a:rPr lang="pt-BR" sz="3600" dirty="0">
                <a:solidFill>
                  <a:schemeClr val="bg1"/>
                </a:solidFill>
                <a:latin typeface="LEMON MILK" panose="00000500000000000000" pitchFamily="50" charset="0"/>
              </a:rPr>
              <a:t>M</a:t>
            </a:r>
          </a:p>
          <a:p>
            <a:pPr algn="ctr"/>
            <a:r>
              <a:rPr lang="pt-BR" sz="3600" dirty="0">
                <a:solidFill>
                  <a:schemeClr val="bg1"/>
                </a:solidFill>
                <a:latin typeface="LEMON MILK" panose="00000500000000000000" pitchFamily="50" charset="0"/>
              </a:rPr>
              <a:t>N</a:t>
            </a:r>
          </a:p>
          <a:p>
            <a:pPr algn="ctr"/>
            <a:r>
              <a:rPr lang="pt-BR" sz="3600" dirty="0">
                <a:solidFill>
                  <a:schemeClr val="bg1"/>
                </a:solidFill>
                <a:latin typeface="LEMON MILK" panose="00000500000000000000" pitchFamily="50" charset="0"/>
              </a:rPr>
              <a:t>O</a:t>
            </a:r>
          </a:p>
          <a:p>
            <a:pPr algn="ctr"/>
            <a:r>
              <a:rPr lang="pt-BR" sz="3600" dirty="0">
                <a:solidFill>
                  <a:schemeClr val="bg1"/>
                </a:solidFill>
                <a:latin typeface="LEMON MILK" panose="00000500000000000000" pitchFamily="50" charset="0"/>
              </a:rPr>
              <a:t>P</a:t>
            </a:r>
          </a:p>
          <a:p>
            <a:pPr algn="ctr"/>
            <a:r>
              <a:rPr lang="pt-BR" sz="3600" dirty="0">
                <a:solidFill>
                  <a:schemeClr val="bg1"/>
                </a:solidFill>
                <a:latin typeface="LEMON MILK" panose="00000500000000000000" pitchFamily="50" charset="0"/>
              </a:rPr>
              <a:t>Q</a:t>
            </a:r>
          </a:p>
          <a:p>
            <a:pPr algn="ctr"/>
            <a:r>
              <a:rPr lang="pt-BR" sz="3600" dirty="0">
                <a:solidFill>
                  <a:schemeClr val="bg1"/>
                </a:solidFill>
                <a:latin typeface="LEMON MILK" panose="00000500000000000000" pitchFamily="50" charset="0"/>
              </a:rPr>
              <a:t>R</a:t>
            </a:r>
          </a:p>
          <a:p>
            <a:pPr algn="ctr"/>
            <a:r>
              <a:rPr lang="pt-BR" sz="3600" dirty="0">
                <a:solidFill>
                  <a:schemeClr val="bg1"/>
                </a:solidFill>
                <a:latin typeface="LEMON MILK" panose="00000500000000000000" pitchFamily="50" charset="0"/>
              </a:rPr>
              <a:t>S</a:t>
            </a:r>
          </a:p>
          <a:p>
            <a:pPr algn="ctr"/>
            <a:r>
              <a:rPr lang="pt-BR" sz="3600" dirty="0">
                <a:solidFill>
                  <a:schemeClr val="bg1"/>
                </a:solidFill>
                <a:latin typeface="LEMON MILK" panose="00000500000000000000" pitchFamily="50" charset="0"/>
              </a:rPr>
              <a:t>T</a:t>
            </a:r>
          </a:p>
          <a:p>
            <a:pPr algn="ctr"/>
            <a:r>
              <a:rPr lang="pt-BR" sz="3600" dirty="0">
                <a:solidFill>
                  <a:schemeClr val="bg1"/>
                </a:solidFill>
                <a:latin typeface="LEMON MILK" panose="00000500000000000000" pitchFamily="50" charset="0"/>
              </a:rPr>
              <a:t>U</a:t>
            </a:r>
          </a:p>
          <a:p>
            <a:pPr algn="ctr"/>
            <a:r>
              <a:rPr lang="pt-BR" sz="3600" dirty="0">
                <a:solidFill>
                  <a:schemeClr val="bg1"/>
                </a:solidFill>
                <a:latin typeface="LEMON MILK" panose="00000500000000000000" pitchFamily="50" charset="0"/>
              </a:rPr>
              <a:t>V</a:t>
            </a:r>
          </a:p>
          <a:p>
            <a:pPr algn="ctr"/>
            <a:r>
              <a:rPr lang="pt-BR" sz="3600" dirty="0">
                <a:solidFill>
                  <a:schemeClr val="bg1"/>
                </a:solidFill>
                <a:latin typeface="LEMON MILK" panose="00000500000000000000" pitchFamily="50" charset="0"/>
              </a:rPr>
              <a:t>W</a:t>
            </a:r>
          </a:p>
          <a:p>
            <a:pPr algn="ctr"/>
            <a:r>
              <a:rPr lang="pt-BR" sz="3600" dirty="0">
                <a:solidFill>
                  <a:schemeClr val="bg1"/>
                </a:solidFill>
                <a:latin typeface="LEMON MILK" panose="00000500000000000000" pitchFamily="50" charset="0"/>
              </a:rPr>
              <a:t>X</a:t>
            </a:r>
          </a:p>
          <a:p>
            <a:pPr algn="ctr"/>
            <a:r>
              <a:rPr lang="pt-BR" sz="3600" dirty="0">
                <a:solidFill>
                  <a:schemeClr val="bg1"/>
                </a:solidFill>
                <a:latin typeface="LEMON MILK" panose="00000500000000000000" pitchFamily="50" charset="0"/>
              </a:rPr>
              <a:t>Y</a:t>
            </a:r>
          </a:p>
          <a:p>
            <a:pPr algn="ctr"/>
            <a:r>
              <a:rPr lang="pt-BR" sz="3600" dirty="0">
                <a:solidFill>
                  <a:schemeClr val="bg1"/>
                </a:solidFill>
                <a:latin typeface="LEMON MILK" panose="00000500000000000000" pitchFamily="50" charset="0"/>
              </a:rPr>
              <a:t>Z</a:t>
            </a:r>
            <a:endParaRPr lang="en-US" sz="3600" dirty="0">
              <a:solidFill>
                <a:schemeClr val="bg1"/>
              </a:solidFill>
              <a:latin typeface="LEMON MILK" panose="00000500000000000000" pitchFamily="50" charset="0"/>
            </a:endParaRPr>
          </a:p>
        </p:txBody>
      </p:sp>
      <p:sp>
        <p:nvSpPr>
          <p:cNvPr id="6" name="Rettangolo 5">
            <a:extLst>
              <a:ext uri="{FF2B5EF4-FFF2-40B4-BE49-F238E27FC236}">
                <a16:creationId xmlns:a16="http://schemas.microsoft.com/office/drawing/2014/main" id="{B3223671-C2AB-4FB4-9972-66089A04DE9D}"/>
              </a:ext>
            </a:extLst>
          </p:cNvPr>
          <p:cNvSpPr/>
          <p:nvPr/>
        </p:nvSpPr>
        <p:spPr>
          <a:xfrm>
            <a:off x="-107848" y="-164123"/>
            <a:ext cx="122975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61" name="CasellaDiTesto 260">
            <a:extLst>
              <a:ext uri="{FF2B5EF4-FFF2-40B4-BE49-F238E27FC236}">
                <a16:creationId xmlns:a16="http://schemas.microsoft.com/office/drawing/2014/main" id="{9CD39EB9-6EA0-4708-8C46-AD6ABAAFBCE0}"/>
              </a:ext>
            </a:extLst>
          </p:cNvPr>
          <p:cNvSpPr txBox="1"/>
          <p:nvPr/>
        </p:nvSpPr>
        <p:spPr>
          <a:xfrm>
            <a:off x="-576327" y="1660583"/>
            <a:ext cx="8839200"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a:t>
            </a:r>
            <a:r>
              <a:rPr lang="it-IT" sz="1600" b="1" dirty="0">
                <a:solidFill>
                  <a:schemeClr val="bg1"/>
                </a:solidFill>
                <a:latin typeface="Corbel Light" panose="020B0303020204020204" pitchFamily="34" charset="0"/>
              </a:rPr>
              <a:t>MATRICE DELLE ADIACENZE </a:t>
            </a:r>
            <a:r>
              <a:rPr lang="it-IT" sz="1600" dirty="0">
                <a:solidFill>
                  <a:schemeClr val="bg1"/>
                </a:solidFill>
                <a:latin typeface="Corbel Light" panose="020B0303020204020204" pitchFamily="34" charset="0"/>
              </a:rPr>
              <a:t>utilizza nel caso in cui il grafo si</a:t>
            </a:r>
          </a:p>
          <a:p>
            <a:pPr algn="ctr"/>
            <a:r>
              <a:rPr lang="it-IT" sz="1600" dirty="0">
                <a:solidFill>
                  <a:schemeClr val="bg1"/>
                </a:solidFill>
                <a:latin typeface="Corbel Light" panose="020B0303020204020204" pitchFamily="34" charset="0"/>
              </a:rPr>
              <a:t> riferisca a situazioni dove il numero dei vertici rimane pressoché invariato.</a:t>
            </a:r>
          </a:p>
          <a:p>
            <a:pPr algn="ctr"/>
            <a:r>
              <a:rPr lang="it-IT" sz="1600" dirty="0">
                <a:solidFill>
                  <a:schemeClr val="bg1"/>
                </a:solidFill>
                <a:latin typeface="Corbel Light" panose="020B0303020204020204" pitchFamily="34" charset="0"/>
              </a:rPr>
              <a:t>Qui viene riportato, in ascissa e ordinata, l’elenco dei vertici: nelle</a:t>
            </a:r>
          </a:p>
          <a:p>
            <a:pPr algn="ctr"/>
            <a:r>
              <a:rPr lang="it-IT" sz="1600" dirty="0">
                <a:solidFill>
                  <a:schemeClr val="bg1"/>
                </a:solidFill>
                <a:latin typeface="Corbel Light" panose="020B0303020204020204" pitchFamily="34" charset="0"/>
              </a:rPr>
              <a:t> celle di incrocio tra due nodi si indica con 1 la presenza di </a:t>
            </a:r>
          </a:p>
          <a:p>
            <a:pPr algn="ctr"/>
            <a:r>
              <a:rPr lang="it-IT" sz="1600" dirty="0">
                <a:solidFill>
                  <a:schemeClr val="bg1"/>
                </a:solidFill>
                <a:latin typeface="Corbel Light" panose="020B0303020204020204" pitchFamily="34" charset="0"/>
              </a:rPr>
              <a:t>connessione e con 0 l’assenza.</a:t>
            </a:r>
          </a:p>
        </p:txBody>
      </p:sp>
      <p:grpSp>
        <p:nvGrpSpPr>
          <p:cNvPr id="105" name="Gruppo 104">
            <a:extLst>
              <a:ext uri="{FF2B5EF4-FFF2-40B4-BE49-F238E27FC236}">
                <a16:creationId xmlns:a16="http://schemas.microsoft.com/office/drawing/2014/main" id="{FB5F0A33-D3B1-455A-9BBC-0A5CB111E70C}"/>
              </a:ext>
            </a:extLst>
          </p:cNvPr>
          <p:cNvGrpSpPr/>
          <p:nvPr/>
        </p:nvGrpSpPr>
        <p:grpSpPr>
          <a:xfrm>
            <a:off x="8025454" y="5171530"/>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106" name="Modello 3D 105" descr="Sfera grigio chiaro">
                  <a:extLst>
                    <a:ext uri="{FF2B5EF4-FFF2-40B4-BE49-F238E27FC236}">
                      <a16:creationId xmlns:a16="http://schemas.microsoft.com/office/drawing/2014/main" id="{D264CAE0-BC83-44F4-A775-EE88D8F71B87}"/>
                    </a:ext>
                  </a:extLst>
                </p:cNvPr>
                <p:cNvGraphicFramePr>
                  <a:graphicFrameLocks noChangeAspect="1"/>
                </p:cNvGraphicFramePr>
                <p:nvPr/>
              </p:nvGraphicFramePr>
              <p:xfrm>
                <a:off x="7156642" y="2544531"/>
                <a:ext cx="825273" cy="825273"/>
              </p:xfrm>
              <a:graphic>
                <a:graphicData uri="http://schemas.microsoft.com/office/drawing/2017/model3d">
                  <am3d:model3d r:embed="rId4">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6" name="Modello 3D 105" descr="Sfera grigio chiaro">
                  <a:extLst>
                    <a:ext uri="{FF2B5EF4-FFF2-40B4-BE49-F238E27FC236}">
                      <a16:creationId xmlns:a16="http://schemas.microsoft.com/office/drawing/2014/main" id="{D264CAE0-BC83-44F4-A775-EE88D8F71B87}"/>
                    </a:ext>
                  </a:extLst>
                </p:cNvPr>
                <p:cNvPicPr>
                  <a:picLocks noGrp="1" noRot="1" noChangeAspect="1" noMove="1" noResize="1" noEditPoints="1" noAdjustHandles="1" noChangeArrowheads="1" noChangeShapeType="1" noCrop="1"/>
                </p:cNvPicPr>
                <p:nvPr/>
              </p:nvPicPr>
              <p:blipFill>
                <a:blip r:embed="rId5"/>
                <a:stretch>
                  <a:fillRect/>
                </a:stretch>
              </p:blipFill>
              <p:spPr>
                <a:xfrm>
                  <a:off x="8025454" y="5171530"/>
                  <a:ext cx="433619" cy="428210"/>
                </a:xfrm>
                <a:prstGeom prst="rect">
                  <a:avLst/>
                </a:prstGeom>
              </p:spPr>
            </p:pic>
          </mc:Fallback>
        </mc:AlternateContent>
        <p:sp>
          <p:nvSpPr>
            <p:cNvPr id="107" name="CasellaDiTesto 106">
              <a:extLst>
                <a:ext uri="{FF2B5EF4-FFF2-40B4-BE49-F238E27FC236}">
                  <a16:creationId xmlns:a16="http://schemas.microsoft.com/office/drawing/2014/main" id="{DF491B14-647D-4D37-B100-21A75BC22483}"/>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166" name="Gruppo 165">
            <a:extLst>
              <a:ext uri="{FF2B5EF4-FFF2-40B4-BE49-F238E27FC236}">
                <a16:creationId xmlns:a16="http://schemas.microsoft.com/office/drawing/2014/main" id="{86F28EDD-8233-4CAE-B2EA-5E92E112E764}"/>
              </a:ext>
            </a:extLst>
          </p:cNvPr>
          <p:cNvGrpSpPr/>
          <p:nvPr/>
        </p:nvGrpSpPr>
        <p:grpSpPr>
          <a:xfrm>
            <a:off x="8025453" y="5968273"/>
            <a:ext cx="433620" cy="428211"/>
            <a:chOff x="6214480" y="3704781"/>
            <a:chExt cx="825274" cy="825274"/>
          </a:xfrm>
        </p:grpSpPr>
        <mc:AlternateContent xmlns:mc="http://schemas.openxmlformats.org/markup-compatibility/2006">
          <mc:Choice xmlns:am3d="http://schemas.microsoft.com/office/drawing/2017/model3d" Requires="am3d">
            <p:graphicFrame>
              <p:nvGraphicFramePr>
                <p:cNvPr id="168" name="Modello 3D 167" descr="Sfera grigio chiaro">
                  <a:extLst>
                    <a:ext uri="{FF2B5EF4-FFF2-40B4-BE49-F238E27FC236}">
                      <a16:creationId xmlns:a16="http://schemas.microsoft.com/office/drawing/2014/main" id="{031B6B65-1FE5-4717-A071-332D0D7F5092}"/>
                    </a:ext>
                  </a:extLst>
                </p:cNvPr>
                <p:cNvGraphicFramePr>
                  <a:graphicFrameLocks noChangeAspect="1"/>
                </p:cNvGraphicFramePr>
                <p:nvPr/>
              </p:nvGraphicFramePr>
              <p:xfrm>
                <a:off x="6214480" y="3704781"/>
                <a:ext cx="825274" cy="825274"/>
              </p:xfrm>
              <a:graphic>
                <a:graphicData uri="http://schemas.microsoft.com/office/drawing/2017/model3d">
                  <am3d:model3d r:embed="rId4">
                    <am3d:spPr>
                      <a:xfrm>
                        <a:off x="0" y="0"/>
                        <a:ext cx="825274"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6"/>
                    </am3d:raster>
                    <am3d:objViewport viewportSz="754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8" name="Modello 3D 167" descr="Sfera grigio chiaro">
                  <a:extLst>
                    <a:ext uri="{FF2B5EF4-FFF2-40B4-BE49-F238E27FC236}">
                      <a16:creationId xmlns:a16="http://schemas.microsoft.com/office/drawing/2014/main" id="{031B6B65-1FE5-4717-A071-332D0D7F5092}"/>
                    </a:ext>
                  </a:extLst>
                </p:cNvPr>
                <p:cNvPicPr>
                  <a:picLocks noGrp="1" noRot="1" noChangeAspect="1" noMove="1" noResize="1" noEditPoints="1" noAdjustHandles="1" noChangeArrowheads="1" noChangeShapeType="1" noCrop="1"/>
                </p:cNvPicPr>
                <p:nvPr/>
              </p:nvPicPr>
              <p:blipFill>
                <a:blip r:embed="rId6"/>
                <a:stretch>
                  <a:fillRect/>
                </a:stretch>
              </p:blipFill>
              <p:spPr>
                <a:xfrm>
                  <a:off x="8025453" y="5968273"/>
                  <a:ext cx="433620" cy="428211"/>
                </a:xfrm>
                <a:prstGeom prst="rect">
                  <a:avLst/>
                </a:prstGeom>
              </p:spPr>
            </p:pic>
          </mc:Fallback>
        </mc:AlternateContent>
        <p:sp>
          <p:nvSpPr>
            <p:cNvPr id="169" name="CasellaDiTesto 168">
              <a:extLst>
                <a:ext uri="{FF2B5EF4-FFF2-40B4-BE49-F238E27FC236}">
                  <a16:creationId xmlns:a16="http://schemas.microsoft.com/office/drawing/2014/main" id="{78C0317F-98BF-49A4-9BD1-FB7D734BAC71}"/>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173" name="Gruppo 172">
            <a:extLst>
              <a:ext uri="{FF2B5EF4-FFF2-40B4-BE49-F238E27FC236}">
                <a16:creationId xmlns:a16="http://schemas.microsoft.com/office/drawing/2014/main" id="{FAA5263F-64BA-4369-9BA6-C34858CD2DDD}"/>
              </a:ext>
            </a:extLst>
          </p:cNvPr>
          <p:cNvGrpSpPr/>
          <p:nvPr/>
        </p:nvGrpSpPr>
        <p:grpSpPr>
          <a:xfrm>
            <a:off x="9401066" y="5171528"/>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175" name="Modello 3D 174" descr="Sfera grigio chiaro">
                  <a:extLst>
                    <a:ext uri="{FF2B5EF4-FFF2-40B4-BE49-F238E27FC236}">
                      <a16:creationId xmlns:a16="http://schemas.microsoft.com/office/drawing/2014/main" id="{544B1EBD-495A-4D08-9892-AAA7CC0FAD6E}"/>
                    </a:ext>
                  </a:extLst>
                </p:cNvPr>
                <p:cNvGraphicFramePr>
                  <a:graphicFrameLocks noChangeAspect="1"/>
                </p:cNvGraphicFramePr>
                <p:nvPr/>
              </p:nvGraphicFramePr>
              <p:xfrm>
                <a:off x="5434115" y="2544525"/>
                <a:ext cx="814978" cy="825274"/>
              </p:xfrm>
              <a:graphic>
                <a:graphicData uri="http://schemas.microsoft.com/office/drawing/2017/model3d">
                  <am3d:model3d r:embed="rId4">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7"/>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5" name="Modello 3D 174" descr="Sfera grigio chiaro">
                  <a:extLst>
                    <a:ext uri="{FF2B5EF4-FFF2-40B4-BE49-F238E27FC236}">
                      <a16:creationId xmlns:a16="http://schemas.microsoft.com/office/drawing/2014/main" id="{544B1EBD-495A-4D08-9892-AAA7CC0FAD6E}"/>
                    </a:ext>
                  </a:extLst>
                </p:cNvPr>
                <p:cNvPicPr>
                  <a:picLocks noGrp="1" noRot="1" noChangeAspect="1" noMove="1" noResize="1" noEditPoints="1" noAdjustHandles="1" noChangeArrowheads="1" noChangeShapeType="1" noCrop="1"/>
                </p:cNvPicPr>
                <p:nvPr/>
              </p:nvPicPr>
              <p:blipFill>
                <a:blip r:embed="rId7"/>
                <a:stretch>
                  <a:fillRect/>
                </a:stretch>
              </p:blipFill>
              <p:spPr>
                <a:xfrm>
                  <a:off x="9401066" y="5171528"/>
                  <a:ext cx="428210" cy="428211"/>
                </a:xfrm>
                <a:prstGeom prst="rect">
                  <a:avLst/>
                </a:prstGeom>
              </p:spPr>
            </p:pic>
          </mc:Fallback>
        </mc:AlternateContent>
        <p:sp>
          <p:nvSpPr>
            <p:cNvPr id="176" name="CasellaDiTesto 175">
              <a:extLst>
                <a:ext uri="{FF2B5EF4-FFF2-40B4-BE49-F238E27FC236}">
                  <a16:creationId xmlns:a16="http://schemas.microsoft.com/office/drawing/2014/main" id="{D040ED89-E4E5-4C7D-8799-DDE97DB5C2B9}"/>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177" name="Gruppo 176">
            <a:extLst>
              <a:ext uri="{FF2B5EF4-FFF2-40B4-BE49-F238E27FC236}">
                <a16:creationId xmlns:a16="http://schemas.microsoft.com/office/drawing/2014/main" id="{44613953-DD98-4448-99BD-E900631168E9}"/>
              </a:ext>
            </a:extLst>
          </p:cNvPr>
          <p:cNvGrpSpPr/>
          <p:nvPr/>
        </p:nvGrpSpPr>
        <p:grpSpPr>
          <a:xfrm>
            <a:off x="9395657" y="5968273"/>
            <a:ext cx="433619" cy="428210"/>
            <a:chOff x="8758910" y="3645182"/>
            <a:chExt cx="822733" cy="825275"/>
          </a:xfrm>
        </p:grpSpPr>
        <mc:AlternateContent xmlns:mc="http://schemas.openxmlformats.org/markup-compatibility/2006">
          <mc:Choice xmlns:am3d="http://schemas.microsoft.com/office/drawing/2017/model3d" Requires="am3d">
            <p:graphicFrame>
              <p:nvGraphicFramePr>
                <p:cNvPr id="178" name="Modello 3D 177" descr="Sfera grigio chiaro">
                  <a:extLst>
                    <a:ext uri="{FF2B5EF4-FFF2-40B4-BE49-F238E27FC236}">
                      <a16:creationId xmlns:a16="http://schemas.microsoft.com/office/drawing/2014/main" id="{FCDFD904-6EE7-4F4D-9055-5EEAB6D3C01E}"/>
                    </a:ext>
                  </a:extLst>
                </p:cNvPr>
                <p:cNvGraphicFramePr>
                  <a:graphicFrameLocks noChangeAspect="1"/>
                </p:cNvGraphicFramePr>
                <p:nvPr>
                  <p:extLst>
                    <p:ext uri="{D42A27DB-BD31-4B8C-83A1-F6EECF244321}">
                      <p14:modId xmlns:p14="http://schemas.microsoft.com/office/powerpoint/2010/main" val="1131327809"/>
                    </p:ext>
                  </p:extLst>
                </p:nvPr>
              </p:nvGraphicFramePr>
              <p:xfrm>
                <a:off x="8758910" y="3645182"/>
                <a:ext cx="822733" cy="825275"/>
              </p:xfrm>
              <a:graphic>
                <a:graphicData uri="http://schemas.microsoft.com/office/drawing/2017/model3d">
                  <am3d:model3d r:embed="rId4">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8" name="Modello 3D 177" descr="Sfera grigio chiaro">
                  <a:extLst>
                    <a:ext uri="{FF2B5EF4-FFF2-40B4-BE49-F238E27FC236}">
                      <a16:creationId xmlns:a16="http://schemas.microsoft.com/office/drawing/2014/main" id="{FCDFD904-6EE7-4F4D-9055-5EEAB6D3C01E}"/>
                    </a:ext>
                  </a:extLst>
                </p:cNvPr>
                <p:cNvPicPr>
                  <a:picLocks noGrp="1" noRot="1" noChangeAspect="1" noMove="1" noResize="1" noEditPoints="1" noAdjustHandles="1" noChangeArrowheads="1" noChangeShapeType="1" noCrop="1"/>
                </p:cNvPicPr>
                <p:nvPr/>
              </p:nvPicPr>
              <p:blipFill>
                <a:blip r:embed="rId5"/>
                <a:stretch>
                  <a:fillRect/>
                </a:stretch>
              </p:blipFill>
              <p:spPr>
                <a:xfrm>
                  <a:off x="9395657" y="5968273"/>
                  <a:ext cx="433619" cy="428210"/>
                </a:xfrm>
                <a:prstGeom prst="rect">
                  <a:avLst/>
                </a:prstGeom>
              </p:spPr>
            </p:pic>
          </mc:Fallback>
        </mc:AlternateContent>
        <p:sp>
          <p:nvSpPr>
            <p:cNvPr id="179" name="CasellaDiTesto 178">
              <a:extLst>
                <a:ext uri="{FF2B5EF4-FFF2-40B4-BE49-F238E27FC236}">
                  <a16:creationId xmlns:a16="http://schemas.microsoft.com/office/drawing/2014/main" id="{62E7764D-ABF2-47F7-82F2-A43BDF9853C9}"/>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cxnSp>
        <p:nvCxnSpPr>
          <p:cNvPr id="37" name="Connettore diritto 36">
            <a:extLst>
              <a:ext uri="{FF2B5EF4-FFF2-40B4-BE49-F238E27FC236}">
                <a16:creationId xmlns:a16="http://schemas.microsoft.com/office/drawing/2014/main" id="{40167110-B5C3-48D4-A890-85F508513620}"/>
              </a:ext>
            </a:extLst>
          </p:cNvPr>
          <p:cNvCxnSpPr>
            <a:cxnSpLocks/>
            <a:stCxn id="106" idx="2"/>
            <a:endCxn id="168" idx="0"/>
          </p:cNvCxnSpPr>
          <p:nvPr/>
        </p:nvCxnSpPr>
        <p:spPr>
          <a:xfrm flipH="1">
            <a:off x="8242263" y="5599740"/>
            <a:ext cx="1" cy="3685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38CCC613-796D-45AB-A2FB-14B5D2AD1639}"/>
              </a:ext>
            </a:extLst>
          </p:cNvPr>
          <p:cNvCxnSpPr>
            <a:cxnSpLocks/>
            <a:stCxn id="106" idx="3"/>
            <a:endCxn id="175" idx="1"/>
          </p:cNvCxnSpPr>
          <p:nvPr/>
        </p:nvCxnSpPr>
        <p:spPr>
          <a:xfrm flipV="1">
            <a:off x="8459073" y="5385634"/>
            <a:ext cx="941993"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5C17C2EC-49ED-453D-98D2-05C5AF1790AF}"/>
              </a:ext>
            </a:extLst>
          </p:cNvPr>
          <p:cNvCxnSpPr>
            <a:cxnSpLocks/>
            <a:stCxn id="175" idx="2"/>
            <a:endCxn id="178" idx="0"/>
          </p:cNvCxnSpPr>
          <p:nvPr/>
        </p:nvCxnSpPr>
        <p:spPr>
          <a:xfrm flipH="1">
            <a:off x="9612467" y="5599739"/>
            <a:ext cx="2704" cy="36853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6" name="Gruppo 75">
            <a:extLst>
              <a:ext uri="{FF2B5EF4-FFF2-40B4-BE49-F238E27FC236}">
                <a16:creationId xmlns:a16="http://schemas.microsoft.com/office/drawing/2014/main" id="{DEEA7488-2BDB-4551-A2FF-792021E28688}"/>
              </a:ext>
            </a:extLst>
          </p:cNvPr>
          <p:cNvGrpSpPr/>
          <p:nvPr/>
        </p:nvGrpSpPr>
        <p:grpSpPr>
          <a:xfrm>
            <a:off x="8706953" y="5599739"/>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77" name="Modello 3D 76" descr="Sfera grigio chiaro">
                  <a:extLst>
                    <a:ext uri="{FF2B5EF4-FFF2-40B4-BE49-F238E27FC236}">
                      <a16:creationId xmlns:a16="http://schemas.microsoft.com/office/drawing/2014/main" id="{4BD220EC-EDF4-4A0D-94EE-EA46827C6D1E}"/>
                    </a:ext>
                  </a:extLst>
                </p:cNvPr>
                <p:cNvGraphicFramePr>
                  <a:graphicFrameLocks noChangeAspect="1"/>
                </p:cNvGraphicFramePr>
                <p:nvPr/>
              </p:nvGraphicFramePr>
              <p:xfrm>
                <a:off x="7156642" y="2544531"/>
                <a:ext cx="825273" cy="825273"/>
              </p:xfrm>
              <a:graphic>
                <a:graphicData uri="http://schemas.microsoft.com/office/drawing/2017/model3d">
                  <am3d:model3d r:embed="rId4">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7" name="Modello 3D 76" descr="Sfera grigio chiaro">
                  <a:extLst>
                    <a:ext uri="{FF2B5EF4-FFF2-40B4-BE49-F238E27FC236}">
                      <a16:creationId xmlns:a16="http://schemas.microsoft.com/office/drawing/2014/main" id="{4BD220EC-EDF4-4A0D-94EE-EA46827C6D1E}"/>
                    </a:ext>
                  </a:extLst>
                </p:cNvPr>
                <p:cNvPicPr>
                  <a:picLocks noGrp="1" noRot="1" noChangeAspect="1" noMove="1" noResize="1" noEditPoints="1" noAdjustHandles="1" noChangeArrowheads="1" noChangeShapeType="1" noCrop="1"/>
                </p:cNvPicPr>
                <p:nvPr/>
              </p:nvPicPr>
              <p:blipFill>
                <a:blip r:embed="rId5"/>
                <a:stretch>
                  <a:fillRect/>
                </a:stretch>
              </p:blipFill>
              <p:spPr>
                <a:xfrm>
                  <a:off x="8706953" y="5599739"/>
                  <a:ext cx="433619" cy="428210"/>
                </a:xfrm>
                <a:prstGeom prst="rect">
                  <a:avLst/>
                </a:prstGeom>
              </p:spPr>
            </p:pic>
          </mc:Fallback>
        </mc:AlternateContent>
        <p:sp>
          <p:nvSpPr>
            <p:cNvPr id="78" name="CasellaDiTesto 77">
              <a:extLst>
                <a:ext uri="{FF2B5EF4-FFF2-40B4-BE49-F238E27FC236}">
                  <a16:creationId xmlns:a16="http://schemas.microsoft.com/office/drawing/2014/main" id="{9D472CE7-7D71-44D2-9F8C-454B1D4437EB}"/>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cxnSp>
        <p:nvCxnSpPr>
          <p:cNvPr id="4" name="Connettore diritto 3">
            <a:extLst>
              <a:ext uri="{FF2B5EF4-FFF2-40B4-BE49-F238E27FC236}">
                <a16:creationId xmlns:a16="http://schemas.microsoft.com/office/drawing/2014/main" id="{7E876351-4F9A-4928-BEEC-2AD0370031E3}"/>
              </a:ext>
            </a:extLst>
          </p:cNvPr>
          <p:cNvCxnSpPr>
            <a:cxnSpLocks/>
          </p:cNvCxnSpPr>
          <p:nvPr/>
        </p:nvCxnSpPr>
        <p:spPr>
          <a:xfrm flipV="1">
            <a:off x="8410286" y="5909279"/>
            <a:ext cx="365143" cy="18838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Connettore diritto 8">
            <a:extLst>
              <a:ext uri="{FF2B5EF4-FFF2-40B4-BE49-F238E27FC236}">
                <a16:creationId xmlns:a16="http://schemas.microsoft.com/office/drawing/2014/main" id="{495A2085-98C7-4C2B-BA4A-D787579B0811}"/>
              </a:ext>
            </a:extLst>
          </p:cNvPr>
          <p:cNvCxnSpPr>
            <a:cxnSpLocks/>
          </p:cNvCxnSpPr>
          <p:nvPr/>
        </p:nvCxnSpPr>
        <p:spPr>
          <a:xfrm flipV="1">
            <a:off x="9085543" y="5510487"/>
            <a:ext cx="386454" cy="23144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8D98B4E6-6B4A-4337-9714-99AFE163D86C}"/>
              </a:ext>
            </a:extLst>
          </p:cNvPr>
          <p:cNvCxnSpPr>
            <a:cxnSpLocks/>
            <a:stCxn id="168" idx="3"/>
            <a:endCxn id="178" idx="1"/>
          </p:cNvCxnSpPr>
          <p:nvPr/>
        </p:nvCxnSpPr>
        <p:spPr>
          <a:xfrm flipV="1">
            <a:off x="8459073" y="6182378"/>
            <a:ext cx="936584" cy="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0" name="CasellaDiTesto 89">
            <a:extLst>
              <a:ext uri="{FF2B5EF4-FFF2-40B4-BE49-F238E27FC236}">
                <a16:creationId xmlns:a16="http://schemas.microsoft.com/office/drawing/2014/main" id="{B23C04FB-08D4-4C55-B956-13E298C9C9CD}"/>
              </a:ext>
            </a:extLst>
          </p:cNvPr>
          <p:cNvSpPr txBox="1"/>
          <p:nvPr/>
        </p:nvSpPr>
        <p:spPr>
          <a:xfrm>
            <a:off x="9688807" y="5619865"/>
            <a:ext cx="269200" cy="369332"/>
          </a:xfrm>
          <a:prstGeom prst="rect">
            <a:avLst/>
          </a:prstGeom>
          <a:noFill/>
        </p:spPr>
        <p:txBody>
          <a:bodyPr wrap="square" rtlCol="0">
            <a:spAutoFit/>
          </a:bodyPr>
          <a:lstStyle/>
          <a:p>
            <a:r>
              <a:rPr lang="en-US" dirty="0"/>
              <a:t>2</a:t>
            </a:r>
            <a:endParaRPr lang="it-IT" dirty="0"/>
          </a:p>
        </p:txBody>
      </p:sp>
      <p:sp>
        <p:nvSpPr>
          <p:cNvPr id="91" name="CasellaDiTesto 90">
            <a:extLst>
              <a:ext uri="{FF2B5EF4-FFF2-40B4-BE49-F238E27FC236}">
                <a16:creationId xmlns:a16="http://schemas.microsoft.com/office/drawing/2014/main" id="{A6E236BA-5D09-4BD4-A2F7-FD92FA325420}"/>
              </a:ext>
            </a:extLst>
          </p:cNvPr>
          <p:cNvSpPr txBox="1"/>
          <p:nvPr/>
        </p:nvSpPr>
        <p:spPr>
          <a:xfrm>
            <a:off x="8785020" y="6117201"/>
            <a:ext cx="269200" cy="369332"/>
          </a:xfrm>
          <a:prstGeom prst="rect">
            <a:avLst/>
          </a:prstGeom>
          <a:noFill/>
        </p:spPr>
        <p:txBody>
          <a:bodyPr wrap="square" rtlCol="0">
            <a:spAutoFit/>
          </a:bodyPr>
          <a:lstStyle/>
          <a:p>
            <a:r>
              <a:rPr lang="en-US" dirty="0"/>
              <a:t>2</a:t>
            </a:r>
            <a:endParaRPr lang="it-IT" dirty="0"/>
          </a:p>
        </p:txBody>
      </p:sp>
      <p:sp>
        <p:nvSpPr>
          <p:cNvPr id="92" name="CasellaDiTesto 91">
            <a:extLst>
              <a:ext uri="{FF2B5EF4-FFF2-40B4-BE49-F238E27FC236}">
                <a16:creationId xmlns:a16="http://schemas.microsoft.com/office/drawing/2014/main" id="{37FB6AA7-8E8D-4A21-AE6E-AF0354693932}"/>
              </a:ext>
            </a:extLst>
          </p:cNvPr>
          <p:cNvSpPr txBox="1"/>
          <p:nvPr/>
        </p:nvSpPr>
        <p:spPr>
          <a:xfrm>
            <a:off x="7926571" y="5613046"/>
            <a:ext cx="269200" cy="369332"/>
          </a:xfrm>
          <a:prstGeom prst="rect">
            <a:avLst/>
          </a:prstGeom>
          <a:noFill/>
        </p:spPr>
        <p:txBody>
          <a:bodyPr wrap="square" rtlCol="0">
            <a:spAutoFit/>
          </a:bodyPr>
          <a:lstStyle/>
          <a:p>
            <a:r>
              <a:rPr lang="en-US" dirty="0"/>
              <a:t>2</a:t>
            </a:r>
            <a:endParaRPr lang="it-IT" dirty="0"/>
          </a:p>
        </p:txBody>
      </p:sp>
      <p:sp>
        <p:nvSpPr>
          <p:cNvPr id="94" name="CasellaDiTesto 93">
            <a:extLst>
              <a:ext uri="{FF2B5EF4-FFF2-40B4-BE49-F238E27FC236}">
                <a16:creationId xmlns:a16="http://schemas.microsoft.com/office/drawing/2014/main" id="{022D5161-8918-442D-9ACF-E85D895E7604}"/>
              </a:ext>
            </a:extLst>
          </p:cNvPr>
          <p:cNvSpPr txBox="1"/>
          <p:nvPr/>
        </p:nvSpPr>
        <p:spPr>
          <a:xfrm>
            <a:off x="8774596" y="5045337"/>
            <a:ext cx="269200" cy="369332"/>
          </a:xfrm>
          <a:prstGeom prst="rect">
            <a:avLst/>
          </a:prstGeom>
          <a:noFill/>
        </p:spPr>
        <p:txBody>
          <a:bodyPr wrap="square" rtlCol="0">
            <a:spAutoFit/>
          </a:bodyPr>
          <a:lstStyle/>
          <a:p>
            <a:r>
              <a:rPr lang="en-US" dirty="0"/>
              <a:t>2</a:t>
            </a:r>
            <a:endParaRPr lang="it-IT" dirty="0"/>
          </a:p>
        </p:txBody>
      </p:sp>
      <p:sp>
        <p:nvSpPr>
          <p:cNvPr id="95" name="CasellaDiTesto 94">
            <a:extLst>
              <a:ext uri="{FF2B5EF4-FFF2-40B4-BE49-F238E27FC236}">
                <a16:creationId xmlns:a16="http://schemas.microsoft.com/office/drawing/2014/main" id="{8F4B8D37-2FA9-4266-BAF3-96597B51EF93}"/>
              </a:ext>
            </a:extLst>
          </p:cNvPr>
          <p:cNvSpPr txBox="1"/>
          <p:nvPr/>
        </p:nvSpPr>
        <p:spPr>
          <a:xfrm>
            <a:off x="9061019" y="5372603"/>
            <a:ext cx="269200" cy="369332"/>
          </a:xfrm>
          <a:prstGeom prst="rect">
            <a:avLst/>
          </a:prstGeom>
          <a:noFill/>
        </p:spPr>
        <p:txBody>
          <a:bodyPr wrap="square" rtlCol="0">
            <a:spAutoFit/>
          </a:bodyPr>
          <a:lstStyle/>
          <a:p>
            <a:r>
              <a:rPr lang="en-US" dirty="0"/>
              <a:t>2</a:t>
            </a:r>
            <a:endParaRPr lang="it-IT" dirty="0"/>
          </a:p>
        </p:txBody>
      </p:sp>
      <p:sp>
        <p:nvSpPr>
          <p:cNvPr id="96" name="CasellaDiTesto 95">
            <a:extLst>
              <a:ext uri="{FF2B5EF4-FFF2-40B4-BE49-F238E27FC236}">
                <a16:creationId xmlns:a16="http://schemas.microsoft.com/office/drawing/2014/main" id="{8E230B28-D847-4490-B89B-798768B54F67}"/>
              </a:ext>
            </a:extLst>
          </p:cNvPr>
          <p:cNvSpPr txBox="1"/>
          <p:nvPr/>
        </p:nvSpPr>
        <p:spPr>
          <a:xfrm>
            <a:off x="8382734" y="5628780"/>
            <a:ext cx="269200" cy="369332"/>
          </a:xfrm>
          <a:prstGeom prst="rect">
            <a:avLst/>
          </a:prstGeom>
          <a:noFill/>
        </p:spPr>
        <p:txBody>
          <a:bodyPr wrap="square" rtlCol="0">
            <a:spAutoFit/>
          </a:bodyPr>
          <a:lstStyle/>
          <a:p>
            <a:r>
              <a:rPr lang="en-US" dirty="0"/>
              <a:t>2</a:t>
            </a:r>
            <a:endParaRPr lang="it-IT" dirty="0"/>
          </a:p>
        </p:txBody>
      </p:sp>
      <p:pic>
        <p:nvPicPr>
          <p:cNvPr id="23" name="Immagine 22">
            <a:extLst>
              <a:ext uri="{FF2B5EF4-FFF2-40B4-BE49-F238E27FC236}">
                <a16:creationId xmlns:a16="http://schemas.microsoft.com/office/drawing/2014/main" id="{06528B6F-7299-4E58-81F5-CA2B72C73A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78432" y="4443530"/>
            <a:ext cx="3788011" cy="2133913"/>
          </a:xfrm>
          <a:prstGeom prst="rect">
            <a:avLst/>
          </a:prstGeom>
        </p:spPr>
      </p:pic>
      <p:sp>
        <p:nvSpPr>
          <p:cNvPr id="24" name="Rettangolo 23">
            <a:extLst>
              <a:ext uri="{FF2B5EF4-FFF2-40B4-BE49-F238E27FC236}">
                <a16:creationId xmlns:a16="http://schemas.microsoft.com/office/drawing/2014/main" id="{66186B91-EC4C-426A-BB91-2BEE15C6BD21}"/>
              </a:ext>
            </a:extLst>
          </p:cNvPr>
          <p:cNvSpPr/>
          <p:nvPr/>
        </p:nvSpPr>
        <p:spPr>
          <a:xfrm>
            <a:off x="4511133" y="3620990"/>
            <a:ext cx="1684133" cy="3101075"/>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5" name="CasellaDiTesto 114">
            <a:extLst>
              <a:ext uri="{FF2B5EF4-FFF2-40B4-BE49-F238E27FC236}">
                <a16:creationId xmlns:a16="http://schemas.microsoft.com/office/drawing/2014/main" id="{F4EEB376-DA8D-47B1-8EAA-6F715732537D}"/>
              </a:ext>
            </a:extLst>
          </p:cNvPr>
          <p:cNvSpPr txBox="1"/>
          <p:nvPr/>
        </p:nvSpPr>
        <p:spPr>
          <a:xfrm>
            <a:off x="1448840" y="985857"/>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GRAFI</a:t>
            </a:r>
          </a:p>
        </p:txBody>
      </p:sp>
      <p:sp>
        <p:nvSpPr>
          <p:cNvPr id="116" name="CasellaDiTesto 115">
            <a:extLst>
              <a:ext uri="{FF2B5EF4-FFF2-40B4-BE49-F238E27FC236}">
                <a16:creationId xmlns:a16="http://schemas.microsoft.com/office/drawing/2014/main" id="{0A2F2246-E9F8-4B84-9C8F-97B374DFD61D}"/>
              </a:ext>
            </a:extLst>
          </p:cNvPr>
          <p:cNvSpPr txBox="1"/>
          <p:nvPr/>
        </p:nvSpPr>
        <p:spPr>
          <a:xfrm>
            <a:off x="3443060" y="985857"/>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PESATI</a:t>
            </a:r>
          </a:p>
        </p:txBody>
      </p:sp>
      <p:sp>
        <p:nvSpPr>
          <p:cNvPr id="117" name="CasellaDiTesto 116">
            <a:extLst>
              <a:ext uri="{FF2B5EF4-FFF2-40B4-BE49-F238E27FC236}">
                <a16:creationId xmlns:a16="http://schemas.microsoft.com/office/drawing/2014/main" id="{A8276DD0-C9DD-484E-B9C5-FCE3E667ECB6}"/>
              </a:ext>
            </a:extLst>
          </p:cNvPr>
          <p:cNvSpPr txBox="1"/>
          <p:nvPr/>
        </p:nvSpPr>
        <p:spPr>
          <a:xfrm>
            <a:off x="7309516" y="985857"/>
            <a:ext cx="4044283" cy="584775"/>
          </a:xfrm>
          <a:prstGeom prst="rect">
            <a:avLst/>
          </a:prstGeom>
          <a:noFill/>
        </p:spPr>
        <p:txBody>
          <a:bodyPr wrap="square" rtlCol="0">
            <a:spAutoFit/>
          </a:bodyPr>
          <a:lstStyle/>
          <a:p>
            <a:pPr algn="ctr"/>
            <a:r>
              <a:rPr lang="en-US" sz="3200" dirty="0">
                <a:solidFill>
                  <a:schemeClr val="bg1"/>
                </a:solidFill>
                <a:latin typeface="LEMON MILK" panose="00000500000000000000" pitchFamily="50" charset="0"/>
              </a:rPr>
              <a:t>CARATTERISTICHE</a:t>
            </a:r>
          </a:p>
        </p:txBody>
      </p:sp>
      <p:sp>
        <p:nvSpPr>
          <p:cNvPr id="119" name="CasellaDiTesto 118">
            <a:extLst>
              <a:ext uri="{FF2B5EF4-FFF2-40B4-BE49-F238E27FC236}">
                <a16:creationId xmlns:a16="http://schemas.microsoft.com/office/drawing/2014/main" id="{3B13BA84-2A64-4DC3-948B-DC9AFF2E2419}"/>
              </a:ext>
            </a:extLst>
          </p:cNvPr>
          <p:cNvSpPr txBox="1"/>
          <p:nvPr/>
        </p:nvSpPr>
        <p:spPr>
          <a:xfrm>
            <a:off x="7441999" y="1555890"/>
            <a:ext cx="3946997" cy="3785652"/>
          </a:xfrm>
          <a:prstGeom prst="rect">
            <a:avLst/>
          </a:prstGeom>
          <a:noFill/>
        </p:spPr>
        <p:txBody>
          <a:bodyPr wrap="square">
            <a:spAutoFit/>
          </a:bodyPr>
          <a:lstStyle/>
          <a:p>
            <a:r>
              <a:rPr lang="it-IT" sz="1600" dirty="0">
                <a:solidFill>
                  <a:schemeClr val="bg1"/>
                </a:solidFill>
                <a:latin typeface="Corbel Light" panose="020B0303020204020204" pitchFamily="34" charset="0"/>
              </a:rPr>
              <a:t>Oltre ai pesi positivi, alle volte nei grafi sono presenti anche pesi negativi che rappresentano essenzialmente dei benefici enormi </a:t>
            </a:r>
            <a:r>
              <a:rPr lang="it-IT" sz="1600" dirty="0" err="1">
                <a:solidFill>
                  <a:schemeClr val="bg1"/>
                </a:solidFill>
                <a:latin typeface="Corbel Light" panose="020B0303020204020204" pitchFamily="34" charset="0"/>
              </a:rPr>
              <a:t>risp﻿etto</a:t>
            </a:r>
            <a:r>
              <a:rPr lang="it-IT" sz="1600" dirty="0">
                <a:solidFill>
                  <a:schemeClr val="bg1"/>
                </a:solidFill>
                <a:latin typeface="Corbel Light" panose="020B0303020204020204" pitchFamily="34" charset="0"/>
              </a:rPr>
              <a:t> ad altre strade con bassi pesi positivi e quindi prendere una strada con peso negativo risulta essere più conveniente.</a:t>
            </a:r>
          </a:p>
          <a:p>
            <a:r>
              <a:rPr lang="it-IT" sz="1600" dirty="0">
                <a:solidFill>
                  <a:schemeClr val="bg1"/>
                </a:solidFill>
                <a:latin typeface="Corbel Light" panose="020B0303020204020204" pitchFamily="34" charset="0"/>
              </a:rPr>
              <a:t>Quando si lavora con grafi negativi, è necessario prestare particolare attenzione agli algoritmi utilizzati. </a:t>
            </a:r>
          </a:p>
          <a:p>
            <a:r>
              <a:rPr lang="it-IT" sz="1600" dirty="0">
                <a:solidFill>
                  <a:schemeClr val="bg1"/>
                </a:solidFill>
                <a:latin typeface="Corbel Light" panose="020B0303020204020204" pitchFamily="34" charset="0"/>
              </a:rPr>
              <a:t>Alcuni algoritmi progettati per grafi con pesi non negativi potrebbero non funzionare correttamente o addirittura entrare in un ciclo infinito quando applicati a grafi con pesi negativi.</a:t>
            </a:r>
          </a:p>
          <a:p>
            <a:endParaRPr lang="it-IT" sz="1600" dirty="0">
              <a:solidFill>
                <a:schemeClr val="bg1"/>
              </a:solidFill>
              <a:latin typeface="Corbel Light" panose="020B0303020204020204" pitchFamily="34" charset="0"/>
            </a:endParaRPr>
          </a:p>
        </p:txBody>
      </p:sp>
    </p:spTree>
    <p:extLst>
      <p:ext uri="{BB962C8B-B14F-4D97-AF65-F5344CB8AC3E}">
        <p14:creationId xmlns:p14="http://schemas.microsoft.com/office/powerpoint/2010/main" val="198105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0"/>
            <a:ext cx="12297508" cy="714008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0" name="Rettangolo 19">
            <a:extLst>
              <a:ext uri="{FF2B5EF4-FFF2-40B4-BE49-F238E27FC236}">
                <a16:creationId xmlns:a16="http://schemas.microsoft.com/office/drawing/2014/main" id="{B09536D3-4D96-425D-AFA9-C39504FD98D0}"/>
              </a:ext>
            </a:extLst>
          </p:cNvPr>
          <p:cNvSpPr/>
          <p:nvPr/>
        </p:nvSpPr>
        <p:spPr>
          <a:xfrm>
            <a:off x="12526514" y="6146921"/>
            <a:ext cx="4106173" cy="96538"/>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19B29CFC-2438-42FF-AE7F-40E3D72083BA}"/>
              </a:ext>
            </a:extLst>
          </p:cNvPr>
          <p:cNvSpPr txBox="1"/>
          <p:nvPr/>
        </p:nvSpPr>
        <p:spPr>
          <a:xfrm>
            <a:off x="11843467" y="4872341"/>
            <a:ext cx="4796637" cy="1200329"/>
          </a:xfrm>
          <a:prstGeom prst="rect">
            <a:avLst/>
          </a:prstGeom>
          <a:noFill/>
        </p:spPr>
        <p:txBody>
          <a:bodyPr wrap="square" rtlCol="0">
            <a:spAutoFit/>
          </a:bodyPr>
          <a:lstStyle/>
          <a:p>
            <a:pPr algn="r"/>
            <a:r>
              <a:rPr lang="en-US" sz="3600" dirty="0" err="1">
                <a:solidFill>
                  <a:srgbClr val="3B3838"/>
                </a:solidFill>
                <a:latin typeface="LEMON MILK" panose="00000500000000000000" pitchFamily="50" charset="0"/>
              </a:rPr>
              <a:t>politiche</a:t>
            </a:r>
            <a:r>
              <a:rPr lang="en-US" sz="3600" dirty="0">
                <a:solidFill>
                  <a:srgbClr val="3B3838"/>
                </a:solidFill>
                <a:latin typeface="LEMON MILK" panose="00000500000000000000" pitchFamily="50" charset="0"/>
              </a:rPr>
              <a:t> di</a:t>
            </a:r>
          </a:p>
          <a:p>
            <a:pPr algn="r"/>
            <a:r>
              <a:rPr lang="en-US" sz="3600" dirty="0" err="1">
                <a:solidFill>
                  <a:srgbClr val="3B3838"/>
                </a:solidFill>
                <a:latin typeface="LEMON MILK" panose="00000500000000000000" pitchFamily="50" charset="0"/>
              </a:rPr>
              <a:t>instradamento</a:t>
            </a:r>
            <a:endParaRPr lang="en-US" sz="1200" dirty="0">
              <a:solidFill>
                <a:srgbClr val="3B3838"/>
              </a:solidFill>
              <a:latin typeface="LEMON MILK" panose="00000500000000000000" pitchFamily="50" charset="0"/>
            </a:endParaRPr>
          </a:p>
        </p:txBody>
      </p:sp>
      <p:grpSp>
        <p:nvGrpSpPr>
          <p:cNvPr id="105" name="Gruppo 104">
            <a:extLst>
              <a:ext uri="{FF2B5EF4-FFF2-40B4-BE49-F238E27FC236}">
                <a16:creationId xmlns:a16="http://schemas.microsoft.com/office/drawing/2014/main" id="{FB5F0A33-D3B1-455A-9BBC-0A5CB111E70C}"/>
              </a:ext>
            </a:extLst>
          </p:cNvPr>
          <p:cNvGrpSpPr/>
          <p:nvPr/>
        </p:nvGrpSpPr>
        <p:grpSpPr>
          <a:xfrm>
            <a:off x="8039586" y="3306081"/>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106" name="Modello 3D 105" descr="Sfera grigio chiaro">
                  <a:extLst>
                    <a:ext uri="{FF2B5EF4-FFF2-40B4-BE49-F238E27FC236}">
                      <a16:creationId xmlns:a16="http://schemas.microsoft.com/office/drawing/2014/main" id="{D264CAE0-BC83-44F4-A775-EE88D8F71B87}"/>
                    </a:ext>
                  </a:extLst>
                </p:cNvPr>
                <p:cNvGraphicFramePr>
                  <a:graphicFrameLocks noChangeAspect="1"/>
                </p:cNvGraphicFramePr>
                <p:nvPr/>
              </p:nvGraphicFramePr>
              <p:xfrm>
                <a:off x="7156642" y="2544531"/>
                <a:ext cx="825273" cy="825273"/>
              </p:xfrm>
              <a:graphic>
                <a:graphicData uri="http://schemas.microsoft.com/office/drawing/2017/model3d">
                  <am3d:model3d r:embed="rId2">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6" name="Modello 3D 105" descr="Sfera grigio chiaro">
                  <a:extLst>
                    <a:ext uri="{FF2B5EF4-FFF2-40B4-BE49-F238E27FC236}">
                      <a16:creationId xmlns:a16="http://schemas.microsoft.com/office/drawing/2014/main" id="{D264CAE0-BC83-44F4-A775-EE88D8F71B87}"/>
                    </a:ext>
                  </a:extLst>
                </p:cNvPr>
                <p:cNvPicPr>
                  <a:picLocks noGrp="1" noRot="1" noChangeAspect="1" noMove="1" noResize="1" noEditPoints="1" noAdjustHandles="1" noChangeArrowheads="1" noChangeShapeType="1" noCrop="1"/>
                </p:cNvPicPr>
                <p:nvPr/>
              </p:nvPicPr>
              <p:blipFill>
                <a:blip r:embed="rId3"/>
                <a:stretch>
                  <a:fillRect/>
                </a:stretch>
              </p:blipFill>
              <p:spPr>
                <a:xfrm>
                  <a:off x="8039586" y="3306081"/>
                  <a:ext cx="433619" cy="428210"/>
                </a:xfrm>
                <a:prstGeom prst="rect">
                  <a:avLst/>
                </a:prstGeom>
              </p:spPr>
            </p:pic>
          </mc:Fallback>
        </mc:AlternateContent>
        <p:sp>
          <p:nvSpPr>
            <p:cNvPr id="107" name="CasellaDiTesto 106">
              <a:extLst>
                <a:ext uri="{FF2B5EF4-FFF2-40B4-BE49-F238E27FC236}">
                  <a16:creationId xmlns:a16="http://schemas.microsoft.com/office/drawing/2014/main" id="{DF491B14-647D-4D37-B100-21A75BC22483}"/>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A</a:t>
              </a:r>
              <a:endParaRPr lang="it-IT" sz="1400" b="1" dirty="0">
                <a:latin typeface="LEMON MILK" panose="00000500000000000000" pitchFamily="50" charset="0"/>
              </a:endParaRPr>
            </a:p>
          </p:txBody>
        </p:sp>
      </p:grpSp>
      <p:grpSp>
        <p:nvGrpSpPr>
          <p:cNvPr id="166" name="Gruppo 165">
            <a:extLst>
              <a:ext uri="{FF2B5EF4-FFF2-40B4-BE49-F238E27FC236}">
                <a16:creationId xmlns:a16="http://schemas.microsoft.com/office/drawing/2014/main" id="{86F28EDD-8233-4CAE-B2EA-5E92E112E764}"/>
              </a:ext>
            </a:extLst>
          </p:cNvPr>
          <p:cNvGrpSpPr/>
          <p:nvPr/>
        </p:nvGrpSpPr>
        <p:grpSpPr>
          <a:xfrm>
            <a:off x="8039585" y="4102824"/>
            <a:ext cx="433620" cy="428211"/>
            <a:chOff x="6214480" y="3704781"/>
            <a:chExt cx="825274" cy="825274"/>
          </a:xfrm>
        </p:grpSpPr>
        <mc:AlternateContent xmlns:mc="http://schemas.openxmlformats.org/markup-compatibility/2006">
          <mc:Choice xmlns:am3d="http://schemas.microsoft.com/office/drawing/2017/model3d" Requires="am3d">
            <p:graphicFrame>
              <p:nvGraphicFramePr>
                <p:cNvPr id="168" name="Modello 3D 167" descr="Sfera grigio chiaro">
                  <a:extLst>
                    <a:ext uri="{FF2B5EF4-FFF2-40B4-BE49-F238E27FC236}">
                      <a16:creationId xmlns:a16="http://schemas.microsoft.com/office/drawing/2014/main" id="{031B6B65-1FE5-4717-A071-332D0D7F5092}"/>
                    </a:ext>
                  </a:extLst>
                </p:cNvPr>
                <p:cNvGraphicFramePr>
                  <a:graphicFrameLocks noChangeAspect="1"/>
                </p:cNvGraphicFramePr>
                <p:nvPr/>
              </p:nvGraphicFramePr>
              <p:xfrm>
                <a:off x="6214480" y="3704781"/>
                <a:ext cx="825274" cy="825274"/>
              </p:xfrm>
              <a:graphic>
                <a:graphicData uri="http://schemas.microsoft.com/office/drawing/2017/model3d">
                  <am3d:model3d r:embed="rId2">
                    <am3d:spPr>
                      <a:xfrm>
                        <a:off x="0" y="0"/>
                        <a:ext cx="825274"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4"/>
                    </am3d:raster>
                    <am3d:objViewport viewportSz="7548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8" name="Modello 3D 167" descr="Sfera grigio chiaro">
                  <a:extLst>
                    <a:ext uri="{FF2B5EF4-FFF2-40B4-BE49-F238E27FC236}">
                      <a16:creationId xmlns:a16="http://schemas.microsoft.com/office/drawing/2014/main" id="{031B6B65-1FE5-4717-A071-332D0D7F5092}"/>
                    </a:ext>
                  </a:extLst>
                </p:cNvPr>
                <p:cNvPicPr>
                  <a:picLocks noGrp="1" noRot="1" noChangeAspect="1" noMove="1" noResize="1" noEditPoints="1" noAdjustHandles="1" noChangeArrowheads="1" noChangeShapeType="1" noCrop="1"/>
                </p:cNvPicPr>
                <p:nvPr/>
              </p:nvPicPr>
              <p:blipFill>
                <a:blip r:embed="rId4"/>
                <a:stretch>
                  <a:fillRect/>
                </a:stretch>
              </p:blipFill>
              <p:spPr>
                <a:xfrm>
                  <a:off x="8039585" y="4102824"/>
                  <a:ext cx="433620" cy="428211"/>
                </a:xfrm>
                <a:prstGeom prst="rect">
                  <a:avLst/>
                </a:prstGeom>
              </p:spPr>
            </p:pic>
          </mc:Fallback>
        </mc:AlternateContent>
        <p:sp>
          <p:nvSpPr>
            <p:cNvPr id="169" name="CasellaDiTesto 168">
              <a:extLst>
                <a:ext uri="{FF2B5EF4-FFF2-40B4-BE49-F238E27FC236}">
                  <a16:creationId xmlns:a16="http://schemas.microsoft.com/office/drawing/2014/main" id="{78C0317F-98BF-49A4-9BD1-FB7D734BAC71}"/>
                </a:ext>
              </a:extLst>
            </p:cNvPr>
            <p:cNvSpPr txBox="1"/>
            <p:nvPr/>
          </p:nvSpPr>
          <p:spPr>
            <a:xfrm>
              <a:off x="6378827" y="3867966"/>
              <a:ext cx="496578" cy="593166"/>
            </a:xfrm>
            <a:prstGeom prst="rect">
              <a:avLst/>
            </a:prstGeom>
            <a:noFill/>
          </p:spPr>
          <p:txBody>
            <a:bodyPr wrap="square" rtlCol="0">
              <a:spAutoFit/>
            </a:bodyPr>
            <a:lstStyle/>
            <a:p>
              <a:pPr algn="ctr"/>
              <a:r>
                <a:rPr lang="en-US" sz="1400" b="1" dirty="0">
                  <a:latin typeface="LEMON MILK" panose="00000500000000000000" pitchFamily="50" charset="0"/>
                </a:rPr>
                <a:t>d</a:t>
              </a:r>
              <a:endParaRPr lang="it-IT" sz="1400" b="1" dirty="0">
                <a:latin typeface="LEMON MILK" panose="00000500000000000000" pitchFamily="50" charset="0"/>
              </a:endParaRPr>
            </a:p>
          </p:txBody>
        </p:sp>
      </p:grpSp>
      <p:grpSp>
        <p:nvGrpSpPr>
          <p:cNvPr id="173" name="Gruppo 172">
            <a:extLst>
              <a:ext uri="{FF2B5EF4-FFF2-40B4-BE49-F238E27FC236}">
                <a16:creationId xmlns:a16="http://schemas.microsoft.com/office/drawing/2014/main" id="{FAA5263F-64BA-4369-9BA6-C34858CD2DDD}"/>
              </a:ext>
            </a:extLst>
          </p:cNvPr>
          <p:cNvGrpSpPr/>
          <p:nvPr/>
        </p:nvGrpSpPr>
        <p:grpSpPr>
          <a:xfrm>
            <a:off x="9415198" y="3306079"/>
            <a:ext cx="428210" cy="428211"/>
            <a:chOff x="5434115" y="2544525"/>
            <a:chExt cx="814978" cy="825274"/>
          </a:xfrm>
        </p:grpSpPr>
        <mc:AlternateContent xmlns:mc="http://schemas.openxmlformats.org/markup-compatibility/2006">
          <mc:Choice xmlns:am3d="http://schemas.microsoft.com/office/drawing/2017/model3d" Requires="am3d">
            <p:graphicFrame>
              <p:nvGraphicFramePr>
                <p:cNvPr id="175" name="Modello 3D 174" descr="Sfera grigio chiaro">
                  <a:extLst>
                    <a:ext uri="{FF2B5EF4-FFF2-40B4-BE49-F238E27FC236}">
                      <a16:creationId xmlns:a16="http://schemas.microsoft.com/office/drawing/2014/main" id="{544B1EBD-495A-4D08-9892-AAA7CC0FAD6E}"/>
                    </a:ext>
                  </a:extLst>
                </p:cNvPr>
                <p:cNvGraphicFramePr>
                  <a:graphicFrameLocks noChangeAspect="1"/>
                </p:cNvGraphicFramePr>
                <p:nvPr/>
              </p:nvGraphicFramePr>
              <p:xfrm>
                <a:off x="5434115" y="2544525"/>
                <a:ext cx="814978" cy="825274"/>
              </p:xfrm>
              <a:graphic>
                <a:graphicData uri="http://schemas.microsoft.com/office/drawing/2017/model3d">
                  <am3d:model3d r:embed="rId2">
                    <am3d:spPr>
                      <a:xfrm>
                        <a:off x="0" y="0"/>
                        <a:ext cx="814978" cy="825274"/>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5"/>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5" name="Modello 3D 174" descr="Sfera grigio chiaro">
                  <a:extLst>
                    <a:ext uri="{FF2B5EF4-FFF2-40B4-BE49-F238E27FC236}">
                      <a16:creationId xmlns:a16="http://schemas.microsoft.com/office/drawing/2014/main" id="{544B1EBD-495A-4D08-9892-AAA7CC0FAD6E}"/>
                    </a:ext>
                  </a:extLst>
                </p:cNvPr>
                <p:cNvPicPr>
                  <a:picLocks noGrp="1" noRot="1" noChangeAspect="1" noMove="1" noResize="1" noEditPoints="1" noAdjustHandles="1" noChangeArrowheads="1" noChangeShapeType="1" noCrop="1"/>
                </p:cNvPicPr>
                <p:nvPr/>
              </p:nvPicPr>
              <p:blipFill>
                <a:blip r:embed="rId5"/>
                <a:stretch>
                  <a:fillRect/>
                </a:stretch>
              </p:blipFill>
              <p:spPr>
                <a:xfrm>
                  <a:off x="9415198" y="3306079"/>
                  <a:ext cx="428210" cy="428211"/>
                </a:xfrm>
                <a:prstGeom prst="rect">
                  <a:avLst/>
                </a:prstGeom>
              </p:spPr>
            </p:pic>
          </mc:Fallback>
        </mc:AlternateContent>
        <p:sp>
          <p:nvSpPr>
            <p:cNvPr id="176" name="CasellaDiTesto 175">
              <a:extLst>
                <a:ext uri="{FF2B5EF4-FFF2-40B4-BE49-F238E27FC236}">
                  <a16:creationId xmlns:a16="http://schemas.microsoft.com/office/drawing/2014/main" id="{D040ED89-E4E5-4C7D-8799-DDE97DB5C2B9}"/>
                </a:ext>
              </a:extLst>
            </p:cNvPr>
            <p:cNvSpPr txBox="1"/>
            <p:nvPr/>
          </p:nvSpPr>
          <p:spPr>
            <a:xfrm>
              <a:off x="5582810" y="2716539"/>
              <a:ext cx="496581" cy="593167"/>
            </a:xfrm>
            <a:prstGeom prst="rect">
              <a:avLst/>
            </a:prstGeom>
            <a:noFill/>
          </p:spPr>
          <p:txBody>
            <a:bodyPr wrap="square" rtlCol="0">
              <a:spAutoFit/>
            </a:bodyPr>
            <a:lstStyle/>
            <a:p>
              <a:pPr algn="ctr"/>
              <a:r>
                <a:rPr lang="en-US" sz="1400" b="1" dirty="0">
                  <a:latin typeface="LEMON MILK" panose="00000500000000000000" pitchFamily="50" charset="0"/>
                </a:rPr>
                <a:t>b</a:t>
              </a:r>
              <a:endParaRPr lang="it-IT" sz="1400" b="1" dirty="0">
                <a:latin typeface="LEMON MILK" panose="00000500000000000000" pitchFamily="50" charset="0"/>
              </a:endParaRPr>
            </a:p>
          </p:txBody>
        </p:sp>
      </p:grpSp>
      <p:grpSp>
        <p:nvGrpSpPr>
          <p:cNvPr id="177" name="Gruppo 176">
            <a:extLst>
              <a:ext uri="{FF2B5EF4-FFF2-40B4-BE49-F238E27FC236}">
                <a16:creationId xmlns:a16="http://schemas.microsoft.com/office/drawing/2014/main" id="{44613953-DD98-4448-99BD-E900631168E9}"/>
              </a:ext>
            </a:extLst>
          </p:cNvPr>
          <p:cNvGrpSpPr/>
          <p:nvPr/>
        </p:nvGrpSpPr>
        <p:grpSpPr>
          <a:xfrm>
            <a:off x="9409789" y="4102824"/>
            <a:ext cx="433619" cy="428210"/>
            <a:chOff x="8758910" y="3645182"/>
            <a:chExt cx="822733" cy="825275"/>
          </a:xfrm>
        </p:grpSpPr>
        <mc:AlternateContent xmlns:mc="http://schemas.openxmlformats.org/markup-compatibility/2006">
          <mc:Choice xmlns:am3d="http://schemas.microsoft.com/office/drawing/2017/model3d" Requires="am3d">
            <p:graphicFrame>
              <p:nvGraphicFramePr>
                <p:cNvPr id="178" name="Modello 3D 177" descr="Sfera grigio chiaro">
                  <a:extLst>
                    <a:ext uri="{FF2B5EF4-FFF2-40B4-BE49-F238E27FC236}">
                      <a16:creationId xmlns:a16="http://schemas.microsoft.com/office/drawing/2014/main" id="{FCDFD904-6EE7-4F4D-9055-5EEAB6D3C01E}"/>
                    </a:ext>
                  </a:extLst>
                </p:cNvPr>
                <p:cNvGraphicFramePr>
                  <a:graphicFrameLocks noChangeAspect="1"/>
                </p:cNvGraphicFramePr>
                <p:nvPr/>
              </p:nvGraphicFramePr>
              <p:xfrm>
                <a:off x="8758910" y="3645182"/>
                <a:ext cx="822733" cy="825275"/>
              </p:xfrm>
              <a:graphic>
                <a:graphicData uri="http://schemas.microsoft.com/office/drawing/2017/model3d">
                  <am3d:model3d r:embed="rId2">
                    <am3d:spPr>
                      <a:xfrm>
                        <a:off x="0" y="0"/>
                        <a:ext cx="822733" cy="825275"/>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8" name="Modello 3D 177" descr="Sfera grigio chiaro">
                  <a:extLst>
                    <a:ext uri="{FF2B5EF4-FFF2-40B4-BE49-F238E27FC236}">
                      <a16:creationId xmlns:a16="http://schemas.microsoft.com/office/drawing/2014/main" id="{FCDFD904-6EE7-4F4D-9055-5EEAB6D3C01E}"/>
                    </a:ext>
                  </a:extLst>
                </p:cNvPr>
                <p:cNvPicPr>
                  <a:picLocks noGrp="1" noRot="1" noChangeAspect="1" noMove="1" noResize="1" noEditPoints="1" noAdjustHandles="1" noChangeArrowheads="1" noChangeShapeType="1" noCrop="1"/>
                </p:cNvPicPr>
                <p:nvPr/>
              </p:nvPicPr>
              <p:blipFill>
                <a:blip r:embed="rId3"/>
                <a:stretch>
                  <a:fillRect/>
                </a:stretch>
              </p:blipFill>
              <p:spPr>
                <a:xfrm>
                  <a:off x="9409789" y="4102824"/>
                  <a:ext cx="433619" cy="428210"/>
                </a:xfrm>
                <a:prstGeom prst="rect">
                  <a:avLst/>
                </a:prstGeom>
              </p:spPr>
            </p:pic>
          </mc:Fallback>
        </mc:AlternateContent>
        <p:sp>
          <p:nvSpPr>
            <p:cNvPr id="179" name="CasellaDiTesto 178">
              <a:extLst>
                <a:ext uri="{FF2B5EF4-FFF2-40B4-BE49-F238E27FC236}">
                  <a16:creationId xmlns:a16="http://schemas.microsoft.com/office/drawing/2014/main" id="{62E7764D-ABF2-47F7-82F2-A43BDF9853C9}"/>
                </a:ext>
              </a:extLst>
            </p:cNvPr>
            <p:cNvSpPr txBox="1"/>
            <p:nvPr/>
          </p:nvSpPr>
          <p:spPr>
            <a:xfrm>
              <a:off x="8903755" y="3817194"/>
              <a:ext cx="496582" cy="593168"/>
            </a:xfrm>
            <a:prstGeom prst="rect">
              <a:avLst/>
            </a:prstGeom>
            <a:noFill/>
          </p:spPr>
          <p:txBody>
            <a:bodyPr wrap="square" rtlCol="0">
              <a:spAutoFit/>
            </a:bodyPr>
            <a:lstStyle/>
            <a:p>
              <a:pPr algn="ctr"/>
              <a:r>
                <a:rPr lang="en-US" sz="1400" b="1" dirty="0">
                  <a:latin typeface="LEMON MILK" panose="00000500000000000000" pitchFamily="50" charset="0"/>
                </a:rPr>
                <a:t>e</a:t>
              </a:r>
              <a:endParaRPr lang="it-IT" sz="1400" b="1" dirty="0">
                <a:latin typeface="LEMON MILK" panose="00000500000000000000" pitchFamily="50" charset="0"/>
              </a:endParaRPr>
            </a:p>
          </p:txBody>
        </p:sp>
      </p:grpSp>
      <p:cxnSp>
        <p:nvCxnSpPr>
          <p:cNvPr id="37" name="Connettore diritto 36">
            <a:extLst>
              <a:ext uri="{FF2B5EF4-FFF2-40B4-BE49-F238E27FC236}">
                <a16:creationId xmlns:a16="http://schemas.microsoft.com/office/drawing/2014/main" id="{40167110-B5C3-48D4-A890-85F508513620}"/>
              </a:ext>
            </a:extLst>
          </p:cNvPr>
          <p:cNvCxnSpPr>
            <a:cxnSpLocks/>
            <a:stCxn id="106" idx="2"/>
            <a:endCxn id="168" idx="0"/>
          </p:cNvCxnSpPr>
          <p:nvPr/>
        </p:nvCxnSpPr>
        <p:spPr>
          <a:xfrm flipH="1">
            <a:off x="8256395" y="3734291"/>
            <a:ext cx="1" cy="368533"/>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Connettore diritto 40">
            <a:extLst>
              <a:ext uri="{FF2B5EF4-FFF2-40B4-BE49-F238E27FC236}">
                <a16:creationId xmlns:a16="http://schemas.microsoft.com/office/drawing/2014/main" id="{38CCC613-796D-45AB-A2FB-14B5D2AD1639}"/>
              </a:ext>
            </a:extLst>
          </p:cNvPr>
          <p:cNvCxnSpPr>
            <a:cxnSpLocks/>
            <a:stCxn id="106" idx="3"/>
            <a:endCxn id="175" idx="1"/>
          </p:cNvCxnSpPr>
          <p:nvPr/>
        </p:nvCxnSpPr>
        <p:spPr>
          <a:xfrm flipV="1">
            <a:off x="8473205" y="3520185"/>
            <a:ext cx="941993" cy="1"/>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6" name="Connettore diritto 45">
            <a:extLst>
              <a:ext uri="{FF2B5EF4-FFF2-40B4-BE49-F238E27FC236}">
                <a16:creationId xmlns:a16="http://schemas.microsoft.com/office/drawing/2014/main" id="{5C17C2EC-49ED-453D-98D2-05C5AF1790AF}"/>
              </a:ext>
            </a:extLst>
          </p:cNvPr>
          <p:cNvCxnSpPr>
            <a:cxnSpLocks/>
            <a:stCxn id="175" idx="2"/>
            <a:endCxn id="178" idx="0"/>
          </p:cNvCxnSpPr>
          <p:nvPr/>
        </p:nvCxnSpPr>
        <p:spPr>
          <a:xfrm flipH="1">
            <a:off x="9626599" y="3734290"/>
            <a:ext cx="2704" cy="368534"/>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1" name="CasellaDiTesto 260">
            <a:extLst>
              <a:ext uri="{FF2B5EF4-FFF2-40B4-BE49-F238E27FC236}">
                <a16:creationId xmlns:a16="http://schemas.microsoft.com/office/drawing/2014/main" id="{9CD39EB9-6EA0-4708-8C46-AD6ABAAFBCE0}"/>
              </a:ext>
            </a:extLst>
          </p:cNvPr>
          <p:cNvSpPr txBox="1"/>
          <p:nvPr/>
        </p:nvSpPr>
        <p:spPr>
          <a:xfrm>
            <a:off x="-978642" y="1771609"/>
            <a:ext cx="8839200" cy="584775"/>
          </a:xfrm>
          <a:prstGeom prst="rect">
            <a:avLst/>
          </a:prstGeom>
          <a:noFill/>
        </p:spPr>
        <p:txBody>
          <a:bodyPr wrap="square">
            <a:spAutoFit/>
          </a:bodyPr>
          <a:lstStyle/>
          <a:p>
            <a:pPr algn="ctr"/>
            <a:r>
              <a:rPr lang="it-IT" sz="1600" b="1" dirty="0">
                <a:solidFill>
                  <a:schemeClr val="bg1"/>
                </a:solidFill>
                <a:latin typeface="Corbel Light" panose="020B0303020204020204" pitchFamily="34" charset="0"/>
              </a:rPr>
              <a:t>Un grafo orientato è una struttura matematica composta</a:t>
            </a:r>
          </a:p>
          <a:p>
            <a:pPr algn="ctr"/>
            <a:r>
              <a:rPr lang="it-IT" sz="1600" b="1" dirty="0">
                <a:solidFill>
                  <a:schemeClr val="bg1"/>
                </a:solidFill>
                <a:latin typeface="Corbel Light" panose="020B0303020204020204" pitchFamily="34" charset="0"/>
              </a:rPr>
              <a:t> da un insieme di nodi (o vertici) collegati da archi direzionati.</a:t>
            </a:r>
          </a:p>
        </p:txBody>
      </p:sp>
      <p:grpSp>
        <p:nvGrpSpPr>
          <p:cNvPr id="76" name="Gruppo 75">
            <a:extLst>
              <a:ext uri="{FF2B5EF4-FFF2-40B4-BE49-F238E27FC236}">
                <a16:creationId xmlns:a16="http://schemas.microsoft.com/office/drawing/2014/main" id="{DEEA7488-2BDB-4551-A2FF-792021E28688}"/>
              </a:ext>
            </a:extLst>
          </p:cNvPr>
          <p:cNvGrpSpPr/>
          <p:nvPr/>
        </p:nvGrpSpPr>
        <p:grpSpPr>
          <a:xfrm>
            <a:off x="8721085" y="3734290"/>
            <a:ext cx="433619" cy="428210"/>
            <a:chOff x="7156642" y="2544531"/>
            <a:chExt cx="825273" cy="825273"/>
          </a:xfrm>
        </p:grpSpPr>
        <mc:AlternateContent xmlns:mc="http://schemas.openxmlformats.org/markup-compatibility/2006">
          <mc:Choice xmlns:am3d="http://schemas.microsoft.com/office/drawing/2017/model3d" Requires="am3d">
            <p:graphicFrame>
              <p:nvGraphicFramePr>
                <p:cNvPr id="77" name="Modello 3D 76" descr="Sfera grigio chiaro">
                  <a:extLst>
                    <a:ext uri="{FF2B5EF4-FFF2-40B4-BE49-F238E27FC236}">
                      <a16:creationId xmlns:a16="http://schemas.microsoft.com/office/drawing/2014/main" id="{4BD220EC-EDF4-4A0D-94EE-EA46827C6D1E}"/>
                    </a:ext>
                  </a:extLst>
                </p:cNvPr>
                <p:cNvGraphicFramePr>
                  <a:graphicFrameLocks noChangeAspect="1"/>
                </p:cNvGraphicFramePr>
                <p:nvPr/>
              </p:nvGraphicFramePr>
              <p:xfrm>
                <a:off x="7156642" y="2544531"/>
                <a:ext cx="825273" cy="825273"/>
              </p:xfrm>
              <a:graphic>
                <a:graphicData uri="http://schemas.microsoft.com/office/drawing/2017/model3d">
                  <am3d:model3d r:embed="rId2">
                    <am3d:spPr>
                      <a:xfrm>
                        <a:off x="0" y="0"/>
                        <a:ext cx="825273" cy="825273"/>
                      </a:xfrm>
                      <a:prstGeom prst="rect">
                        <a:avLst/>
                      </a:prstGeom>
                    </am3d:spPr>
                    <am3d:camera>
                      <am3d:pos x="0" y="0" z="81469184"/>
                      <am3d:up dx="0" dy="36000000" dz="0"/>
                      <am3d:lookAt x="0" y="0" z="0"/>
                      <am3d:perspective fov="2700000"/>
                    </am3d:camera>
                    <am3d:trans>
                      <am3d:meterPerModelUnit n="7143146" d="1000000"/>
                      <am3d:preTrans dx="-2" dy="-18000000" dz="3"/>
                      <am3d:scale>
                        <am3d:sx n="1000000" d="1000000"/>
                        <am3d:sy n="1000000" d="1000000"/>
                        <am3d:sz n="1000000" d="1000000"/>
                      </am3d:scale>
                      <am3d:rot ax="10748261" ay="217314" az="10796731"/>
                      <am3d:postTrans dx="0" dy="0" dz="0"/>
                    </am3d:trans>
                    <am3d:raster rName="Office3DRenderer" rVer="16.0.8326">
                      <am3d:blip r:embed="rId3"/>
                    </am3d:raster>
                    <am3d:objViewport viewportSz="754845"/>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7" name="Modello 3D 76" descr="Sfera grigio chiaro">
                  <a:extLst>
                    <a:ext uri="{FF2B5EF4-FFF2-40B4-BE49-F238E27FC236}">
                      <a16:creationId xmlns:a16="http://schemas.microsoft.com/office/drawing/2014/main" id="{4BD220EC-EDF4-4A0D-94EE-EA46827C6D1E}"/>
                    </a:ext>
                  </a:extLst>
                </p:cNvPr>
                <p:cNvPicPr>
                  <a:picLocks noGrp="1" noRot="1" noChangeAspect="1" noMove="1" noResize="1" noEditPoints="1" noAdjustHandles="1" noChangeArrowheads="1" noChangeShapeType="1" noCrop="1"/>
                </p:cNvPicPr>
                <p:nvPr/>
              </p:nvPicPr>
              <p:blipFill>
                <a:blip r:embed="rId3"/>
                <a:stretch>
                  <a:fillRect/>
                </a:stretch>
              </p:blipFill>
              <p:spPr>
                <a:xfrm>
                  <a:off x="8721085" y="3734290"/>
                  <a:ext cx="433619" cy="428210"/>
                </a:xfrm>
                <a:prstGeom prst="rect">
                  <a:avLst/>
                </a:prstGeom>
              </p:spPr>
            </p:pic>
          </mc:Fallback>
        </mc:AlternateContent>
        <p:sp>
          <p:nvSpPr>
            <p:cNvPr id="78" name="CasellaDiTesto 77">
              <a:extLst>
                <a:ext uri="{FF2B5EF4-FFF2-40B4-BE49-F238E27FC236}">
                  <a16:creationId xmlns:a16="http://schemas.microsoft.com/office/drawing/2014/main" id="{9D472CE7-7D71-44D2-9F8C-454B1D4437EB}"/>
                </a:ext>
              </a:extLst>
            </p:cNvPr>
            <p:cNvSpPr txBox="1"/>
            <p:nvPr/>
          </p:nvSpPr>
          <p:spPr>
            <a:xfrm>
              <a:off x="7320987" y="2669425"/>
              <a:ext cx="496581" cy="593167"/>
            </a:xfrm>
            <a:prstGeom prst="rect">
              <a:avLst/>
            </a:prstGeom>
            <a:noFill/>
          </p:spPr>
          <p:txBody>
            <a:bodyPr wrap="square" rtlCol="0">
              <a:spAutoFit/>
            </a:bodyPr>
            <a:lstStyle/>
            <a:p>
              <a:pPr algn="ctr"/>
              <a:r>
                <a:rPr lang="en-US" sz="1400" b="1" dirty="0">
                  <a:latin typeface="LEMON MILK" panose="00000500000000000000" pitchFamily="50" charset="0"/>
                </a:rPr>
                <a:t>c</a:t>
              </a:r>
              <a:endParaRPr lang="it-IT" sz="1400" b="1" dirty="0">
                <a:latin typeface="LEMON MILK" panose="00000500000000000000" pitchFamily="50" charset="0"/>
              </a:endParaRPr>
            </a:p>
          </p:txBody>
        </p:sp>
      </p:grpSp>
      <p:cxnSp>
        <p:nvCxnSpPr>
          <p:cNvPr id="4" name="Connettore diritto 3">
            <a:extLst>
              <a:ext uri="{FF2B5EF4-FFF2-40B4-BE49-F238E27FC236}">
                <a16:creationId xmlns:a16="http://schemas.microsoft.com/office/drawing/2014/main" id="{7E876351-4F9A-4928-BEEC-2AD0370031E3}"/>
              </a:ext>
            </a:extLst>
          </p:cNvPr>
          <p:cNvCxnSpPr>
            <a:cxnSpLocks/>
          </p:cNvCxnSpPr>
          <p:nvPr/>
        </p:nvCxnSpPr>
        <p:spPr>
          <a:xfrm flipH="1">
            <a:off x="8416726" y="4059925"/>
            <a:ext cx="348812" cy="145476"/>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9" name="Connettore diritto 8">
            <a:extLst>
              <a:ext uri="{FF2B5EF4-FFF2-40B4-BE49-F238E27FC236}">
                <a16:creationId xmlns:a16="http://schemas.microsoft.com/office/drawing/2014/main" id="{495A2085-98C7-4C2B-BA4A-D787579B0811}"/>
              </a:ext>
            </a:extLst>
          </p:cNvPr>
          <p:cNvCxnSpPr>
            <a:cxnSpLocks/>
          </p:cNvCxnSpPr>
          <p:nvPr/>
        </p:nvCxnSpPr>
        <p:spPr>
          <a:xfrm flipV="1">
            <a:off x="9099675" y="3645038"/>
            <a:ext cx="386454" cy="231448"/>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2" name="Connettore diritto 11">
            <a:extLst>
              <a:ext uri="{FF2B5EF4-FFF2-40B4-BE49-F238E27FC236}">
                <a16:creationId xmlns:a16="http://schemas.microsoft.com/office/drawing/2014/main" id="{8D98B4E6-6B4A-4337-9714-99AFE163D86C}"/>
              </a:ext>
            </a:extLst>
          </p:cNvPr>
          <p:cNvCxnSpPr>
            <a:cxnSpLocks/>
            <a:stCxn id="168" idx="3"/>
            <a:endCxn id="178" idx="1"/>
          </p:cNvCxnSpPr>
          <p:nvPr/>
        </p:nvCxnSpPr>
        <p:spPr>
          <a:xfrm flipV="1">
            <a:off x="8473205" y="4316929"/>
            <a:ext cx="936584" cy="1"/>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90" name="CasellaDiTesto 89">
            <a:extLst>
              <a:ext uri="{FF2B5EF4-FFF2-40B4-BE49-F238E27FC236}">
                <a16:creationId xmlns:a16="http://schemas.microsoft.com/office/drawing/2014/main" id="{B23C04FB-08D4-4C55-B956-13E298C9C9CD}"/>
              </a:ext>
            </a:extLst>
          </p:cNvPr>
          <p:cNvSpPr txBox="1"/>
          <p:nvPr/>
        </p:nvSpPr>
        <p:spPr>
          <a:xfrm>
            <a:off x="9702939" y="3754416"/>
            <a:ext cx="269200" cy="369332"/>
          </a:xfrm>
          <a:prstGeom prst="rect">
            <a:avLst/>
          </a:prstGeom>
          <a:noFill/>
        </p:spPr>
        <p:txBody>
          <a:bodyPr wrap="square" rtlCol="0">
            <a:spAutoFit/>
          </a:bodyPr>
          <a:lstStyle/>
          <a:p>
            <a:r>
              <a:rPr lang="en-US" dirty="0"/>
              <a:t>2</a:t>
            </a:r>
            <a:endParaRPr lang="it-IT" dirty="0"/>
          </a:p>
        </p:txBody>
      </p:sp>
      <p:sp>
        <p:nvSpPr>
          <p:cNvPr id="91" name="CasellaDiTesto 90">
            <a:extLst>
              <a:ext uri="{FF2B5EF4-FFF2-40B4-BE49-F238E27FC236}">
                <a16:creationId xmlns:a16="http://schemas.microsoft.com/office/drawing/2014/main" id="{A6E236BA-5D09-4BD4-A2F7-FD92FA325420}"/>
              </a:ext>
            </a:extLst>
          </p:cNvPr>
          <p:cNvSpPr txBox="1"/>
          <p:nvPr/>
        </p:nvSpPr>
        <p:spPr>
          <a:xfrm>
            <a:off x="8799152" y="4251752"/>
            <a:ext cx="269200" cy="369332"/>
          </a:xfrm>
          <a:prstGeom prst="rect">
            <a:avLst/>
          </a:prstGeom>
          <a:noFill/>
        </p:spPr>
        <p:txBody>
          <a:bodyPr wrap="square" rtlCol="0">
            <a:spAutoFit/>
          </a:bodyPr>
          <a:lstStyle/>
          <a:p>
            <a:r>
              <a:rPr lang="en-US" dirty="0"/>
              <a:t>2</a:t>
            </a:r>
            <a:endParaRPr lang="it-IT" dirty="0"/>
          </a:p>
        </p:txBody>
      </p:sp>
      <p:sp>
        <p:nvSpPr>
          <p:cNvPr id="92" name="CasellaDiTesto 91">
            <a:extLst>
              <a:ext uri="{FF2B5EF4-FFF2-40B4-BE49-F238E27FC236}">
                <a16:creationId xmlns:a16="http://schemas.microsoft.com/office/drawing/2014/main" id="{37FB6AA7-8E8D-4A21-AE6E-AF0354693932}"/>
              </a:ext>
            </a:extLst>
          </p:cNvPr>
          <p:cNvSpPr txBox="1"/>
          <p:nvPr/>
        </p:nvSpPr>
        <p:spPr>
          <a:xfrm>
            <a:off x="7940872" y="3722475"/>
            <a:ext cx="269200" cy="369332"/>
          </a:xfrm>
          <a:prstGeom prst="rect">
            <a:avLst/>
          </a:prstGeom>
          <a:noFill/>
        </p:spPr>
        <p:txBody>
          <a:bodyPr wrap="square" rtlCol="0">
            <a:spAutoFit/>
          </a:bodyPr>
          <a:lstStyle/>
          <a:p>
            <a:r>
              <a:rPr lang="en-US" dirty="0"/>
              <a:t>2</a:t>
            </a:r>
            <a:endParaRPr lang="it-IT" dirty="0"/>
          </a:p>
        </p:txBody>
      </p:sp>
      <p:sp>
        <p:nvSpPr>
          <p:cNvPr id="94" name="CasellaDiTesto 93">
            <a:extLst>
              <a:ext uri="{FF2B5EF4-FFF2-40B4-BE49-F238E27FC236}">
                <a16:creationId xmlns:a16="http://schemas.microsoft.com/office/drawing/2014/main" id="{022D5161-8918-442D-9ACF-E85D895E7604}"/>
              </a:ext>
            </a:extLst>
          </p:cNvPr>
          <p:cNvSpPr txBox="1"/>
          <p:nvPr/>
        </p:nvSpPr>
        <p:spPr>
          <a:xfrm>
            <a:off x="8788728" y="3179888"/>
            <a:ext cx="269200" cy="369332"/>
          </a:xfrm>
          <a:prstGeom prst="rect">
            <a:avLst/>
          </a:prstGeom>
          <a:noFill/>
        </p:spPr>
        <p:txBody>
          <a:bodyPr wrap="square" rtlCol="0">
            <a:spAutoFit/>
          </a:bodyPr>
          <a:lstStyle/>
          <a:p>
            <a:r>
              <a:rPr lang="en-US" dirty="0"/>
              <a:t>2</a:t>
            </a:r>
            <a:endParaRPr lang="it-IT" dirty="0"/>
          </a:p>
        </p:txBody>
      </p:sp>
      <p:sp>
        <p:nvSpPr>
          <p:cNvPr id="95" name="CasellaDiTesto 94">
            <a:extLst>
              <a:ext uri="{FF2B5EF4-FFF2-40B4-BE49-F238E27FC236}">
                <a16:creationId xmlns:a16="http://schemas.microsoft.com/office/drawing/2014/main" id="{8F4B8D37-2FA9-4266-BAF3-96597B51EF93}"/>
              </a:ext>
            </a:extLst>
          </p:cNvPr>
          <p:cNvSpPr txBox="1"/>
          <p:nvPr/>
        </p:nvSpPr>
        <p:spPr>
          <a:xfrm>
            <a:off x="9075151" y="3507154"/>
            <a:ext cx="269200" cy="369332"/>
          </a:xfrm>
          <a:prstGeom prst="rect">
            <a:avLst/>
          </a:prstGeom>
          <a:noFill/>
        </p:spPr>
        <p:txBody>
          <a:bodyPr wrap="square" rtlCol="0">
            <a:spAutoFit/>
          </a:bodyPr>
          <a:lstStyle/>
          <a:p>
            <a:r>
              <a:rPr lang="en-US" dirty="0"/>
              <a:t>2</a:t>
            </a:r>
            <a:endParaRPr lang="it-IT" dirty="0"/>
          </a:p>
        </p:txBody>
      </p:sp>
      <p:sp>
        <p:nvSpPr>
          <p:cNvPr id="96" name="CasellaDiTesto 95">
            <a:extLst>
              <a:ext uri="{FF2B5EF4-FFF2-40B4-BE49-F238E27FC236}">
                <a16:creationId xmlns:a16="http://schemas.microsoft.com/office/drawing/2014/main" id="{8E230B28-D847-4490-B89B-798768B54F67}"/>
              </a:ext>
            </a:extLst>
          </p:cNvPr>
          <p:cNvSpPr txBox="1"/>
          <p:nvPr/>
        </p:nvSpPr>
        <p:spPr>
          <a:xfrm>
            <a:off x="8396866" y="3763331"/>
            <a:ext cx="269200" cy="369332"/>
          </a:xfrm>
          <a:prstGeom prst="rect">
            <a:avLst/>
          </a:prstGeom>
          <a:noFill/>
        </p:spPr>
        <p:txBody>
          <a:bodyPr wrap="square" rtlCol="0">
            <a:spAutoFit/>
          </a:bodyPr>
          <a:lstStyle/>
          <a:p>
            <a:r>
              <a:rPr lang="en-US" dirty="0"/>
              <a:t>2</a:t>
            </a:r>
            <a:endParaRPr lang="it-IT" dirty="0"/>
          </a:p>
        </p:txBody>
      </p:sp>
      <p:sp>
        <p:nvSpPr>
          <p:cNvPr id="44" name="CasellaDiTesto 43">
            <a:extLst>
              <a:ext uri="{FF2B5EF4-FFF2-40B4-BE49-F238E27FC236}">
                <a16:creationId xmlns:a16="http://schemas.microsoft.com/office/drawing/2014/main" id="{A8C565AA-AF9B-4BA7-B501-E47DD0522DD8}"/>
              </a:ext>
            </a:extLst>
          </p:cNvPr>
          <p:cNvSpPr txBox="1"/>
          <p:nvPr/>
        </p:nvSpPr>
        <p:spPr>
          <a:xfrm>
            <a:off x="1141342" y="2423555"/>
            <a:ext cx="5011658" cy="3693319"/>
          </a:xfrm>
          <a:prstGeom prst="rect">
            <a:avLst/>
          </a:prstGeom>
          <a:noFill/>
        </p:spPr>
        <p:txBody>
          <a:bodyPr wrap="square">
            <a:spAutoFit/>
          </a:bodyPr>
          <a:lstStyle/>
          <a:p>
            <a:r>
              <a:rPr lang="it-IT" b="1" dirty="0">
                <a:solidFill>
                  <a:schemeClr val="bg1"/>
                </a:solidFill>
                <a:latin typeface="Corbel Light" panose="020B0303020204020204" pitchFamily="34" charset="0"/>
              </a:rPr>
              <a:t>ARCHI DIREZIONATI</a:t>
            </a:r>
          </a:p>
          <a:p>
            <a:r>
              <a:rPr lang="it-IT" b="1" dirty="0">
                <a:solidFill>
                  <a:schemeClr val="bg1"/>
                </a:solidFill>
                <a:latin typeface="Corbel Light" panose="020B0303020204020204" pitchFamily="34" charset="0"/>
              </a:rPr>
              <a:t>Ogni arco ha una direzione che indica il flusso o la relazione tra i nodi.</a:t>
            </a:r>
          </a:p>
          <a:p>
            <a:endParaRPr lang="it-IT" b="1" dirty="0">
              <a:solidFill>
                <a:schemeClr val="bg1"/>
              </a:solidFill>
              <a:latin typeface="Corbel Light" panose="020B0303020204020204" pitchFamily="34" charset="0"/>
            </a:endParaRPr>
          </a:p>
          <a:p>
            <a:r>
              <a:rPr lang="it-IT" b="1" dirty="0">
                <a:solidFill>
                  <a:schemeClr val="bg1"/>
                </a:solidFill>
                <a:latin typeface="Corbel Light" panose="020B0303020204020204" pitchFamily="34" charset="0"/>
              </a:rPr>
              <a:t>GRADO DI ENTRATA E USCITE</a:t>
            </a:r>
          </a:p>
          <a:p>
            <a:r>
              <a:rPr lang="it-IT" b="1" dirty="0">
                <a:solidFill>
                  <a:schemeClr val="bg1"/>
                </a:solidFill>
                <a:latin typeface="Corbel Light" panose="020B0303020204020204" pitchFamily="34" charset="0"/>
              </a:rPr>
              <a:t>Il grado di entrata di un nodo è il numero di archi che puntano verso di esso, mentre il grado di uscita è il numero di archi che si diramano da esso</a:t>
            </a:r>
          </a:p>
          <a:p>
            <a:endParaRPr lang="it-IT" b="1" dirty="0">
              <a:solidFill>
                <a:schemeClr val="bg1"/>
              </a:solidFill>
              <a:latin typeface="Corbel Light" panose="020B0303020204020204" pitchFamily="34" charset="0"/>
            </a:endParaRPr>
          </a:p>
          <a:p>
            <a:r>
              <a:rPr lang="it-IT" b="1" dirty="0">
                <a:solidFill>
                  <a:schemeClr val="bg1"/>
                </a:solidFill>
                <a:latin typeface="Corbel Light" panose="020B0303020204020204" pitchFamily="34" charset="0"/>
              </a:rPr>
              <a:t>CICLI ORIENTATI</a:t>
            </a:r>
          </a:p>
          <a:p>
            <a:r>
              <a:rPr lang="it-IT" b="1" dirty="0">
                <a:solidFill>
                  <a:schemeClr val="bg1"/>
                </a:solidFill>
                <a:latin typeface="Corbel Light" panose="020B0303020204020204" pitchFamily="34" charset="0"/>
              </a:rPr>
              <a:t>In un grafo orientato, un ciclo è una sequenza di archi che inizia e termina nello stesso nodo, seguendo la direzione degli archi.</a:t>
            </a:r>
          </a:p>
        </p:txBody>
      </p:sp>
      <p:sp>
        <p:nvSpPr>
          <p:cNvPr id="45" name="Rettangolo 44">
            <a:extLst>
              <a:ext uri="{FF2B5EF4-FFF2-40B4-BE49-F238E27FC236}">
                <a16:creationId xmlns:a16="http://schemas.microsoft.com/office/drawing/2014/main" id="{4623214A-2090-4E75-A371-C37D01B2C920}"/>
              </a:ext>
            </a:extLst>
          </p:cNvPr>
          <p:cNvSpPr/>
          <p:nvPr/>
        </p:nvSpPr>
        <p:spPr>
          <a:xfrm>
            <a:off x="968878" y="2535655"/>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7" name="Rettangolo 46">
            <a:extLst>
              <a:ext uri="{FF2B5EF4-FFF2-40B4-BE49-F238E27FC236}">
                <a16:creationId xmlns:a16="http://schemas.microsoft.com/office/drawing/2014/main" id="{E9348F8F-A58E-4313-A50D-960F04794A92}"/>
              </a:ext>
            </a:extLst>
          </p:cNvPr>
          <p:cNvSpPr/>
          <p:nvPr/>
        </p:nvSpPr>
        <p:spPr>
          <a:xfrm>
            <a:off x="968807" y="3629022"/>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8" name="Rettangolo 47">
            <a:extLst>
              <a:ext uri="{FF2B5EF4-FFF2-40B4-BE49-F238E27FC236}">
                <a16:creationId xmlns:a16="http://schemas.microsoft.com/office/drawing/2014/main" id="{15477B55-6A7B-4CE6-8535-1024287434C2}"/>
              </a:ext>
            </a:extLst>
          </p:cNvPr>
          <p:cNvSpPr/>
          <p:nvPr/>
        </p:nvSpPr>
        <p:spPr>
          <a:xfrm>
            <a:off x="968807" y="5025125"/>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4" name="CasellaDiTesto 103">
            <a:extLst>
              <a:ext uri="{FF2B5EF4-FFF2-40B4-BE49-F238E27FC236}">
                <a16:creationId xmlns:a16="http://schemas.microsoft.com/office/drawing/2014/main" id="{15CEDE7C-0D48-4F8E-88EE-066D5BF7FC83}"/>
              </a:ext>
            </a:extLst>
          </p:cNvPr>
          <p:cNvSpPr txBox="1"/>
          <p:nvPr/>
        </p:nvSpPr>
        <p:spPr>
          <a:xfrm>
            <a:off x="3892091" y="914009"/>
            <a:ext cx="2652940"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GRAFI</a:t>
            </a:r>
          </a:p>
        </p:txBody>
      </p:sp>
      <p:sp>
        <p:nvSpPr>
          <p:cNvPr id="108" name="CasellaDiTesto 107">
            <a:extLst>
              <a:ext uri="{FF2B5EF4-FFF2-40B4-BE49-F238E27FC236}">
                <a16:creationId xmlns:a16="http://schemas.microsoft.com/office/drawing/2014/main" id="{3A882751-FFAD-42FA-B93E-780259596D70}"/>
              </a:ext>
            </a:extLst>
          </p:cNvPr>
          <p:cNvSpPr txBox="1"/>
          <p:nvPr/>
        </p:nvSpPr>
        <p:spPr>
          <a:xfrm>
            <a:off x="5886310" y="914009"/>
            <a:ext cx="3740289" cy="769441"/>
          </a:xfrm>
          <a:prstGeom prst="rect">
            <a:avLst/>
          </a:prstGeom>
          <a:noFill/>
        </p:spPr>
        <p:txBody>
          <a:bodyPr wrap="square" rtlCol="0">
            <a:spAutoFit/>
          </a:bodyPr>
          <a:lstStyle/>
          <a:p>
            <a:pPr algn="ctr"/>
            <a:r>
              <a:rPr lang="en-US" sz="4400" dirty="0">
                <a:solidFill>
                  <a:schemeClr val="bg1"/>
                </a:solidFill>
                <a:latin typeface="LEMON MILK" panose="00000500000000000000" pitchFamily="50" charset="0"/>
              </a:rPr>
              <a:t>ORIENTATI</a:t>
            </a:r>
          </a:p>
        </p:txBody>
      </p:sp>
    </p:spTree>
    <p:extLst>
      <p:ext uri="{BB962C8B-B14F-4D97-AF65-F5344CB8AC3E}">
        <p14:creationId xmlns:p14="http://schemas.microsoft.com/office/powerpoint/2010/main" val="1957882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7" cy="3639011"/>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CasellaDiTesto 1">
            <a:extLst>
              <a:ext uri="{FF2B5EF4-FFF2-40B4-BE49-F238E27FC236}">
                <a16:creationId xmlns:a16="http://schemas.microsoft.com/office/drawing/2014/main" id="{B86BA432-5832-4CBA-A2C3-0F8315E511B2}"/>
              </a:ext>
            </a:extLst>
          </p:cNvPr>
          <p:cNvSpPr txBox="1"/>
          <p:nvPr/>
        </p:nvSpPr>
        <p:spPr>
          <a:xfrm>
            <a:off x="-4723202" y="1509851"/>
            <a:ext cx="6114473" cy="830997"/>
          </a:xfrm>
          <a:prstGeom prst="rect">
            <a:avLst/>
          </a:prstGeom>
          <a:noFill/>
        </p:spPr>
        <p:txBody>
          <a:bodyPr wrap="square" rtlCol="0">
            <a:spAutoFit/>
          </a:bodyPr>
          <a:lstStyle/>
          <a:p>
            <a:r>
              <a:rPr lang="en-US" sz="4800" dirty="0">
                <a:solidFill>
                  <a:schemeClr val="bg1"/>
                </a:solidFill>
                <a:latin typeface="LEMON MILK" panose="00000500000000000000" pitchFamily="50" charset="0"/>
              </a:rPr>
              <a:t>routing</a:t>
            </a:r>
            <a:endParaRPr lang="en-US"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4637897" y="2391881"/>
            <a:ext cx="2908590"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6" y="260878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10" name="CasellaDiTesto 9">
            <a:extLst>
              <a:ext uri="{FF2B5EF4-FFF2-40B4-BE49-F238E27FC236}">
                <a16:creationId xmlns:a16="http://schemas.microsoft.com/office/drawing/2014/main" id="{C58CF636-DA25-454F-B12A-DE74C8FF83AD}"/>
              </a:ext>
            </a:extLst>
          </p:cNvPr>
          <p:cNvSpPr txBox="1"/>
          <p:nvPr/>
        </p:nvSpPr>
        <p:spPr>
          <a:xfrm>
            <a:off x="-4723202" y="2608782"/>
            <a:ext cx="6308593" cy="423449"/>
          </a:xfrm>
          <a:prstGeom prst="rect">
            <a:avLst/>
          </a:prstGeom>
          <a:noFill/>
        </p:spPr>
        <p:txBody>
          <a:bodyPr wrap="square">
            <a:spAutoFit/>
          </a:bodyPr>
          <a:lstStyle/>
          <a:p>
            <a:pPr>
              <a:lnSpc>
                <a:spcPct val="150000"/>
              </a:lnSpc>
            </a:pPr>
            <a:r>
              <a:rPr lang="it-IT" sz="1600" dirty="0">
                <a:solidFill>
                  <a:srgbClr val="FFFFFF"/>
                </a:solidFill>
                <a:effectLst/>
                <a:latin typeface="Corbel Light" panose="020B0303020204020204" pitchFamily="34" charset="0"/>
              </a:rPr>
              <a:t>Esistono 2 tipi di instradamento:</a:t>
            </a:r>
          </a:p>
        </p:txBody>
      </p:sp>
      <p:sp>
        <p:nvSpPr>
          <p:cNvPr id="12" name="CasellaDiTesto 11">
            <a:extLst>
              <a:ext uri="{FF2B5EF4-FFF2-40B4-BE49-F238E27FC236}">
                <a16:creationId xmlns:a16="http://schemas.microsoft.com/office/drawing/2014/main" id="{85EE87B2-B0FD-41B6-A02D-4FE37C50C6B6}"/>
              </a:ext>
            </a:extLst>
          </p:cNvPr>
          <p:cNvSpPr txBox="1"/>
          <p:nvPr/>
        </p:nvSpPr>
        <p:spPr>
          <a:xfrm>
            <a:off x="-4456853" y="5084978"/>
            <a:ext cx="6308593" cy="423449"/>
          </a:xfrm>
          <a:prstGeom prst="rect">
            <a:avLst/>
          </a:prstGeom>
          <a:noFill/>
        </p:spPr>
        <p:txBody>
          <a:bodyPr wrap="square">
            <a:spAutoFit/>
          </a:bodyPr>
          <a:lstStyle/>
          <a:p>
            <a:pPr>
              <a:lnSpc>
                <a:spcPct val="150000"/>
              </a:lnSpc>
            </a:pPr>
            <a:r>
              <a:rPr lang="en-US" sz="1600" dirty="0">
                <a:solidFill>
                  <a:srgbClr val="FFFFFF"/>
                </a:solidFill>
                <a:effectLst/>
                <a:latin typeface="Corbel Light" panose="020B0303020204020204" pitchFamily="34" charset="0"/>
              </a:rPr>
              <a:t>DIRETTO</a:t>
            </a:r>
            <a:endParaRPr lang="it-IT" sz="1600" dirty="0">
              <a:solidFill>
                <a:srgbClr val="FFFFFF"/>
              </a:solidFill>
              <a:effectLst/>
              <a:latin typeface="Corbel Light" panose="020B0303020204020204" pitchFamily="34" charset="0"/>
            </a:endParaRPr>
          </a:p>
        </p:txBody>
      </p:sp>
      <p:sp>
        <p:nvSpPr>
          <p:cNvPr id="14" name="CasellaDiTesto 13">
            <a:extLst>
              <a:ext uri="{FF2B5EF4-FFF2-40B4-BE49-F238E27FC236}">
                <a16:creationId xmlns:a16="http://schemas.microsoft.com/office/drawing/2014/main" id="{B644269D-03B3-463A-A73B-253376DCC1C0}"/>
              </a:ext>
            </a:extLst>
          </p:cNvPr>
          <p:cNvSpPr txBox="1"/>
          <p:nvPr/>
        </p:nvSpPr>
        <p:spPr>
          <a:xfrm>
            <a:off x="-4474637" y="3051439"/>
            <a:ext cx="6308593" cy="423449"/>
          </a:xfrm>
          <a:prstGeom prst="rect">
            <a:avLst/>
          </a:prstGeom>
          <a:noFill/>
        </p:spPr>
        <p:txBody>
          <a:bodyPr wrap="square">
            <a:spAutoFit/>
          </a:bodyPr>
          <a:lstStyle/>
          <a:p>
            <a:pPr>
              <a:lnSpc>
                <a:spcPct val="150000"/>
              </a:lnSpc>
            </a:pPr>
            <a:r>
              <a:rPr lang="en-US" sz="1600" dirty="0">
                <a:solidFill>
                  <a:srgbClr val="FFFFFF"/>
                </a:solidFill>
                <a:latin typeface="Corbel Light" panose="020B0303020204020204" pitchFamily="34" charset="0"/>
              </a:rPr>
              <a:t>INDIRETTO</a:t>
            </a:r>
            <a:endParaRPr lang="it-IT" sz="1600" dirty="0">
              <a:solidFill>
                <a:srgbClr val="FFFFFF"/>
              </a:solidFill>
              <a:effectLst/>
              <a:latin typeface="Corbel Light" panose="020B0303020204020204" pitchFamily="34" charset="0"/>
            </a:endParaRPr>
          </a:p>
        </p:txBody>
      </p:sp>
      <p:sp>
        <p:nvSpPr>
          <p:cNvPr id="15" name="CasellaDiTesto 14">
            <a:extLst>
              <a:ext uri="{FF2B5EF4-FFF2-40B4-BE49-F238E27FC236}">
                <a16:creationId xmlns:a16="http://schemas.microsoft.com/office/drawing/2014/main" id="{3CD4075A-E996-42DF-9896-129BBCC07CAA}"/>
              </a:ext>
            </a:extLst>
          </p:cNvPr>
          <p:cNvSpPr txBox="1"/>
          <p:nvPr/>
        </p:nvSpPr>
        <p:spPr>
          <a:xfrm>
            <a:off x="-4620113" y="5501333"/>
            <a:ext cx="6148386" cy="830997"/>
          </a:xfrm>
          <a:prstGeom prst="rect">
            <a:avLst/>
          </a:prstGeom>
          <a:noFill/>
        </p:spPr>
        <p:txBody>
          <a:bodyPr wrap="square">
            <a:spAutoFit/>
          </a:bodyPr>
          <a:lstStyle/>
          <a:p>
            <a:r>
              <a:rPr lang="it-IT" sz="1600" dirty="0">
                <a:solidFill>
                  <a:srgbClr val="FFFFFF"/>
                </a:solidFill>
                <a:latin typeface="Corbel Light" panose="020B0303020204020204" pitchFamily="34" charset="0"/>
              </a:rPr>
              <a:t>Quando lo scambio dei </a:t>
            </a:r>
          </a:p>
          <a:p>
            <a:r>
              <a:rPr lang="it-IT" sz="1600" dirty="0">
                <a:solidFill>
                  <a:srgbClr val="FFFFFF"/>
                </a:solidFill>
                <a:latin typeface="Corbel Light" panose="020B0303020204020204" pitchFamily="34" charset="0"/>
              </a:rPr>
              <a:t>pacchetti IP avviene su una</a:t>
            </a:r>
          </a:p>
          <a:p>
            <a:r>
              <a:rPr lang="it-IT" sz="1600" dirty="0">
                <a:solidFill>
                  <a:srgbClr val="FFFFFF"/>
                </a:solidFill>
                <a:latin typeface="Corbel Light" panose="020B0303020204020204" pitchFamily="34" charset="0"/>
              </a:rPr>
              <a:t>sola rete logica senza coinvolgere router intermedi.</a:t>
            </a:r>
          </a:p>
        </p:txBody>
      </p:sp>
      <p:sp>
        <p:nvSpPr>
          <p:cNvPr id="16" name="CasellaDiTesto 15">
            <a:extLst>
              <a:ext uri="{FF2B5EF4-FFF2-40B4-BE49-F238E27FC236}">
                <a16:creationId xmlns:a16="http://schemas.microsoft.com/office/drawing/2014/main" id="{A6B6246B-BE47-46E7-857B-229579635C05}"/>
              </a:ext>
            </a:extLst>
          </p:cNvPr>
          <p:cNvSpPr txBox="1"/>
          <p:nvPr/>
        </p:nvSpPr>
        <p:spPr>
          <a:xfrm>
            <a:off x="-4562995" y="3427847"/>
            <a:ext cx="6148386" cy="1323439"/>
          </a:xfrm>
          <a:prstGeom prst="rect">
            <a:avLst/>
          </a:prstGeom>
          <a:noFill/>
        </p:spPr>
        <p:txBody>
          <a:bodyPr wrap="square">
            <a:spAutoFit/>
          </a:bodyPr>
          <a:lstStyle>
            <a:defPPr>
              <a:defRPr lang="it-IT"/>
            </a:defPPr>
            <a:lvl1pPr>
              <a:defRPr sz="1600">
                <a:solidFill>
                  <a:srgbClr val="FFFFFF"/>
                </a:solidFill>
                <a:latin typeface="Corbel Light" panose="020B0303020204020204" pitchFamily="34" charset="0"/>
              </a:defRPr>
            </a:lvl1pPr>
          </a:lstStyle>
          <a:p>
            <a:r>
              <a:rPr lang="it-IT" dirty="0"/>
              <a:t>Quando la comunicazione avviene tra</a:t>
            </a:r>
          </a:p>
          <a:p>
            <a:r>
              <a:rPr lang="it-IT" dirty="0"/>
              <a:t>dispositivi su reti logiche diverse attraverso </a:t>
            </a:r>
          </a:p>
          <a:p>
            <a:r>
              <a:rPr lang="it-IT" dirty="0"/>
              <a:t>router intermedi; il mittente dovrà però </a:t>
            </a:r>
          </a:p>
          <a:p>
            <a:r>
              <a:rPr lang="it-IT" dirty="0"/>
              <a:t>fornire o il next-hop oppure il </a:t>
            </a:r>
          </a:p>
          <a:p>
            <a:r>
              <a:rPr lang="it-IT" dirty="0"/>
              <a:t>default gateway</a:t>
            </a:r>
          </a:p>
        </p:txBody>
      </p:sp>
      <p:sp>
        <p:nvSpPr>
          <p:cNvPr id="17" name="Rettangolo 16">
            <a:extLst>
              <a:ext uri="{FF2B5EF4-FFF2-40B4-BE49-F238E27FC236}">
                <a16:creationId xmlns:a16="http://schemas.microsoft.com/office/drawing/2014/main" id="{B0F4BE0F-3F72-43CF-82A8-F282CF746643}"/>
              </a:ext>
            </a:extLst>
          </p:cNvPr>
          <p:cNvSpPr/>
          <p:nvPr/>
        </p:nvSpPr>
        <p:spPr>
          <a:xfrm>
            <a:off x="-4620113" y="3225968"/>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1C662FD7-1647-4F28-A747-427407D187A4}"/>
              </a:ext>
            </a:extLst>
          </p:cNvPr>
          <p:cNvSpPr/>
          <p:nvPr/>
        </p:nvSpPr>
        <p:spPr>
          <a:xfrm>
            <a:off x="-4602329" y="5265024"/>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3237E52D-5AF8-460B-8414-382D50DA1587}"/>
                  </a:ext>
                </a:extLst>
              </p:cNvPr>
              <p:cNvGraphicFramePr>
                <a:graphicFrameLocks noChangeAspect="1"/>
              </p:cNvGraphicFramePr>
              <p:nvPr/>
            </p:nvGraphicFramePr>
            <p:xfrm>
              <a:off x="3478083" y="1609407"/>
              <a:ext cx="5235835" cy="5007361"/>
            </p:xfrm>
            <a:graphic>
              <a:graphicData uri="http://schemas.microsoft.com/office/drawing/2017/model3d">
                <am3d:model3d r:embed="rId2">
                  <am3d:spPr>
                    <a:xfrm>
                      <a:off x="0" y="0"/>
                      <a:ext cx="5235835" cy="500736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7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3237E52D-5AF8-460B-8414-382D50DA1587}"/>
                  </a:ext>
                </a:extLst>
              </p:cNvPr>
              <p:cNvPicPr>
                <a:picLocks noGrp="1" noRot="1" noChangeAspect="1" noMove="1" noResize="1" noEditPoints="1" noAdjustHandles="1" noChangeArrowheads="1" noChangeShapeType="1" noCrop="1"/>
              </p:cNvPicPr>
              <p:nvPr/>
            </p:nvPicPr>
            <p:blipFill>
              <a:blip r:embed="rId3"/>
              <a:stretch>
                <a:fillRect/>
              </a:stretch>
            </p:blipFill>
            <p:spPr>
              <a:xfrm>
                <a:off x="3478083" y="1609407"/>
                <a:ext cx="5235835" cy="5007361"/>
              </a:xfrm>
              <a:prstGeom prst="rect">
                <a:avLst/>
              </a:prstGeom>
            </p:spPr>
          </p:pic>
        </mc:Fallback>
      </mc:AlternateContent>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mc:AlternateContent xmlns:mc="http://schemas.openxmlformats.org/markup-compatibility/2006">
        <mc:Choice xmlns:am3d="http://schemas.microsoft.com/office/drawing/2017/model3d" Requires="am3d">
          <p:graphicFrame>
            <p:nvGraphicFramePr>
              <p:cNvPr id="4" name="Modello 3D 3" descr="Femore umano 2">
                <a:extLst>
                  <a:ext uri="{FF2B5EF4-FFF2-40B4-BE49-F238E27FC236}">
                    <a16:creationId xmlns:a16="http://schemas.microsoft.com/office/drawing/2014/main" id="{3B2259A0-D5F1-4E58-B987-32F98A77AF68}"/>
                  </a:ext>
                </a:extLst>
              </p:cNvPr>
              <p:cNvGraphicFramePr>
                <a:graphicFrameLocks noChangeAspect="1"/>
              </p:cNvGraphicFramePr>
              <p:nvPr/>
            </p:nvGraphicFramePr>
            <p:xfrm rot="16200000">
              <a:off x="5474952" y="-3591729"/>
              <a:ext cx="1242096" cy="5273063"/>
            </p:xfrm>
            <a:graphic>
              <a:graphicData uri="http://schemas.microsoft.com/office/drawing/2017/model3d">
                <am3d:model3d r:embed="rId4">
                  <am3d:spPr>
                    <a:xfrm rot="16200000">
                      <a:off x="0" y="0"/>
                      <a:ext cx="1242096" cy="5273063"/>
                    </a:xfrm>
                    <a:prstGeom prst="rect">
                      <a:avLst/>
                    </a:prstGeom>
                  </am3d:spPr>
                  <am3d:camera>
                    <am3d:pos x="0" y="0" z="48750144"/>
                    <am3d:up dx="0" dy="36000000" dz="0"/>
                    <am3d:lookAt x="0" y="0" z="0"/>
                    <am3d:perspective fov="2700000"/>
                  </am3d:camera>
                  <am3d:trans>
                    <am3d:meterPerModelUnit n="2129889" d="1000000"/>
                    <am3d:preTrans dx="0" dy="0" dz="0"/>
                    <am3d:scale>
                      <am3d:sx n="1000000" d="1000000"/>
                      <am3d:sy n="1000000" d="1000000"/>
                      <am3d:sz n="1000000" d="1000000"/>
                    </am3d:scale>
                    <am3d:rot ax="895402" ay="61788" az="16466"/>
                    <am3d:postTrans dx="0" dy="0" dz="0"/>
                  </am3d:trans>
                  <am3d:raster rName="Office3DRenderer" rVer="16.0.8326">
                    <am3d:blip r:embed="rId5"/>
                  </am3d:raster>
                  <am3d:objViewport viewportSz="541866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 name="Modello 3D 3" descr="Femore umano 2">
                <a:extLst>
                  <a:ext uri="{FF2B5EF4-FFF2-40B4-BE49-F238E27FC236}">
                    <a16:creationId xmlns:a16="http://schemas.microsoft.com/office/drawing/2014/main" id="{3B2259A0-D5F1-4E58-B987-32F98A77AF68}"/>
                  </a:ext>
                </a:extLst>
              </p:cNvPr>
              <p:cNvPicPr>
                <a:picLocks noGrp="1" noRot="1" noChangeAspect="1" noMove="1" noResize="1" noEditPoints="1" noAdjustHandles="1" noChangeArrowheads="1" noChangeShapeType="1" noCrop="1"/>
              </p:cNvPicPr>
              <p:nvPr/>
            </p:nvPicPr>
            <p:blipFill>
              <a:blip r:embed="rId5"/>
              <a:stretch>
                <a:fillRect/>
              </a:stretch>
            </p:blipFill>
            <p:spPr>
              <a:xfrm rot="16200000">
                <a:off x="5474952" y="-3591729"/>
                <a:ext cx="1242096" cy="5273063"/>
              </a:xfrm>
              <a:prstGeom prst="rect">
                <a:avLst/>
              </a:prstGeom>
            </p:spPr>
          </p:pic>
        </mc:Fallback>
      </mc:AlternateContent>
      <p:sp>
        <p:nvSpPr>
          <p:cNvPr id="21" name="CasellaDiTesto 20">
            <a:extLst>
              <a:ext uri="{FF2B5EF4-FFF2-40B4-BE49-F238E27FC236}">
                <a16:creationId xmlns:a16="http://schemas.microsoft.com/office/drawing/2014/main" id="{CE34A99D-4589-4D3E-9593-C913B355B8AF}"/>
              </a:ext>
            </a:extLst>
          </p:cNvPr>
          <p:cNvSpPr txBox="1"/>
          <p:nvPr/>
        </p:nvSpPr>
        <p:spPr>
          <a:xfrm>
            <a:off x="1087693" y="850918"/>
            <a:ext cx="10016614" cy="1569660"/>
          </a:xfrm>
          <a:prstGeom prst="rect">
            <a:avLst/>
          </a:prstGeom>
          <a:noFill/>
        </p:spPr>
        <p:txBody>
          <a:bodyPr wrap="square" rtlCol="0">
            <a:spAutoFit/>
          </a:bodyPr>
          <a:lstStyle/>
          <a:p>
            <a:pPr algn="ctr"/>
            <a:r>
              <a:rPr lang="en-US" sz="4800" dirty="0">
                <a:solidFill>
                  <a:schemeClr val="bg1"/>
                </a:solidFill>
                <a:latin typeface="LEMON MILK" panose="00000500000000000000" pitchFamily="50" charset="0"/>
              </a:rPr>
              <a:t>OBIETTIVI</a:t>
            </a:r>
          </a:p>
          <a:p>
            <a:pPr algn="ctr"/>
            <a:r>
              <a:rPr lang="en-US" sz="4800" dirty="0">
                <a:solidFill>
                  <a:schemeClr val="bg1"/>
                </a:solidFill>
                <a:latin typeface="LEMON MILK" panose="00000500000000000000" pitchFamily="50" charset="0"/>
              </a:rPr>
              <a:t>PRINCIPALI</a:t>
            </a:r>
          </a:p>
        </p:txBody>
      </p:sp>
      <p:sp>
        <p:nvSpPr>
          <p:cNvPr id="24" name="CasellaDiTesto 23">
            <a:extLst>
              <a:ext uri="{FF2B5EF4-FFF2-40B4-BE49-F238E27FC236}">
                <a16:creationId xmlns:a16="http://schemas.microsoft.com/office/drawing/2014/main" id="{61DCEB86-DD5C-4069-85F4-A26F32116764}"/>
              </a:ext>
            </a:extLst>
          </p:cNvPr>
          <p:cNvSpPr txBox="1"/>
          <p:nvPr/>
        </p:nvSpPr>
        <p:spPr>
          <a:xfrm>
            <a:off x="3590171" y="-4051611"/>
            <a:ext cx="5011658"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scelta del cammino nella rete per pacchetti dipende dalla politica di routing adottata che differiscono tra loro da quando e come ricevono le informazioni, dalla frequenza di revisione delle loro decisioni e dalla metrica di valutazione che adottano.</a:t>
            </a:r>
          </a:p>
        </p:txBody>
      </p:sp>
      <p:sp>
        <p:nvSpPr>
          <p:cNvPr id="30" name="Rettangolo 29">
            <a:extLst>
              <a:ext uri="{FF2B5EF4-FFF2-40B4-BE49-F238E27FC236}">
                <a16:creationId xmlns:a16="http://schemas.microsoft.com/office/drawing/2014/main" id="{E5CA172E-0FF8-4A23-AF2B-669D2C09AA61}"/>
              </a:ext>
            </a:extLst>
          </p:cNvPr>
          <p:cNvSpPr/>
          <p:nvPr/>
        </p:nvSpPr>
        <p:spPr>
          <a:xfrm>
            <a:off x="3336602" y="2340848"/>
            <a:ext cx="5464497" cy="51033"/>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4" name="CasellaDiTesto 33">
            <a:extLst>
              <a:ext uri="{FF2B5EF4-FFF2-40B4-BE49-F238E27FC236}">
                <a16:creationId xmlns:a16="http://schemas.microsoft.com/office/drawing/2014/main" id="{E065B55A-459E-4BFE-8232-3A7910A2DDF8}"/>
              </a:ext>
            </a:extLst>
          </p:cNvPr>
          <p:cNvSpPr txBox="1"/>
          <p:nvPr/>
        </p:nvSpPr>
        <p:spPr>
          <a:xfrm>
            <a:off x="587506" y="7735211"/>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35" name="CasellaDiTesto 34">
            <a:extLst>
              <a:ext uri="{FF2B5EF4-FFF2-40B4-BE49-F238E27FC236}">
                <a16:creationId xmlns:a16="http://schemas.microsoft.com/office/drawing/2014/main" id="{D3AC394D-2E3F-4CD4-9412-57AEED5405C7}"/>
              </a:ext>
            </a:extLst>
          </p:cNvPr>
          <p:cNvSpPr txBox="1"/>
          <p:nvPr/>
        </p:nvSpPr>
        <p:spPr>
          <a:xfrm>
            <a:off x="1141342" y="7549984"/>
            <a:ext cx="5011658" cy="3416320"/>
          </a:xfrm>
          <a:prstGeom prst="rect">
            <a:avLst/>
          </a:prstGeom>
          <a:noFill/>
        </p:spPr>
        <p:txBody>
          <a:bodyPr wrap="square">
            <a:spAutoFit/>
          </a:bodyPr>
          <a:lstStyle/>
          <a:p>
            <a:r>
              <a:rPr lang="it-IT" b="1" dirty="0">
                <a:solidFill>
                  <a:srgbClr val="3B3838"/>
                </a:solidFill>
                <a:latin typeface="Corbel Light" panose="020B0303020204020204" pitchFamily="34" charset="0"/>
              </a:rPr>
              <a:t>TROVARE IL CAMMINO BREVE</a:t>
            </a:r>
          </a:p>
          <a:p>
            <a:r>
              <a:rPr lang="it-IT" b="1" dirty="0">
                <a:solidFill>
                  <a:srgbClr val="3B3838"/>
                </a:solidFill>
                <a:latin typeface="Corbel Light" panose="020B0303020204020204" pitchFamily="34" charset="0"/>
              </a:rPr>
              <a:t>Ogni arco ha una direzione che indica il flusso o la relazione tra i nodi.</a:t>
            </a: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a:p>
            <a:r>
              <a:rPr lang="it-IT" b="1" dirty="0">
                <a:solidFill>
                  <a:srgbClr val="3B3838"/>
                </a:solidFill>
                <a:latin typeface="Corbel Light" panose="020B0303020204020204" pitchFamily="34" charset="0"/>
              </a:rPr>
              <a:t>EFFICIENZA DI GRANDI DIMENSIONI</a:t>
            </a:r>
          </a:p>
          <a:p>
            <a:r>
              <a:rPr lang="it-IT" b="1" dirty="0">
                <a:solidFill>
                  <a:srgbClr val="3B3838"/>
                </a:solidFill>
                <a:latin typeface="Corbel Light" panose="020B0303020204020204" pitchFamily="34" charset="0"/>
              </a:rPr>
              <a:t>Il grado di entrata di un nodo è il numero di archi che puntano verso di esso, mentre il grado di uscita è il numero di archi che si diramano da esso</a:t>
            </a: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p:txBody>
      </p:sp>
      <p:sp>
        <p:nvSpPr>
          <p:cNvPr id="36" name="Rettangolo 35">
            <a:extLst>
              <a:ext uri="{FF2B5EF4-FFF2-40B4-BE49-F238E27FC236}">
                <a16:creationId xmlns:a16="http://schemas.microsoft.com/office/drawing/2014/main" id="{8F0CC563-706F-48F7-8161-B2BBA908D005}"/>
              </a:ext>
            </a:extLst>
          </p:cNvPr>
          <p:cNvSpPr/>
          <p:nvPr/>
        </p:nvSpPr>
        <p:spPr>
          <a:xfrm>
            <a:off x="968878" y="7662084"/>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 name="Rettangolo 36">
            <a:extLst>
              <a:ext uri="{FF2B5EF4-FFF2-40B4-BE49-F238E27FC236}">
                <a16:creationId xmlns:a16="http://schemas.microsoft.com/office/drawing/2014/main" id="{A7654CAA-41A8-480E-BE44-38F05000C848}"/>
              </a:ext>
            </a:extLst>
          </p:cNvPr>
          <p:cNvSpPr/>
          <p:nvPr/>
        </p:nvSpPr>
        <p:spPr>
          <a:xfrm>
            <a:off x="968807" y="9314766"/>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8" name="Rettangolo 37">
            <a:extLst>
              <a:ext uri="{FF2B5EF4-FFF2-40B4-BE49-F238E27FC236}">
                <a16:creationId xmlns:a16="http://schemas.microsoft.com/office/drawing/2014/main" id="{CC278373-6E3F-4B64-B931-3B0851853ED8}"/>
              </a:ext>
            </a:extLst>
          </p:cNvPr>
          <p:cNvSpPr/>
          <p:nvPr/>
        </p:nvSpPr>
        <p:spPr>
          <a:xfrm>
            <a:off x="7049434" y="7662084"/>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9" name="CasellaDiTesto 38">
            <a:extLst>
              <a:ext uri="{FF2B5EF4-FFF2-40B4-BE49-F238E27FC236}">
                <a16:creationId xmlns:a16="http://schemas.microsoft.com/office/drawing/2014/main" id="{47F3481B-AEA9-4F6F-AE4E-828B63216B1B}"/>
              </a:ext>
            </a:extLst>
          </p:cNvPr>
          <p:cNvSpPr txBox="1"/>
          <p:nvPr/>
        </p:nvSpPr>
        <p:spPr>
          <a:xfrm>
            <a:off x="7183586" y="7546328"/>
            <a:ext cx="8604912" cy="1200329"/>
          </a:xfrm>
          <a:prstGeom prst="rect">
            <a:avLst/>
          </a:prstGeom>
          <a:noFill/>
        </p:spPr>
        <p:txBody>
          <a:bodyPr wrap="square">
            <a:spAutoFit/>
          </a:bodyPr>
          <a:lstStyle/>
          <a:p>
            <a:r>
              <a:rPr lang="it-IT" b="1" dirty="0">
                <a:solidFill>
                  <a:srgbClr val="3B3838"/>
                </a:solidFill>
                <a:latin typeface="Corbel Light" panose="020B0303020204020204" pitchFamily="34" charset="0"/>
              </a:rPr>
              <a:t>GESTIRE ARCHI NEGATIVI</a:t>
            </a:r>
          </a:p>
          <a:p>
            <a:r>
              <a:rPr lang="it-IT" b="1" dirty="0">
                <a:solidFill>
                  <a:srgbClr val="3B3838"/>
                </a:solidFill>
                <a:latin typeface="Corbel Light" panose="020B0303020204020204" pitchFamily="34" charset="0"/>
              </a:rPr>
              <a:t>In un grafo orientato, un ciclo è una sequenza di</a:t>
            </a:r>
          </a:p>
          <a:p>
            <a:r>
              <a:rPr lang="it-IT" b="1" dirty="0">
                <a:solidFill>
                  <a:srgbClr val="3B3838"/>
                </a:solidFill>
                <a:latin typeface="Corbel Light" panose="020B0303020204020204" pitchFamily="34" charset="0"/>
              </a:rPr>
              <a:t>archi che inizia e termina nello stesso nodo,</a:t>
            </a:r>
          </a:p>
          <a:p>
            <a:r>
              <a:rPr lang="it-IT" b="1" dirty="0">
                <a:solidFill>
                  <a:srgbClr val="3B3838"/>
                </a:solidFill>
                <a:latin typeface="Corbel Light" panose="020B0303020204020204" pitchFamily="34" charset="0"/>
              </a:rPr>
              <a:t>seguendo la direzione degli archi.</a:t>
            </a:r>
          </a:p>
        </p:txBody>
      </p:sp>
      <p:sp>
        <p:nvSpPr>
          <p:cNvPr id="40" name="CasellaDiTesto 39">
            <a:extLst>
              <a:ext uri="{FF2B5EF4-FFF2-40B4-BE49-F238E27FC236}">
                <a16:creationId xmlns:a16="http://schemas.microsoft.com/office/drawing/2014/main" id="{36C433E8-B311-4B07-BA18-B43A32D6A693}"/>
              </a:ext>
            </a:extLst>
          </p:cNvPr>
          <p:cNvSpPr txBox="1"/>
          <p:nvPr/>
        </p:nvSpPr>
        <p:spPr>
          <a:xfrm>
            <a:off x="7201370" y="9188750"/>
            <a:ext cx="8604912" cy="1200329"/>
          </a:xfrm>
          <a:prstGeom prst="rect">
            <a:avLst/>
          </a:prstGeom>
          <a:noFill/>
        </p:spPr>
        <p:txBody>
          <a:bodyPr wrap="square">
            <a:spAutoFit/>
          </a:bodyPr>
          <a:lstStyle/>
          <a:p>
            <a:r>
              <a:rPr lang="it-IT" b="1" dirty="0">
                <a:solidFill>
                  <a:srgbClr val="3B3838"/>
                </a:solidFill>
                <a:latin typeface="Corbel Light" panose="020B0303020204020204" pitchFamily="34" charset="0"/>
              </a:rPr>
              <a:t>APPLICABILITA VERSATILE</a:t>
            </a:r>
          </a:p>
          <a:p>
            <a:r>
              <a:rPr lang="it-IT" b="1" dirty="0">
                <a:solidFill>
                  <a:srgbClr val="3B3838"/>
                </a:solidFill>
                <a:latin typeface="Corbel Light" panose="020B0303020204020204" pitchFamily="34" charset="0"/>
              </a:rPr>
              <a:t>In un grafo orientato, un ciclo è una sequenza di</a:t>
            </a:r>
          </a:p>
          <a:p>
            <a:r>
              <a:rPr lang="it-IT" b="1" dirty="0">
                <a:solidFill>
                  <a:srgbClr val="3B3838"/>
                </a:solidFill>
                <a:latin typeface="Corbel Light" panose="020B0303020204020204" pitchFamily="34" charset="0"/>
              </a:rPr>
              <a:t>archi che inizia e termina nello stesso nodo,</a:t>
            </a:r>
          </a:p>
          <a:p>
            <a:r>
              <a:rPr lang="it-IT" b="1" dirty="0">
                <a:solidFill>
                  <a:srgbClr val="3B3838"/>
                </a:solidFill>
                <a:latin typeface="Corbel Light" panose="020B0303020204020204" pitchFamily="34" charset="0"/>
              </a:rPr>
              <a:t>seguendo la direzione degli archi.</a:t>
            </a:r>
          </a:p>
        </p:txBody>
      </p:sp>
      <p:sp>
        <p:nvSpPr>
          <p:cNvPr id="41" name="Rettangolo 40">
            <a:extLst>
              <a:ext uri="{FF2B5EF4-FFF2-40B4-BE49-F238E27FC236}">
                <a16:creationId xmlns:a16="http://schemas.microsoft.com/office/drawing/2014/main" id="{DEDCBDBA-B1E9-4F7C-9414-A1B5A1A91498}"/>
              </a:ext>
            </a:extLst>
          </p:cNvPr>
          <p:cNvSpPr/>
          <p:nvPr/>
        </p:nvSpPr>
        <p:spPr>
          <a:xfrm>
            <a:off x="7049434" y="9314766"/>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8208591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7" cy="2171279"/>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CasellaDiTesto 1">
            <a:extLst>
              <a:ext uri="{FF2B5EF4-FFF2-40B4-BE49-F238E27FC236}">
                <a16:creationId xmlns:a16="http://schemas.microsoft.com/office/drawing/2014/main" id="{B86BA432-5832-4CBA-A2C3-0F8315E511B2}"/>
              </a:ext>
            </a:extLst>
          </p:cNvPr>
          <p:cNvSpPr txBox="1"/>
          <p:nvPr/>
        </p:nvSpPr>
        <p:spPr>
          <a:xfrm>
            <a:off x="-4723202" y="1509851"/>
            <a:ext cx="6114473" cy="830997"/>
          </a:xfrm>
          <a:prstGeom prst="rect">
            <a:avLst/>
          </a:prstGeom>
          <a:noFill/>
        </p:spPr>
        <p:txBody>
          <a:bodyPr wrap="square" rtlCol="0">
            <a:spAutoFit/>
          </a:bodyPr>
          <a:lstStyle/>
          <a:p>
            <a:r>
              <a:rPr lang="en-US" sz="4800" dirty="0">
                <a:solidFill>
                  <a:schemeClr val="bg1"/>
                </a:solidFill>
                <a:latin typeface="LEMON MILK" panose="00000500000000000000" pitchFamily="50" charset="0"/>
              </a:rPr>
              <a:t>routing</a:t>
            </a:r>
            <a:endParaRPr lang="en-US" dirty="0">
              <a:solidFill>
                <a:schemeClr val="bg1"/>
              </a:solidFill>
              <a:latin typeface="LEMON MILK" panose="00000500000000000000" pitchFamily="50" charset="0"/>
            </a:endParaRPr>
          </a:p>
        </p:txBody>
      </p:sp>
      <p:sp>
        <p:nvSpPr>
          <p:cNvPr id="3" name="Rettangolo 2">
            <a:extLst>
              <a:ext uri="{FF2B5EF4-FFF2-40B4-BE49-F238E27FC236}">
                <a16:creationId xmlns:a16="http://schemas.microsoft.com/office/drawing/2014/main" id="{86134310-4ED3-4672-9E1A-AA4166D8280F}"/>
              </a:ext>
            </a:extLst>
          </p:cNvPr>
          <p:cNvSpPr/>
          <p:nvPr/>
        </p:nvSpPr>
        <p:spPr>
          <a:xfrm>
            <a:off x="-4637897" y="2391881"/>
            <a:ext cx="2908590"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CasellaDiTesto 12">
            <a:extLst>
              <a:ext uri="{FF2B5EF4-FFF2-40B4-BE49-F238E27FC236}">
                <a16:creationId xmlns:a16="http://schemas.microsoft.com/office/drawing/2014/main" id="{414C4353-6166-4041-9236-6051B9C4ADE2}"/>
              </a:ext>
            </a:extLst>
          </p:cNvPr>
          <p:cNvSpPr txBox="1"/>
          <p:nvPr/>
        </p:nvSpPr>
        <p:spPr>
          <a:xfrm>
            <a:off x="587507" y="3048272"/>
            <a:ext cx="6308593" cy="423449"/>
          </a:xfrm>
          <a:prstGeom prst="rect">
            <a:avLst/>
          </a:prstGeom>
          <a:noFill/>
        </p:spPr>
        <p:txBody>
          <a:bodyPr wrap="square">
            <a:spAutoFit/>
          </a:bodyPr>
          <a:lstStyle/>
          <a:p>
            <a:pPr>
              <a:lnSpc>
                <a:spcPct val="150000"/>
              </a:lnSpc>
            </a:pPr>
            <a:endParaRPr lang="it-IT" sz="1600" dirty="0">
              <a:solidFill>
                <a:srgbClr val="FFFFFF"/>
              </a:solidFill>
              <a:effectLst/>
              <a:latin typeface="Corbel Light" panose="020B0303020204020204" pitchFamily="34" charset="0"/>
            </a:endParaRPr>
          </a:p>
        </p:txBody>
      </p:sp>
      <p:sp>
        <p:nvSpPr>
          <p:cNvPr id="10" name="CasellaDiTesto 9">
            <a:extLst>
              <a:ext uri="{FF2B5EF4-FFF2-40B4-BE49-F238E27FC236}">
                <a16:creationId xmlns:a16="http://schemas.microsoft.com/office/drawing/2014/main" id="{C58CF636-DA25-454F-B12A-DE74C8FF83AD}"/>
              </a:ext>
            </a:extLst>
          </p:cNvPr>
          <p:cNvSpPr txBox="1"/>
          <p:nvPr/>
        </p:nvSpPr>
        <p:spPr>
          <a:xfrm>
            <a:off x="-4723202" y="2608782"/>
            <a:ext cx="6308593" cy="423449"/>
          </a:xfrm>
          <a:prstGeom prst="rect">
            <a:avLst/>
          </a:prstGeom>
          <a:noFill/>
        </p:spPr>
        <p:txBody>
          <a:bodyPr wrap="square">
            <a:spAutoFit/>
          </a:bodyPr>
          <a:lstStyle/>
          <a:p>
            <a:pPr>
              <a:lnSpc>
                <a:spcPct val="150000"/>
              </a:lnSpc>
            </a:pPr>
            <a:r>
              <a:rPr lang="it-IT" sz="1600" dirty="0">
                <a:solidFill>
                  <a:srgbClr val="FFFFFF"/>
                </a:solidFill>
                <a:effectLst/>
                <a:latin typeface="Corbel Light" panose="020B0303020204020204" pitchFamily="34" charset="0"/>
              </a:rPr>
              <a:t>Esistono 2 tipi di instradamento:</a:t>
            </a:r>
          </a:p>
        </p:txBody>
      </p:sp>
      <p:sp>
        <p:nvSpPr>
          <p:cNvPr id="12" name="CasellaDiTesto 11">
            <a:extLst>
              <a:ext uri="{FF2B5EF4-FFF2-40B4-BE49-F238E27FC236}">
                <a16:creationId xmlns:a16="http://schemas.microsoft.com/office/drawing/2014/main" id="{85EE87B2-B0FD-41B6-A02D-4FE37C50C6B6}"/>
              </a:ext>
            </a:extLst>
          </p:cNvPr>
          <p:cNvSpPr txBox="1"/>
          <p:nvPr/>
        </p:nvSpPr>
        <p:spPr>
          <a:xfrm>
            <a:off x="-4456853" y="5084978"/>
            <a:ext cx="6308593" cy="423449"/>
          </a:xfrm>
          <a:prstGeom prst="rect">
            <a:avLst/>
          </a:prstGeom>
          <a:noFill/>
        </p:spPr>
        <p:txBody>
          <a:bodyPr wrap="square">
            <a:spAutoFit/>
          </a:bodyPr>
          <a:lstStyle/>
          <a:p>
            <a:pPr>
              <a:lnSpc>
                <a:spcPct val="150000"/>
              </a:lnSpc>
            </a:pPr>
            <a:r>
              <a:rPr lang="en-US" sz="1600" dirty="0">
                <a:solidFill>
                  <a:srgbClr val="FFFFFF"/>
                </a:solidFill>
                <a:effectLst/>
                <a:latin typeface="Corbel Light" panose="020B0303020204020204" pitchFamily="34" charset="0"/>
              </a:rPr>
              <a:t>DIRETTO</a:t>
            </a:r>
            <a:endParaRPr lang="it-IT" sz="1600" dirty="0">
              <a:solidFill>
                <a:srgbClr val="FFFFFF"/>
              </a:solidFill>
              <a:effectLst/>
              <a:latin typeface="Corbel Light" panose="020B0303020204020204" pitchFamily="34" charset="0"/>
            </a:endParaRPr>
          </a:p>
        </p:txBody>
      </p:sp>
      <p:sp>
        <p:nvSpPr>
          <p:cNvPr id="14" name="CasellaDiTesto 13">
            <a:extLst>
              <a:ext uri="{FF2B5EF4-FFF2-40B4-BE49-F238E27FC236}">
                <a16:creationId xmlns:a16="http://schemas.microsoft.com/office/drawing/2014/main" id="{B644269D-03B3-463A-A73B-253376DCC1C0}"/>
              </a:ext>
            </a:extLst>
          </p:cNvPr>
          <p:cNvSpPr txBox="1"/>
          <p:nvPr/>
        </p:nvSpPr>
        <p:spPr>
          <a:xfrm>
            <a:off x="-4474637" y="3051439"/>
            <a:ext cx="6308593" cy="423449"/>
          </a:xfrm>
          <a:prstGeom prst="rect">
            <a:avLst/>
          </a:prstGeom>
          <a:noFill/>
        </p:spPr>
        <p:txBody>
          <a:bodyPr wrap="square">
            <a:spAutoFit/>
          </a:bodyPr>
          <a:lstStyle/>
          <a:p>
            <a:pPr>
              <a:lnSpc>
                <a:spcPct val="150000"/>
              </a:lnSpc>
            </a:pPr>
            <a:r>
              <a:rPr lang="en-US" sz="1600" dirty="0">
                <a:solidFill>
                  <a:srgbClr val="FFFFFF"/>
                </a:solidFill>
                <a:latin typeface="Corbel Light" panose="020B0303020204020204" pitchFamily="34" charset="0"/>
              </a:rPr>
              <a:t>INDIRETTO</a:t>
            </a:r>
            <a:endParaRPr lang="it-IT" sz="1600" dirty="0">
              <a:solidFill>
                <a:srgbClr val="FFFFFF"/>
              </a:solidFill>
              <a:effectLst/>
              <a:latin typeface="Corbel Light" panose="020B0303020204020204" pitchFamily="34" charset="0"/>
            </a:endParaRPr>
          </a:p>
        </p:txBody>
      </p:sp>
      <p:sp>
        <p:nvSpPr>
          <p:cNvPr id="15" name="CasellaDiTesto 14">
            <a:extLst>
              <a:ext uri="{FF2B5EF4-FFF2-40B4-BE49-F238E27FC236}">
                <a16:creationId xmlns:a16="http://schemas.microsoft.com/office/drawing/2014/main" id="{3CD4075A-E996-42DF-9896-129BBCC07CAA}"/>
              </a:ext>
            </a:extLst>
          </p:cNvPr>
          <p:cNvSpPr txBox="1"/>
          <p:nvPr/>
        </p:nvSpPr>
        <p:spPr>
          <a:xfrm>
            <a:off x="-4620113" y="5501333"/>
            <a:ext cx="6148386" cy="830997"/>
          </a:xfrm>
          <a:prstGeom prst="rect">
            <a:avLst/>
          </a:prstGeom>
          <a:noFill/>
        </p:spPr>
        <p:txBody>
          <a:bodyPr wrap="square">
            <a:spAutoFit/>
          </a:bodyPr>
          <a:lstStyle/>
          <a:p>
            <a:r>
              <a:rPr lang="it-IT" sz="1600" dirty="0">
                <a:solidFill>
                  <a:srgbClr val="FFFFFF"/>
                </a:solidFill>
                <a:latin typeface="Corbel Light" panose="020B0303020204020204" pitchFamily="34" charset="0"/>
              </a:rPr>
              <a:t>Quando lo scambio dei </a:t>
            </a:r>
          </a:p>
          <a:p>
            <a:r>
              <a:rPr lang="it-IT" sz="1600" dirty="0">
                <a:solidFill>
                  <a:srgbClr val="FFFFFF"/>
                </a:solidFill>
                <a:latin typeface="Corbel Light" panose="020B0303020204020204" pitchFamily="34" charset="0"/>
              </a:rPr>
              <a:t>pacchetti IP avviene su una</a:t>
            </a:r>
          </a:p>
          <a:p>
            <a:r>
              <a:rPr lang="it-IT" sz="1600" dirty="0">
                <a:solidFill>
                  <a:srgbClr val="FFFFFF"/>
                </a:solidFill>
                <a:latin typeface="Corbel Light" panose="020B0303020204020204" pitchFamily="34" charset="0"/>
              </a:rPr>
              <a:t>sola rete logica senza coinvolgere router intermedi.</a:t>
            </a:r>
          </a:p>
        </p:txBody>
      </p:sp>
      <p:sp>
        <p:nvSpPr>
          <p:cNvPr id="16" name="CasellaDiTesto 15">
            <a:extLst>
              <a:ext uri="{FF2B5EF4-FFF2-40B4-BE49-F238E27FC236}">
                <a16:creationId xmlns:a16="http://schemas.microsoft.com/office/drawing/2014/main" id="{A6B6246B-BE47-46E7-857B-229579635C05}"/>
              </a:ext>
            </a:extLst>
          </p:cNvPr>
          <p:cNvSpPr txBox="1"/>
          <p:nvPr/>
        </p:nvSpPr>
        <p:spPr>
          <a:xfrm>
            <a:off x="-4562995" y="3427847"/>
            <a:ext cx="6148386" cy="1323439"/>
          </a:xfrm>
          <a:prstGeom prst="rect">
            <a:avLst/>
          </a:prstGeom>
          <a:noFill/>
        </p:spPr>
        <p:txBody>
          <a:bodyPr wrap="square">
            <a:spAutoFit/>
          </a:bodyPr>
          <a:lstStyle>
            <a:defPPr>
              <a:defRPr lang="it-IT"/>
            </a:defPPr>
            <a:lvl1pPr>
              <a:defRPr sz="1600">
                <a:solidFill>
                  <a:srgbClr val="FFFFFF"/>
                </a:solidFill>
                <a:latin typeface="Corbel Light" panose="020B0303020204020204" pitchFamily="34" charset="0"/>
              </a:defRPr>
            </a:lvl1pPr>
          </a:lstStyle>
          <a:p>
            <a:r>
              <a:rPr lang="it-IT" dirty="0"/>
              <a:t>Quando la comunicazione avviene tra</a:t>
            </a:r>
          </a:p>
          <a:p>
            <a:r>
              <a:rPr lang="it-IT" dirty="0"/>
              <a:t>dispositivi su reti logiche diverse attraverso </a:t>
            </a:r>
          </a:p>
          <a:p>
            <a:r>
              <a:rPr lang="it-IT" dirty="0"/>
              <a:t>router intermedi; il mittente dovrà però </a:t>
            </a:r>
          </a:p>
          <a:p>
            <a:r>
              <a:rPr lang="it-IT" dirty="0"/>
              <a:t>fornire o il next-hop oppure il </a:t>
            </a:r>
          </a:p>
          <a:p>
            <a:r>
              <a:rPr lang="it-IT" dirty="0"/>
              <a:t>default gateway</a:t>
            </a:r>
          </a:p>
        </p:txBody>
      </p:sp>
      <p:sp>
        <p:nvSpPr>
          <p:cNvPr id="17" name="Rettangolo 16">
            <a:extLst>
              <a:ext uri="{FF2B5EF4-FFF2-40B4-BE49-F238E27FC236}">
                <a16:creationId xmlns:a16="http://schemas.microsoft.com/office/drawing/2014/main" id="{B0F4BE0F-3F72-43CF-82A8-F282CF746643}"/>
              </a:ext>
            </a:extLst>
          </p:cNvPr>
          <p:cNvSpPr/>
          <p:nvPr/>
        </p:nvSpPr>
        <p:spPr>
          <a:xfrm>
            <a:off x="-4620113" y="3225968"/>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Rettangolo 17">
            <a:extLst>
              <a:ext uri="{FF2B5EF4-FFF2-40B4-BE49-F238E27FC236}">
                <a16:creationId xmlns:a16="http://schemas.microsoft.com/office/drawing/2014/main" id="{1C662FD7-1647-4F28-A747-427407D187A4}"/>
              </a:ext>
            </a:extLst>
          </p:cNvPr>
          <p:cNvSpPr/>
          <p:nvPr/>
        </p:nvSpPr>
        <p:spPr>
          <a:xfrm>
            <a:off x="-4602329" y="5265024"/>
            <a:ext cx="145476" cy="145476"/>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3237E52D-5AF8-460B-8414-382D50DA1587}"/>
                  </a:ext>
                </a:extLst>
              </p:cNvPr>
              <p:cNvGraphicFramePr>
                <a:graphicFrameLocks noChangeAspect="1"/>
              </p:cNvGraphicFramePr>
              <p:nvPr>
                <p:extLst>
                  <p:ext uri="{D42A27DB-BD31-4B8C-83A1-F6EECF244321}">
                    <p14:modId xmlns:p14="http://schemas.microsoft.com/office/powerpoint/2010/main" val="3448204603"/>
                  </p:ext>
                </p:extLst>
              </p:nvPr>
            </p:nvGraphicFramePr>
            <p:xfrm>
              <a:off x="7657657" y="359761"/>
              <a:ext cx="1637022" cy="1565588"/>
            </p:xfrm>
            <a:graphic>
              <a:graphicData uri="http://schemas.microsoft.com/office/drawing/2017/model3d">
                <am3d:model3d r:embed="rId2">
                  <am3d:spPr>
                    <a:xfrm>
                      <a:off x="0" y="0"/>
                      <a:ext cx="1637022" cy="1565588"/>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227201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3237E52D-5AF8-460B-8414-382D50DA1587}"/>
                  </a:ext>
                </a:extLst>
              </p:cNvPr>
              <p:cNvPicPr>
                <a:picLocks noGrp="1" noRot="1" noChangeAspect="1" noMove="1" noResize="1" noEditPoints="1" noAdjustHandles="1" noChangeArrowheads="1" noChangeShapeType="1" noCrop="1"/>
              </p:cNvPicPr>
              <p:nvPr/>
            </p:nvPicPr>
            <p:blipFill>
              <a:blip r:embed="rId3"/>
              <a:stretch>
                <a:fillRect/>
              </a:stretch>
            </p:blipFill>
            <p:spPr>
              <a:xfrm>
                <a:off x="7657657" y="359761"/>
                <a:ext cx="1637022" cy="1565588"/>
              </a:xfrm>
              <a:prstGeom prst="rect">
                <a:avLst/>
              </a:prstGeom>
            </p:spPr>
          </p:pic>
        </mc:Fallback>
      </mc:AlternateContent>
      <p:sp>
        <p:nvSpPr>
          <p:cNvPr id="28" name="CasellaDiTesto 27">
            <a:extLst>
              <a:ext uri="{FF2B5EF4-FFF2-40B4-BE49-F238E27FC236}">
                <a16:creationId xmlns:a16="http://schemas.microsoft.com/office/drawing/2014/main" id="{8D8A698F-2729-4735-B5FA-D65EA190F960}"/>
              </a:ext>
            </a:extLst>
          </p:cNvPr>
          <p:cNvSpPr txBox="1"/>
          <p:nvPr/>
        </p:nvSpPr>
        <p:spPr>
          <a:xfrm>
            <a:off x="172713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9" name="CasellaDiTesto 28">
            <a:extLst>
              <a:ext uri="{FF2B5EF4-FFF2-40B4-BE49-F238E27FC236}">
                <a16:creationId xmlns:a16="http://schemas.microsoft.com/office/drawing/2014/main" id="{189B578B-84CC-49D2-97E8-CAAC0E8FD571}"/>
              </a:ext>
            </a:extLst>
          </p:cNvPr>
          <p:cNvSpPr txBox="1"/>
          <p:nvPr/>
        </p:nvSpPr>
        <p:spPr>
          <a:xfrm>
            <a:off x="587507" y="409987"/>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1" name="CasellaDiTesto 20">
            <a:extLst>
              <a:ext uri="{FF2B5EF4-FFF2-40B4-BE49-F238E27FC236}">
                <a16:creationId xmlns:a16="http://schemas.microsoft.com/office/drawing/2014/main" id="{CE34A99D-4589-4D3E-9593-C913B355B8AF}"/>
              </a:ext>
            </a:extLst>
          </p:cNvPr>
          <p:cNvSpPr txBox="1"/>
          <p:nvPr/>
        </p:nvSpPr>
        <p:spPr>
          <a:xfrm>
            <a:off x="4269686" y="657418"/>
            <a:ext cx="3652628" cy="1200329"/>
          </a:xfrm>
          <a:prstGeom prst="rect">
            <a:avLst/>
          </a:prstGeom>
          <a:noFill/>
        </p:spPr>
        <p:txBody>
          <a:bodyPr wrap="square" rtlCol="0">
            <a:spAutoFit/>
          </a:bodyPr>
          <a:lstStyle/>
          <a:p>
            <a:pPr algn="ctr"/>
            <a:r>
              <a:rPr lang="en-US" sz="3600" dirty="0">
                <a:solidFill>
                  <a:schemeClr val="bg1"/>
                </a:solidFill>
                <a:latin typeface="LEMON MILK" panose="00000500000000000000" pitchFamily="50" charset="0"/>
              </a:rPr>
              <a:t>OBIETTIVI</a:t>
            </a:r>
          </a:p>
          <a:p>
            <a:pPr algn="ctr"/>
            <a:r>
              <a:rPr lang="en-US" sz="3600" dirty="0">
                <a:solidFill>
                  <a:schemeClr val="bg1"/>
                </a:solidFill>
                <a:latin typeface="LEMON MILK" panose="00000500000000000000" pitchFamily="50" charset="0"/>
              </a:rPr>
              <a:t>PRINCIPALI</a:t>
            </a:r>
          </a:p>
        </p:txBody>
      </p:sp>
      <p:sp>
        <p:nvSpPr>
          <p:cNvPr id="24" name="CasellaDiTesto 23">
            <a:extLst>
              <a:ext uri="{FF2B5EF4-FFF2-40B4-BE49-F238E27FC236}">
                <a16:creationId xmlns:a16="http://schemas.microsoft.com/office/drawing/2014/main" id="{61DCEB86-DD5C-4069-85F4-A26F32116764}"/>
              </a:ext>
            </a:extLst>
          </p:cNvPr>
          <p:cNvSpPr txBox="1"/>
          <p:nvPr/>
        </p:nvSpPr>
        <p:spPr>
          <a:xfrm>
            <a:off x="3590171" y="-4051611"/>
            <a:ext cx="5011658" cy="1323439"/>
          </a:xfrm>
          <a:prstGeom prst="rect">
            <a:avLst/>
          </a:prstGeom>
          <a:noFill/>
        </p:spPr>
        <p:txBody>
          <a:bodyPr wrap="square">
            <a:spAutoFit/>
          </a:bodyPr>
          <a:lstStyle/>
          <a:p>
            <a:pPr algn="ctr"/>
            <a:r>
              <a:rPr lang="it-IT" sz="1600" dirty="0">
                <a:solidFill>
                  <a:schemeClr val="bg1"/>
                </a:solidFill>
                <a:latin typeface="Corbel Light" panose="020B0303020204020204" pitchFamily="34" charset="0"/>
              </a:rPr>
              <a:t>La scelta del cammino nella rete per pacchetti dipende dalla politica di routing adottata che differiscono tra loro da quando e come ricevono le informazioni, dalla frequenza di revisione delle loro decisioni e dalla metrica di valutazione che adottano.</a:t>
            </a:r>
          </a:p>
        </p:txBody>
      </p:sp>
      <p:sp>
        <p:nvSpPr>
          <p:cNvPr id="30" name="Rettangolo 29">
            <a:extLst>
              <a:ext uri="{FF2B5EF4-FFF2-40B4-BE49-F238E27FC236}">
                <a16:creationId xmlns:a16="http://schemas.microsoft.com/office/drawing/2014/main" id="{E5CA172E-0FF8-4A23-AF2B-669D2C09AA61}"/>
              </a:ext>
            </a:extLst>
          </p:cNvPr>
          <p:cNvSpPr/>
          <p:nvPr/>
        </p:nvSpPr>
        <p:spPr>
          <a:xfrm>
            <a:off x="4799462" y="1816260"/>
            <a:ext cx="2593076" cy="45719"/>
          </a:xfrm>
          <a:prstGeom prst="rect">
            <a:avLst/>
          </a:prstGeom>
          <a:solidFill>
            <a:srgbClr val="3C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A7B545D5-A954-49A8-880C-6750CDD01CD7}"/>
              </a:ext>
            </a:extLst>
          </p:cNvPr>
          <p:cNvSpPr txBox="1"/>
          <p:nvPr/>
        </p:nvSpPr>
        <p:spPr>
          <a:xfrm>
            <a:off x="1141343" y="2863045"/>
            <a:ext cx="5011658" cy="3416320"/>
          </a:xfrm>
          <a:prstGeom prst="rect">
            <a:avLst/>
          </a:prstGeom>
          <a:noFill/>
        </p:spPr>
        <p:txBody>
          <a:bodyPr wrap="square">
            <a:spAutoFit/>
          </a:bodyPr>
          <a:lstStyle/>
          <a:p>
            <a:r>
              <a:rPr lang="it-IT" b="1" dirty="0">
                <a:solidFill>
                  <a:srgbClr val="3B3838"/>
                </a:solidFill>
                <a:latin typeface="Corbel Light" panose="020B0303020204020204" pitchFamily="34" charset="0"/>
              </a:rPr>
              <a:t>TROVARE IL CAMMINO BREVE</a:t>
            </a:r>
          </a:p>
          <a:p>
            <a:r>
              <a:rPr lang="it-IT" b="1" dirty="0">
                <a:solidFill>
                  <a:srgbClr val="3B3838"/>
                </a:solidFill>
                <a:latin typeface="Corbel Light" panose="020B0303020204020204" pitchFamily="34" charset="0"/>
              </a:rPr>
              <a:t>Ogni arco ha una direzione che indica il flusso o la relazione tra i nodi.</a:t>
            </a: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a:p>
            <a:r>
              <a:rPr lang="it-IT" b="1" dirty="0">
                <a:solidFill>
                  <a:srgbClr val="3B3838"/>
                </a:solidFill>
                <a:latin typeface="Corbel Light" panose="020B0303020204020204" pitchFamily="34" charset="0"/>
              </a:rPr>
              <a:t>EFFICIENZA DI GRANDI DIMENSIONI</a:t>
            </a:r>
          </a:p>
          <a:p>
            <a:r>
              <a:rPr lang="it-IT" b="1" dirty="0">
                <a:solidFill>
                  <a:srgbClr val="3B3838"/>
                </a:solidFill>
                <a:latin typeface="Corbel Light" panose="020B0303020204020204" pitchFamily="34" charset="0"/>
              </a:rPr>
              <a:t>Il grado di entrata di un nodo è il numero di archi che puntano verso di esso, mentre il grado di uscita è il numero di archi che si diramano da esso</a:t>
            </a:r>
          </a:p>
          <a:p>
            <a:endParaRPr lang="it-IT" b="1" dirty="0">
              <a:solidFill>
                <a:srgbClr val="3B3838"/>
              </a:solidFill>
              <a:latin typeface="Corbel Light" panose="020B0303020204020204" pitchFamily="34" charset="0"/>
            </a:endParaRPr>
          </a:p>
          <a:p>
            <a:endParaRPr lang="it-IT" b="1" dirty="0">
              <a:solidFill>
                <a:srgbClr val="3B3838"/>
              </a:solidFill>
              <a:latin typeface="Corbel Light" panose="020B0303020204020204" pitchFamily="34" charset="0"/>
            </a:endParaRPr>
          </a:p>
        </p:txBody>
      </p:sp>
      <p:sp>
        <p:nvSpPr>
          <p:cNvPr id="23" name="Rettangolo 22">
            <a:extLst>
              <a:ext uri="{FF2B5EF4-FFF2-40B4-BE49-F238E27FC236}">
                <a16:creationId xmlns:a16="http://schemas.microsoft.com/office/drawing/2014/main" id="{6C7012F9-598F-49B0-B1F2-034C676AF4BE}"/>
              </a:ext>
            </a:extLst>
          </p:cNvPr>
          <p:cNvSpPr/>
          <p:nvPr/>
        </p:nvSpPr>
        <p:spPr>
          <a:xfrm>
            <a:off x="968879" y="2975145"/>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Rettangolo 24">
            <a:extLst>
              <a:ext uri="{FF2B5EF4-FFF2-40B4-BE49-F238E27FC236}">
                <a16:creationId xmlns:a16="http://schemas.microsoft.com/office/drawing/2014/main" id="{3FBDC3CB-7A2B-4DFA-87E5-C1C4DC243773}"/>
              </a:ext>
            </a:extLst>
          </p:cNvPr>
          <p:cNvSpPr/>
          <p:nvPr/>
        </p:nvSpPr>
        <p:spPr>
          <a:xfrm>
            <a:off x="968808" y="4627827"/>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6" name="Rettangolo 25">
            <a:extLst>
              <a:ext uri="{FF2B5EF4-FFF2-40B4-BE49-F238E27FC236}">
                <a16:creationId xmlns:a16="http://schemas.microsoft.com/office/drawing/2014/main" id="{F3C07F9D-11E6-4F64-86BB-E6CAA610346C}"/>
              </a:ext>
            </a:extLst>
          </p:cNvPr>
          <p:cNvSpPr/>
          <p:nvPr/>
        </p:nvSpPr>
        <p:spPr>
          <a:xfrm>
            <a:off x="7049435" y="2975145"/>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CasellaDiTesto 26">
            <a:extLst>
              <a:ext uri="{FF2B5EF4-FFF2-40B4-BE49-F238E27FC236}">
                <a16:creationId xmlns:a16="http://schemas.microsoft.com/office/drawing/2014/main" id="{2B53F639-C7A4-47B6-A322-40E6CF4AECB0}"/>
              </a:ext>
            </a:extLst>
          </p:cNvPr>
          <p:cNvSpPr txBox="1"/>
          <p:nvPr/>
        </p:nvSpPr>
        <p:spPr>
          <a:xfrm>
            <a:off x="7183587" y="2859389"/>
            <a:ext cx="8604912" cy="1200329"/>
          </a:xfrm>
          <a:prstGeom prst="rect">
            <a:avLst/>
          </a:prstGeom>
          <a:noFill/>
        </p:spPr>
        <p:txBody>
          <a:bodyPr wrap="square">
            <a:spAutoFit/>
          </a:bodyPr>
          <a:lstStyle/>
          <a:p>
            <a:r>
              <a:rPr lang="it-IT" b="1" dirty="0">
                <a:solidFill>
                  <a:srgbClr val="3B3838"/>
                </a:solidFill>
                <a:latin typeface="Corbel Light" panose="020B0303020204020204" pitchFamily="34" charset="0"/>
              </a:rPr>
              <a:t>GESTIRE ARCHI NEGATIVI</a:t>
            </a:r>
          </a:p>
          <a:p>
            <a:r>
              <a:rPr lang="it-IT" b="1" dirty="0">
                <a:solidFill>
                  <a:srgbClr val="3B3838"/>
                </a:solidFill>
                <a:latin typeface="Corbel Light" panose="020B0303020204020204" pitchFamily="34" charset="0"/>
              </a:rPr>
              <a:t>In un grafo orientato, un ciclo è una sequenza di</a:t>
            </a:r>
          </a:p>
          <a:p>
            <a:r>
              <a:rPr lang="it-IT" b="1" dirty="0">
                <a:solidFill>
                  <a:srgbClr val="3B3838"/>
                </a:solidFill>
                <a:latin typeface="Corbel Light" panose="020B0303020204020204" pitchFamily="34" charset="0"/>
              </a:rPr>
              <a:t>archi che inizia e termina nello stesso nodo,</a:t>
            </a:r>
          </a:p>
          <a:p>
            <a:r>
              <a:rPr lang="it-IT" b="1" dirty="0">
                <a:solidFill>
                  <a:srgbClr val="3B3838"/>
                </a:solidFill>
                <a:latin typeface="Corbel Light" panose="020B0303020204020204" pitchFamily="34" charset="0"/>
              </a:rPr>
              <a:t>seguendo la direzione degli archi.</a:t>
            </a:r>
          </a:p>
        </p:txBody>
      </p:sp>
      <p:sp>
        <p:nvSpPr>
          <p:cNvPr id="31" name="CasellaDiTesto 30">
            <a:extLst>
              <a:ext uri="{FF2B5EF4-FFF2-40B4-BE49-F238E27FC236}">
                <a16:creationId xmlns:a16="http://schemas.microsoft.com/office/drawing/2014/main" id="{DA4A09A2-1FCA-4A42-8813-EBF4A10CBB4E}"/>
              </a:ext>
            </a:extLst>
          </p:cNvPr>
          <p:cNvSpPr txBox="1"/>
          <p:nvPr/>
        </p:nvSpPr>
        <p:spPr>
          <a:xfrm>
            <a:off x="7201371" y="4501811"/>
            <a:ext cx="8604912" cy="1200329"/>
          </a:xfrm>
          <a:prstGeom prst="rect">
            <a:avLst/>
          </a:prstGeom>
          <a:noFill/>
        </p:spPr>
        <p:txBody>
          <a:bodyPr wrap="square">
            <a:spAutoFit/>
          </a:bodyPr>
          <a:lstStyle/>
          <a:p>
            <a:r>
              <a:rPr lang="it-IT" b="1" dirty="0">
                <a:solidFill>
                  <a:srgbClr val="3B3838"/>
                </a:solidFill>
                <a:latin typeface="Corbel Light" panose="020B0303020204020204" pitchFamily="34" charset="0"/>
              </a:rPr>
              <a:t>APPLICABILITA VERSATILE</a:t>
            </a:r>
          </a:p>
          <a:p>
            <a:r>
              <a:rPr lang="it-IT" b="1" dirty="0">
                <a:solidFill>
                  <a:srgbClr val="3B3838"/>
                </a:solidFill>
                <a:latin typeface="Corbel Light" panose="020B0303020204020204" pitchFamily="34" charset="0"/>
              </a:rPr>
              <a:t>In un grafo orientato, un ciclo è una sequenza di</a:t>
            </a:r>
          </a:p>
          <a:p>
            <a:r>
              <a:rPr lang="it-IT" b="1" dirty="0">
                <a:solidFill>
                  <a:srgbClr val="3B3838"/>
                </a:solidFill>
                <a:latin typeface="Corbel Light" panose="020B0303020204020204" pitchFamily="34" charset="0"/>
              </a:rPr>
              <a:t>archi che inizia e termina nello stesso nodo,</a:t>
            </a:r>
          </a:p>
          <a:p>
            <a:r>
              <a:rPr lang="it-IT" b="1" dirty="0">
                <a:solidFill>
                  <a:srgbClr val="3B3838"/>
                </a:solidFill>
                <a:latin typeface="Corbel Light" panose="020B0303020204020204" pitchFamily="34" charset="0"/>
              </a:rPr>
              <a:t>seguendo la direzione degli archi.</a:t>
            </a:r>
          </a:p>
        </p:txBody>
      </p:sp>
      <p:sp>
        <p:nvSpPr>
          <p:cNvPr id="32" name="Rettangolo 31">
            <a:extLst>
              <a:ext uri="{FF2B5EF4-FFF2-40B4-BE49-F238E27FC236}">
                <a16:creationId xmlns:a16="http://schemas.microsoft.com/office/drawing/2014/main" id="{C41ACDC4-A413-4280-8ABB-B70147FD6018}"/>
              </a:ext>
            </a:extLst>
          </p:cNvPr>
          <p:cNvSpPr/>
          <p:nvPr/>
        </p:nvSpPr>
        <p:spPr>
          <a:xfrm>
            <a:off x="7049435" y="4627827"/>
            <a:ext cx="145476" cy="145476"/>
          </a:xfrm>
          <a:prstGeom prst="rect">
            <a:avLst/>
          </a:prstGeom>
          <a:solidFill>
            <a:srgbClr val="3D6E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905269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12297508" cy="48885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CasellaDiTesto 8">
            <a:extLst>
              <a:ext uri="{FF2B5EF4-FFF2-40B4-BE49-F238E27FC236}">
                <a16:creationId xmlns:a16="http://schemas.microsoft.com/office/drawing/2014/main" id="{9FA95C74-C6C4-4B94-91D8-1F442D3B0DE5}"/>
              </a:ext>
            </a:extLst>
          </p:cNvPr>
          <p:cNvSpPr txBox="1"/>
          <p:nvPr/>
        </p:nvSpPr>
        <p:spPr>
          <a:xfrm>
            <a:off x="1701800" y="4975269"/>
            <a:ext cx="18076564" cy="2215991"/>
          </a:xfrm>
          <a:prstGeom prst="rect">
            <a:avLst/>
          </a:prstGeom>
          <a:noFill/>
          <a:effectLst/>
        </p:spPr>
        <p:txBody>
          <a:bodyPr wrap="square" rtlCol="0">
            <a:spAutoFit/>
          </a:bodyPr>
          <a:lstStyle/>
          <a:p>
            <a:pPr>
              <a:spcBef>
                <a:spcPts val="2400"/>
              </a:spcBef>
            </a:pPr>
            <a:r>
              <a:rPr lang="en-US" sz="13800" dirty="0">
                <a:solidFill>
                  <a:srgbClr val="958F8F">
                    <a:alpha val="19000"/>
                  </a:srgbClr>
                </a:solidFill>
                <a:effectLst/>
                <a:latin typeface="Bebas Neue" panose="020B0606020202050201" pitchFamily="34" charset="0"/>
              </a:rPr>
              <a:t>A L G O R I T M O</a:t>
            </a:r>
            <a:endParaRPr lang="it-IT" sz="4800" dirty="0">
              <a:solidFill>
                <a:srgbClr val="958F8F">
                  <a:alpha val="19000"/>
                </a:srgbClr>
              </a:solidFill>
              <a:effectLst/>
              <a:latin typeface="Bebas Neue" panose="020B0606020202050201" pitchFamily="34" charset="0"/>
            </a:endParaRPr>
          </a:p>
        </p:txBody>
      </p:sp>
      <p:sp>
        <p:nvSpPr>
          <p:cNvPr id="5" name="CasellaDiTesto 4">
            <a:extLst>
              <a:ext uri="{FF2B5EF4-FFF2-40B4-BE49-F238E27FC236}">
                <a16:creationId xmlns:a16="http://schemas.microsoft.com/office/drawing/2014/main" id="{76AC8D7B-1569-41B3-9A7D-F81A22B4C8A9}"/>
              </a:ext>
            </a:extLst>
          </p:cNvPr>
          <p:cNvSpPr txBox="1"/>
          <p:nvPr/>
        </p:nvSpPr>
        <p:spPr>
          <a:xfrm>
            <a:off x="4864768" y="1323474"/>
            <a:ext cx="2462463" cy="584775"/>
          </a:xfrm>
          <a:prstGeom prst="rect">
            <a:avLst/>
          </a:prstGeom>
          <a:noFill/>
        </p:spPr>
        <p:txBody>
          <a:bodyPr wrap="square" rtlCol="0">
            <a:spAutoFit/>
          </a:bodyPr>
          <a:lstStyle/>
          <a:p>
            <a:r>
              <a:rPr lang="en-US" sz="3200" dirty="0">
                <a:solidFill>
                  <a:schemeClr val="bg1"/>
                </a:solidFill>
                <a:latin typeface="Bahnschrift Light" panose="020B0502040204020203" pitchFamily="34" charset="0"/>
              </a:rPr>
              <a:t>ALGORITMO</a:t>
            </a:r>
            <a:endParaRPr lang="it-IT" sz="3200" dirty="0">
              <a:solidFill>
                <a:schemeClr val="bg1"/>
              </a:solidFill>
              <a:latin typeface="Bahnschrift Light" panose="020B0502040204020203" pitchFamily="34" charset="0"/>
            </a:endParaRPr>
          </a:p>
        </p:txBody>
      </p:sp>
      <p:sp>
        <p:nvSpPr>
          <p:cNvPr id="4" name="CasellaDiTesto 3">
            <a:extLst>
              <a:ext uri="{FF2B5EF4-FFF2-40B4-BE49-F238E27FC236}">
                <a16:creationId xmlns:a16="http://schemas.microsoft.com/office/drawing/2014/main" id="{E4D29553-2AC0-400E-8069-D2A44DFCDCC8}"/>
              </a:ext>
            </a:extLst>
          </p:cNvPr>
          <p:cNvSpPr txBox="1"/>
          <p:nvPr/>
        </p:nvSpPr>
        <p:spPr>
          <a:xfrm>
            <a:off x="1106906" y="1908249"/>
            <a:ext cx="9978189" cy="2646878"/>
          </a:xfrm>
          <a:prstGeom prst="rect">
            <a:avLst/>
          </a:prstGeom>
          <a:noFill/>
          <a:effectLst/>
        </p:spPr>
        <p:txBody>
          <a:bodyPr wrap="square" rtlCol="0">
            <a:spAutoFit/>
          </a:bodyPr>
          <a:lstStyle/>
          <a:p>
            <a:r>
              <a:rPr lang="en-US" sz="16600" dirty="0">
                <a:solidFill>
                  <a:srgbClr val="3C6E71">
                    <a:alpha val="64000"/>
                  </a:srgbClr>
                </a:solidFill>
                <a:effectLst/>
                <a:latin typeface="Bebas Neue" panose="020B0606020202050201" pitchFamily="34" charset="0"/>
              </a:rPr>
              <a:t>BELLMAN-FORD</a:t>
            </a:r>
            <a:endParaRPr lang="it-IT" sz="5400" dirty="0">
              <a:solidFill>
                <a:srgbClr val="3C6E71">
                  <a:alpha val="64000"/>
                </a:srgbClr>
              </a:solidFill>
              <a:effectLst/>
              <a:latin typeface="Bebas Neue" panose="020B0606020202050201" pitchFamily="34" charset="0"/>
            </a:endParaRPr>
          </a:p>
        </p:txBody>
      </p:sp>
      <mc:AlternateContent xmlns:mc="http://schemas.openxmlformats.org/markup-compatibility/2006">
        <mc:Choice xmlns:am3d="http://schemas.microsoft.com/office/drawing/2017/model3d" Requires="am3d">
          <p:graphicFrame>
            <p:nvGraphicFramePr>
              <p:cNvPr id="7" name="Modello 3D 6">
                <a:extLst>
                  <a:ext uri="{FF2B5EF4-FFF2-40B4-BE49-F238E27FC236}">
                    <a16:creationId xmlns:a16="http://schemas.microsoft.com/office/drawing/2014/main" id="{119A12A3-F07B-44F0-A6CB-6E573D1DBBF7}"/>
                  </a:ext>
                </a:extLst>
              </p:cNvPr>
              <p:cNvGraphicFramePr>
                <a:graphicFrameLocks noChangeAspect="1"/>
              </p:cNvGraphicFramePr>
              <p:nvPr>
                <p:extLst>
                  <p:ext uri="{D42A27DB-BD31-4B8C-83A1-F6EECF244321}">
                    <p14:modId xmlns:p14="http://schemas.microsoft.com/office/powerpoint/2010/main" val="2657956407"/>
                  </p:ext>
                </p:extLst>
              </p:nvPr>
            </p:nvGraphicFramePr>
            <p:xfrm>
              <a:off x="3411064" y="890084"/>
              <a:ext cx="5369871" cy="5077831"/>
            </p:xfrm>
            <a:graphic>
              <a:graphicData uri="http://schemas.microsoft.com/office/drawing/2017/model3d">
                <am3d:model3d r:embed="rId2">
                  <am3d:spPr>
                    <a:xfrm>
                      <a:off x="0" y="0"/>
                      <a:ext cx="5369871" cy="507783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3"/>
                  </am3d:raster>
                  <am3d:objViewport viewportSz="757768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Modello 3D 6">
                <a:extLst>
                  <a:ext uri="{FF2B5EF4-FFF2-40B4-BE49-F238E27FC236}">
                    <a16:creationId xmlns:a16="http://schemas.microsoft.com/office/drawing/2014/main" id="{119A12A3-F07B-44F0-A6CB-6E573D1DBBF7}"/>
                  </a:ext>
                </a:extLst>
              </p:cNvPr>
              <p:cNvPicPr>
                <a:picLocks noGrp="1" noRot="1" noChangeAspect="1" noMove="1" noResize="1" noEditPoints="1" noAdjustHandles="1" noChangeArrowheads="1" noChangeShapeType="1" noCrop="1"/>
              </p:cNvPicPr>
              <p:nvPr/>
            </p:nvPicPr>
            <p:blipFill>
              <a:blip r:embed="rId3"/>
              <a:stretch>
                <a:fillRect/>
              </a:stretch>
            </p:blipFill>
            <p:spPr>
              <a:xfrm>
                <a:off x="3411064" y="890084"/>
                <a:ext cx="5369871" cy="5077831"/>
              </a:xfrm>
              <a:prstGeom prst="rect">
                <a:avLst/>
              </a:prstGeom>
            </p:spPr>
          </p:pic>
        </mc:Fallback>
      </mc:AlternateContent>
      <p:sp>
        <p:nvSpPr>
          <p:cNvPr id="17" name="CasellaDiTesto 16">
            <a:extLst>
              <a:ext uri="{FF2B5EF4-FFF2-40B4-BE49-F238E27FC236}">
                <a16:creationId xmlns:a16="http://schemas.microsoft.com/office/drawing/2014/main" id="{AE394928-2C04-4C72-9260-7F3D2D2AFE1B}"/>
              </a:ext>
            </a:extLst>
          </p:cNvPr>
          <p:cNvSpPr txBox="1"/>
          <p:nvPr/>
        </p:nvSpPr>
        <p:spPr>
          <a:xfrm>
            <a:off x="-1825355"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1241268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18" name="Modello 3D 17">
                <a:extLst>
                  <a:ext uri="{FF2B5EF4-FFF2-40B4-BE49-F238E27FC236}">
                    <a16:creationId xmlns:a16="http://schemas.microsoft.com/office/drawing/2014/main" id="{350FC7EF-2943-4B0E-838D-27F80110EDF6}"/>
                  </a:ext>
                </a:extLst>
              </p:cNvPr>
              <p:cNvGraphicFramePr>
                <a:graphicFrameLocks noChangeAspect="1"/>
              </p:cNvGraphicFramePr>
              <p:nvPr>
                <p:extLst>
                  <p:ext uri="{D42A27DB-BD31-4B8C-83A1-F6EECF244321}">
                    <p14:modId xmlns:p14="http://schemas.microsoft.com/office/powerpoint/2010/main" val="1010014497"/>
                  </p:ext>
                </p:extLst>
              </p:nvPr>
            </p:nvGraphicFramePr>
            <p:xfrm>
              <a:off x="3173046" y="2684818"/>
              <a:ext cx="826015" cy="744182"/>
            </p:xfrm>
            <a:graphic>
              <a:graphicData uri="http://schemas.microsoft.com/office/drawing/2017/model3d">
                <am3d:model3d r:embed="rId2">
                  <am3d:spPr>
                    <a:xfrm>
                      <a:off x="0" y="0"/>
                      <a:ext cx="826015" cy="74418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061823" ay="136821" az="1316901"/>
                    <am3d:postTrans dx="0" dy="0" dz="0"/>
                  </am3d:trans>
                  <am3d:raster rName="Office3DRenderer" rVer="16.0.8326">
                    <am3d:blip r:embed="rId3"/>
                  </am3d:raster>
                  <am3d:objViewport viewportSz="9135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Modello 3D 17">
                <a:extLst>
                  <a:ext uri="{FF2B5EF4-FFF2-40B4-BE49-F238E27FC236}">
                    <a16:creationId xmlns:a16="http://schemas.microsoft.com/office/drawing/2014/main" id="{350FC7EF-2943-4B0E-838D-27F80110EDF6}"/>
                  </a:ext>
                </a:extLst>
              </p:cNvPr>
              <p:cNvPicPr>
                <a:picLocks noGrp="1" noRot="1" noChangeAspect="1" noMove="1" noResize="1" noEditPoints="1" noAdjustHandles="1" noChangeArrowheads="1" noChangeShapeType="1" noCrop="1"/>
              </p:cNvPicPr>
              <p:nvPr/>
            </p:nvPicPr>
            <p:blipFill>
              <a:blip r:embed="rId3"/>
              <a:stretch>
                <a:fillRect/>
              </a:stretch>
            </p:blipFill>
            <p:spPr>
              <a:xfrm>
                <a:off x="3173046" y="2684818"/>
                <a:ext cx="826015" cy="74418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3" name="Modello 3D 12">
                <a:extLst>
                  <a:ext uri="{FF2B5EF4-FFF2-40B4-BE49-F238E27FC236}">
                    <a16:creationId xmlns:a16="http://schemas.microsoft.com/office/drawing/2014/main" id="{B763C038-8BBF-491C-A35F-F58A3C4E9445}"/>
                  </a:ext>
                </a:extLst>
              </p:cNvPr>
              <p:cNvGraphicFramePr>
                <a:graphicFrameLocks noChangeAspect="1"/>
              </p:cNvGraphicFramePr>
              <p:nvPr>
                <p:extLst>
                  <p:ext uri="{D42A27DB-BD31-4B8C-83A1-F6EECF244321}">
                    <p14:modId xmlns:p14="http://schemas.microsoft.com/office/powerpoint/2010/main" val="4101380068"/>
                  </p:ext>
                </p:extLst>
              </p:nvPr>
            </p:nvGraphicFramePr>
            <p:xfrm>
              <a:off x="2534693" y="1323474"/>
              <a:ext cx="1898220" cy="2126007"/>
            </p:xfrm>
            <a:graphic>
              <a:graphicData uri="http://schemas.microsoft.com/office/drawing/2017/model3d">
                <am3d:model3d r:embed="rId4">
                  <am3d:spPr>
                    <a:xfrm>
                      <a:off x="0" y="0"/>
                      <a:ext cx="1898220" cy="2126007"/>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699168" ay="2060939" az="398230"/>
                    <am3d:postTrans dx="0" dy="0" dz="0"/>
                  </am3d:trans>
                  <am3d:raster rName="Office3DRenderer" rVer="16.0.8326">
                    <am3d:blip r:embed="rId5"/>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3" name="Modello 3D 12">
                <a:extLst>
                  <a:ext uri="{FF2B5EF4-FFF2-40B4-BE49-F238E27FC236}">
                    <a16:creationId xmlns:a16="http://schemas.microsoft.com/office/drawing/2014/main" id="{B763C038-8BBF-491C-A35F-F58A3C4E9445}"/>
                  </a:ext>
                </a:extLst>
              </p:cNvPr>
              <p:cNvPicPr>
                <a:picLocks noGrp="1" noRot="1" noChangeAspect="1" noMove="1" noResize="1" noEditPoints="1" noAdjustHandles="1" noChangeArrowheads="1" noChangeShapeType="1" noCrop="1"/>
              </p:cNvPicPr>
              <p:nvPr/>
            </p:nvPicPr>
            <p:blipFill>
              <a:blip r:embed="rId5"/>
              <a:stretch>
                <a:fillRect/>
              </a:stretch>
            </p:blipFill>
            <p:spPr>
              <a:xfrm>
                <a:off x="2534693" y="1323474"/>
                <a:ext cx="1898220" cy="2126007"/>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7" name="Modello 3D 16">
                <a:extLst>
                  <a:ext uri="{FF2B5EF4-FFF2-40B4-BE49-F238E27FC236}">
                    <a16:creationId xmlns:a16="http://schemas.microsoft.com/office/drawing/2014/main" id="{D0026F3C-473D-48EC-AE21-850ED03266B8}"/>
                  </a:ext>
                </a:extLst>
              </p:cNvPr>
              <p:cNvGraphicFramePr>
                <a:graphicFrameLocks noChangeAspect="1"/>
              </p:cNvGraphicFramePr>
              <p:nvPr>
                <p:extLst>
                  <p:ext uri="{D42A27DB-BD31-4B8C-83A1-F6EECF244321}">
                    <p14:modId xmlns:p14="http://schemas.microsoft.com/office/powerpoint/2010/main" val="3789605581"/>
                  </p:ext>
                </p:extLst>
              </p:nvPr>
            </p:nvGraphicFramePr>
            <p:xfrm>
              <a:off x="7987958" y="1235824"/>
              <a:ext cx="1974149" cy="2277864"/>
            </p:xfrm>
            <a:graphic>
              <a:graphicData uri="http://schemas.microsoft.com/office/drawing/2017/model3d">
                <am3d:model3d r:embed="rId4">
                  <am3d:spPr>
                    <a:xfrm>
                      <a:off x="0" y="0"/>
                      <a:ext cx="1974149" cy="2277864"/>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1271018" ay="-2034023" az="-731824"/>
                    <am3d:postTrans dx="0" dy="0" dz="0"/>
                  </am3d:trans>
                  <am3d:raster rName="Office3DRenderer" rVer="16.0.8326">
                    <am3d:blip r:embed="rId6"/>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7" name="Modello 3D 16">
                <a:extLst>
                  <a:ext uri="{FF2B5EF4-FFF2-40B4-BE49-F238E27FC236}">
                    <a16:creationId xmlns:a16="http://schemas.microsoft.com/office/drawing/2014/main" id="{D0026F3C-473D-48EC-AE21-850ED03266B8}"/>
                  </a:ext>
                </a:extLst>
              </p:cNvPr>
              <p:cNvPicPr>
                <a:picLocks noGrp="1" noRot="1" noChangeAspect="1" noMove="1" noResize="1" noEditPoints="1" noAdjustHandles="1" noChangeArrowheads="1" noChangeShapeType="1" noCrop="1"/>
              </p:cNvPicPr>
              <p:nvPr/>
            </p:nvPicPr>
            <p:blipFill>
              <a:blip r:embed="rId6"/>
              <a:stretch>
                <a:fillRect/>
              </a:stretch>
            </p:blipFill>
            <p:spPr>
              <a:xfrm>
                <a:off x="7987958" y="1235824"/>
                <a:ext cx="1974149" cy="2277864"/>
              </a:xfrm>
              <a:prstGeom prst="rect">
                <a:avLst/>
              </a:prstGeom>
            </p:spPr>
          </p:pic>
        </mc:Fallback>
      </mc:AlternateContent>
      <p:sp>
        <p:nvSpPr>
          <p:cNvPr id="20" name="Rettangolo 19">
            <a:extLst>
              <a:ext uri="{FF2B5EF4-FFF2-40B4-BE49-F238E27FC236}">
                <a16:creationId xmlns:a16="http://schemas.microsoft.com/office/drawing/2014/main" id="{DB320FD4-6742-4ABF-99F9-C54E91669294}"/>
              </a:ext>
            </a:extLst>
          </p:cNvPr>
          <p:cNvSpPr/>
          <p:nvPr/>
        </p:nvSpPr>
        <p:spPr>
          <a:xfrm>
            <a:off x="0" y="3759201"/>
            <a:ext cx="12297508" cy="30988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CasellaDiTesto 20">
            <a:extLst>
              <a:ext uri="{FF2B5EF4-FFF2-40B4-BE49-F238E27FC236}">
                <a16:creationId xmlns:a16="http://schemas.microsoft.com/office/drawing/2014/main" id="{E42EEB96-60D5-4137-BB0D-D852D2062C11}"/>
              </a:ext>
            </a:extLst>
          </p:cNvPr>
          <p:cNvSpPr txBox="1"/>
          <p:nvPr/>
        </p:nvSpPr>
        <p:spPr>
          <a:xfrm>
            <a:off x="1278304" y="4172308"/>
            <a:ext cx="10126296" cy="2031325"/>
          </a:xfrm>
          <a:prstGeom prst="rect">
            <a:avLst/>
          </a:prstGeom>
          <a:noFill/>
        </p:spPr>
        <p:txBody>
          <a:bodyPr wrap="square">
            <a:spAutoFit/>
          </a:bodyPr>
          <a:lstStyle/>
          <a:p>
            <a:r>
              <a:rPr lang="it-IT" dirty="0">
                <a:solidFill>
                  <a:schemeClr val="bg1"/>
                </a:solidFill>
                <a:latin typeface="Corbel Light" panose="020B0303020204020204" pitchFamily="34" charset="0"/>
              </a:rPr>
              <a:t>L‘algoritmo di </a:t>
            </a:r>
            <a:r>
              <a:rPr lang="it-IT" dirty="0" err="1">
                <a:solidFill>
                  <a:schemeClr val="bg1"/>
                </a:solidFill>
                <a:latin typeface="Corbel Light" panose="020B0303020204020204" pitchFamily="34" charset="0"/>
              </a:rPr>
              <a:t>Bellman</a:t>
            </a:r>
            <a:r>
              <a:rPr lang="it-IT" dirty="0">
                <a:solidFill>
                  <a:schemeClr val="bg1"/>
                </a:solidFill>
                <a:latin typeface="Corbel Light" panose="020B0303020204020204" pitchFamily="34" charset="0"/>
              </a:rPr>
              <a:t>-Ford è un </a:t>
            </a:r>
            <a:r>
              <a:rPr lang="it-IT" b="1" dirty="0">
                <a:solidFill>
                  <a:schemeClr val="bg1"/>
                </a:solidFill>
                <a:latin typeface="Corbel Light" panose="020B0303020204020204" pitchFamily="34" charset="0"/>
              </a:rPr>
              <a:t>algoritmo dinamico</a:t>
            </a:r>
            <a:r>
              <a:rPr lang="it-IT" dirty="0">
                <a:solidFill>
                  <a:schemeClr val="bg1"/>
                </a:solidFill>
                <a:latin typeface="Corbel Light" panose="020B0303020204020204" pitchFamily="34" charset="0"/>
              </a:rPr>
              <a:t> usato per il calcolo del percorso migliore verso tutti gli </a:t>
            </a:r>
            <a:r>
              <a:rPr lang="it-IT" dirty="0" err="1">
                <a:solidFill>
                  <a:schemeClr val="bg1"/>
                </a:solidFill>
                <a:latin typeface="Corbel Light" panose="020B0303020204020204" pitchFamily="34" charset="0"/>
              </a:rPr>
              <a:t>host</a:t>
            </a:r>
            <a:r>
              <a:rPr lang="it-IT" dirty="0">
                <a:solidFill>
                  <a:schemeClr val="bg1"/>
                </a:solidFill>
                <a:latin typeface="Corbel Light" panose="020B0303020204020204" pitchFamily="34" charset="0"/>
              </a:rPr>
              <a:t> della rete gestendo anche i pesi negativi e senza il bisogno di conoscere la topologia della rete stessa. </a:t>
            </a:r>
          </a:p>
          <a:p>
            <a:r>
              <a:rPr lang="it-IT" dirty="0">
                <a:solidFill>
                  <a:schemeClr val="bg1"/>
                </a:solidFill>
                <a:latin typeface="Corbel Light" panose="020B0303020204020204" pitchFamily="34" charset="0"/>
              </a:rPr>
              <a:t>Ogni router infatti conosce solo le info relative ai </a:t>
            </a:r>
            <a:r>
              <a:rPr lang="it-IT" b="1" dirty="0">
                <a:solidFill>
                  <a:schemeClr val="bg1"/>
                </a:solidFill>
                <a:latin typeface="Corbel Light" panose="020B0303020204020204" pitchFamily="34" charset="0"/>
              </a:rPr>
              <a:t>router adiacenti</a:t>
            </a:r>
            <a:r>
              <a:rPr lang="it-IT" dirty="0">
                <a:solidFill>
                  <a:schemeClr val="bg1"/>
                </a:solidFill>
                <a:latin typeface="Corbel Light" panose="020B0303020204020204" pitchFamily="34" charset="0"/>
              </a:rPr>
              <a:t>. Tutte le altre informazioni le ottiene attraverso un processo di scambio di informazioni tra i vari router della rete.</a:t>
            </a:r>
          </a:p>
          <a:p>
            <a:r>
              <a:rPr lang="it-IT" dirty="0">
                <a:solidFill>
                  <a:schemeClr val="bg1"/>
                </a:solidFill>
                <a:latin typeface="Corbel Light" panose="020B0303020204020204" pitchFamily="34" charset="0"/>
              </a:rPr>
              <a:t>Lo scambio di informazioni avviene o periodicamente oppure ogni qual volta ci siano cambiamenti da comunicare. I messaggi che vengono scambiati sono chiamati </a:t>
            </a:r>
            <a:r>
              <a:rPr lang="it-IT" b="1" dirty="0" err="1">
                <a:solidFill>
                  <a:schemeClr val="bg1"/>
                </a:solidFill>
                <a:latin typeface="Corbel Light" panose="020B0303020204020204" pitchFamily="34" charset="0"/>
              </a:rPr>
              <a:t>distance</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vector</a:t>
            </a:r>
            <a:r>
              <a:rPr lang="it-IT" b="1" dirty="0">
                <a:solidFill>
                  <a:schemeClr val="bg1"/>
                </a:solidFill>
                <a:latin typeface="Corbel Light" panose="020B0303020204020204" pitchFamily="34" charset="0"/>
              </a:rPr>
              <a:t> </a:t>
            </a:r>
            <a:r>
              <a:rPr lang="it-IT" dirty="0">
                <a:solidFill>
                  <a:schemeClr val="bg1"/>
                </a:solidFill>
                <a:latin typeface="Corbel Light" panose="020B0303020204020204" pitchFamily="34" charset="0"/>
              </a:rPr>
              <a:t>e contengono 2 valori: destinazione e costo.</a:t>
            </a:r>
          </a:p>
        </p:txBody>
      </p:sp>
      <p:sp>
        <p:nvSpPr>
          <p:cNvPr id="22" name="CasellaDiTesto 21">
            <a:extLst>
              <a:ext uri="{FF2B5EF4-FFF2-40B4-BE49-F238E27FC236}">
                <a16:creationId xmlns:a16="http://schemas.microsoft.com/office/drawing/2014/main" id="{8C8C7F2B-A606-4FE9-BB68-5F099C78DDAE}"/>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7E383D3D-0E06-4E9D-9952-3B84944827A9}"/>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3270856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8EA47DB8-1DA6-4FBA-959E-279507B6120B}"/>
                  </a:ext>
                </a:extLst>
              </p:cNvPr>
              <p:cNvGraphicFramePr>
                <a:graphicFrameLocks noChangeAspect="1"/>
              </p:cNvGraphicFramePr>
              <p:nvPr>
                <p:extLst>
                  <p:ext uri="{D42A27DB-BD31-4B8C-83A1-F6EECF244321}">
                    <p14:modId xmlns:p14="http://schemas.microsoft.com/office/powerpoint/2010/main" val="249717159"/>
                  </p:ext>
                </p:extLst>
              </p:nvPr>
            </p:nvGraphicFramePr>
            <p:xfrm>
              <a:off x="8552364" y="2386477"/>
              <a:ext cx="845335" cy="827032"/>
            </p:xfrm>
            <a:graphic>
              <a:graphicData uri="http://schemas.microsoft.com/office/drawing/2017/model3d">
                <am3d:model3d r:embed="rId2">
                  <am3d:spPr>
                    <a:xfrm>
                      <a:off x="0" y="0"/>
                      <a:ext cx="845335" cy="8270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195951" ay="-148348" az="-2159473"/>
                    <am3d:postTrans dx="0" dy="0" dz="0"/>
                  </am3d:trans>
                  <am3d:raster rName="Office3DRenderer" rVer="16.0.8326">
                    <am3d:blip r:embed="rId3"/>
                  </am3d:raster>
                  <am3d:objViewport viewportSz="9135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8EA47DB8-1DA6-4FBA-959E-279507B6120B}"/>
                  </a:ext>
                </a:extLst>
              </p:cNvPr>
              <p:cNvPicPr>
                <a:picLocks noGrp="1" noRot="1" noChangeAspect="1" noMove="1" noResize="1" noEditPoints="1" noAdjustHandles="1" noChangeArrowheads="1" noChangeShapeType="1" noCrop="1"/>
              </p:cNvPicPr>
              <p:nvPr/>
            </p:nvPicPr>
            <p:blipFill>
              <a:blip r:embed="rId3"/>
              <a:stretch>
                <a:fillRect/>
              </a:stretch>
            </p:blipFill>
            <p:spPr>
              <a:xfrm>
                <a:off x="8552364" y="2386477"/>
                <a:ext cx="845335" cy="82703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Modello 3D 14">
                <a:extLst>
                  <a:ext uri="{FF2B5EF4-FFF2-40B4-BE49-F238E27FC236}">
                    <a16:creationId xmlns:a16="http://schemas.microsoft.com/office/drawing/2014/main" id="{874AD338-8297-465F-B5C3-6F265096C601}"/>
                  </a:ext>
                </a:extLst>
              </p:cNvPr>
              <p:cNvGraphicFramePr>
                <a:graphicFrameLocks noChangeAspect="1"/>
              </p:cNvGraphicFramePr>
              <p:nvPr>
                <p:extLst>
                  <p:ext uri="{D42A27DB-BD31-4B8C-83A1-F6EECF244321}">
                    <p14:modId xmlns:p14="http://schemas.microsoft.com/office/powerpoint/2010/main" val="99198985"/>
                  </p:ext>
                </p:extLst>
              </p:nvPr>
            </p:nvGraphicFramePr>
            <p:xfrm>
              <a:off x="7987958" y="1235824"/>
              <a:ext cx="1974149" cy="2277864"/>
            </p:xfrm>
            <a:graphic>
              <a:graphicData uri="http://schemas.microsoft.com/office/drawing/2017/model3d">
                <am3d:model3d r:embed="rId4">
                  <am3d:spPr>
                    <a:xfrm>
                      <a:off x="0" y="0"/>
                      <a:ext cx="1974149" cy="2277864"/>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1271018" ay="-2034023" az="-731824"/>
                    <am3d:postTrans dx="0" dy="0" dz="0"/>
                  </am3d:trans>
                  <am3d:raster rName="Office3DRenderer" rVer="16.0.8326">
                    <am3d:blip r:embed="rId5"/>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Modello 3D 14">
                <a:extLst>
                  <a:ext uri="{FF2B5EF4-FFF2-40B4-BE49-F238E27FC236}">
                    <a16:creationId xmlns:a16="http://schemas.microsoft.com/office/drawing/2014/main" id="{874AD338-8297-465F-B5C3-6F265096C601}"/>
                  </a:ext>
                </a:extLst>
              </p:cNvPr>
              <p:cNvPicPr>
                <a:picLocks noGrp="1" noRot="1" noChangeAspect="1" noMove="1" noResize="1" noEditPoints="1" noAdjustHandles="1" noChangeArrowheads="1" noChangeShapeType="1" noCrop="1"/>
              </p:cNvPicPr>
              <p:nvPr/>
            </p:nvPicPr>
            <p:blipFill>
              <a:blip r:embed="rId5"/>
              <a:stretch>
                <a:fillRect/>
              </a:stretch>
            </p:blipFill>
            <p:spPr>
              <a:xfrm>
                <a:off x="7987958" y="1235824"/>
                <a:ext cx="1974149" cy="2277864"/>
              </a:xfrm>
              <a:prstGeom prst="rect">
                <a:avLst/>
              </a:prstGeom>
            </p:spPr>
          </p:pic>
        </mc:Fallback>
      </mc:AlternateContent>
      <p:sp>
        <p:nvSpPr>
          <p:cNvPr id="16" name="Rettangolo 15">
            <a:extLst>
              <a:ext uri="{FF2B5EF4-FFF2-40B4-BE49-F238E27FC236}">
                <a16:creationId xmlns:a16="http://schemas.microsoft.com/office/drawing/2014/main" id="{9B4A4D05-A43C-48DD-B55C-CB317FF1DFAB}"/>
              </a:ext>
            </a:extLst>
          </p:cNvPr>
          <p:cNvSpPr/>
          <p:nvPr/>
        </p:nvSpPr>
        <p:spPr>
          <a:xfrm>
            <a:off x="0" y="3759201"/>
            <a:ext cx="12297508" cy="30988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F8FB0D5F-28E1-40C6-9C9C-0B76E83A185E}"/>
              </a:ext>
            </a:extLst>
          </p:cNvPr>
          <p:cNvSpPr txBox="1"/>
          <p:nvPr/>
        </p:nvSpPr>
        <p:spPr>
          <a:xfrm>
            <a:off x="1278304" y="4172308"/>
            <a:ext cx="10126296" cy="2031325"/>
          </a:xfrm>
          <a:prstGeom prst="rect">
            <a:avLst/>
          </a:prstGeom>
          <a:noFill/>
        </p:spPr>
        <p:txBody>
          <a:bodyPr wrap="square">
            <a:spAutoFit/>
          </a:bodyPr>
          <a:lstStyle/>
          <a:p>
            <a:r>
              <a:rPr lang="it-IT" dirty="0">
                <a:solidFill>
                  <a:schemeClr val="bg1"/>
                </a:solidFill>
                <a:latin typeface="Corbel Light" panose="020B0303020204020204" pitchFamily="34" charset="0"/>
              </a:rPr>
              <a:t>L‘algoritmo di </a:t>
            </a:r>
            <a:r>
              <a:rPr lang="it-IT" dirty="0" err="1">
                <a:solidFill>
                  <a:schemeClr val="bg1"/>
                </a:solidFill>
                <a:latin typeface="Corbel Light" panose="020B0303020204020204" pitchFamily="34" charset="0"/>
              </a:rPr>
              <a:t>Bellman</a:t>
            </a:r>
            <a:r>
              <a:rPr lang="it-IT" dirty="0">
                <a:solidFill>
                  <a:schemeClr val="bg1"/>
                </a:solidFill>
                <a:latin typeface="Corbel Light" panose="020B0303020204020204" pitchFamily="34" charset="0"/>
              </a:rPr>
              <a:t>-Ford è un </a:t>
            </a:r>
            <a:r>
              <a:rPr lang="it-IT" b="1" dirty="0">
                <a:solidFill>
                  <a:schemeClr val="bg1"/>
                </a:solidFill>
                <a:latin typeface="Corbel Light" panose="020B0303020204020204" pitchFamily="34" charset="0"/>
              </a:rPr>
              <a:t>algoritmo dinamico</a:t>
            </a:r>
            <a:r>
              <a:rPr lang="it-IT" dirty="0">
                <a:solidFill>
                  <a:schemeClr val="bg1"/>
                </a:solidFill>
                <a:latin typeface="Corbel Light" panose="020B0303020204020204" pitchFamily="34" charset="0"/>
              </a:rPr>
              <a:t> usato per il calcolo del percorso migliore verso tutti gli </a:t>
            </a:r>
            <a:r>
              <a:rPr lang="it-IT" dirty="0" err="1">
                <a:solidFill>
                  <a:schemeClr val="bg1"/>
                </a:solidFill>
                <a:latin typeface="Corbel Light" panose="020B0303020204020204" pitchFamily="34" charset="0"/>
              </a:rPr>
              <a:t>host</a:t>
            </a:r>
            <a:r>
              <a:rPr lang="it-IT" dirty="0">
                <a:solidFill>
                  <a:schemeClr val="bg1"/>
                </a:solidFill>
                <a:latin typeface="Corbel Light" panose="020B0303020204020204" pitchFamily="34" charset="0"/>
              </a:rPr>
              <a:t> della rete gestendo anche i pesi negativi e senza il bisogno di conoscere la topologia della rete stessa. </a:t>
            </a:r>
          </a:p>
          <a:p>
            <a:r>
              <a:rPr lang="it-IT" dirty="0">
                <a:solidFill>
                  <a:schemeClr val="bg1"/>
                </a:solidFill>
                <a:latin typeface="Corbel Light" panose="020B0303020204020204" pitchFamily="34" charset="0"/>
              </a:rPr>
              <a:t>Ogni router infatti conosce solo le info relative ai </a:t>
            </a:r>
            <a:r>
              <a:rPr lang="it-IT" b="1" dirty="0">
                <a:solidFill>
                  <a:schemeClr val="bg1"/>
                </a:solidFill>
                <a:latin typeface="Corbel Light" panose="020B0303020204020204" pitchFamily="34" charset="0"/>
              </a:rPr>
              <a:t>router adiacenti</a:t>
            </a:r>
            <a:r>
              <a:rPr lang="it-IT" dirty="0">
                <a:solidFill>
                  <a:schemeClr val="bg1"/>
                </a:solidFill>
                <a:latin typeface="Corbel Light" panose="020B0303020204020204" pitchFamily="34" charset="0"/>
              </a:rPr>
              <a:t>. Tutte le altre informazioni le ottiene attraverso un processo di scambio di informazioni tra i vari router della rete.</a:t>
            </a:r>
          </a:p>
          <a:p>
            <a:r>
              <a:rPr lang="it-IT" dirty="0">
                <a:solidFill>
                  <a:schemeClr val="bg1"/>
                </a:solidFill>
                <a:latin typeface="Corbel Light" panose="020B0303020204020204" pitchFamily="34" charset="0"/>
              </a:rPr>
              <a:t>Lo scambio di informazioni avviene o periodicamente oppure ogni qual volta ci siano cambiamenti da comunicare. I messaggi che vengono scambiati sono chiamati </a:t>
            </a:r>
            <a:r>
              <a:rPr lang="it-IT" b="1" dirty="0" err="1">
                <a:solidFill>
                  <a:schemeClr val="bg1"/>
                </a:solidFill>
                <a:latin typeface="Corbel Light" panose="020B0303020204020204" pitchFamily="34" charset="0"/>
              </a:rPr>
              <a:t>distance</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vector</a:t>
            </a:r>
            <a:r>
              <a:rPr lang="it-IT" b="1" dirty="0">
                <a:solidFill>
                  <a:schemeClr val="bg1"/>
                </a:solidFill>
                <a:latin typeface="Corbel Light" panose="020B0303020204020204" pitchFamily="34" charset="0"/>
              </a:rPr>
              <a:t> </a:t>
            </a:r>
            <a:r>
              <a:rPr lang="it-IT" dirty="0">
                <a:solidFill>
                  <a:schemeClr val="bg1"/>
                </a:solidFill>
                <a:latin typeface="Corbel Light" panose="020B0303020204020204" pitchFamily="34" charset="0"/>
              </a:rPr>
              <a:t>e contengono 2 valori: destinazione e costo.</a:t>
            </a:r>
          </a:p>
        </p:txBody>
      </p:sp>
      <mc:AlternateContent xmlns:mc="http://schemas.openxmlformats.org/markup-compatibility/2006">
        <mc:Choice xmlns:am3d="http://schemas.microsoft.com/office/drawing/2017/model3d" Requires="am3d">
          <p:graphicFrame>
            <p:nvGraphicFramePr>
              <p:cNvPr id="21" name="Modello 3D 20">
                <a:extLst>
                  <a:ext uri="{FF2B5EF4-FFF2-40B4-BE49-F238E27FC236}">
                    <a16:creationId xmlns:a16="http://schemas.microsoft.com/office/drawing/2014/main" id="{3614AF00-BB20-4A71-863B-E58CECE4C4EB}"/>
                  </a:ext>
                </a:extLst>
              </p:cNvPr>
              <p:cNvGraphicFramePr>
                <a:graphicFrameLocks noChangeAspect="1"/>
              </p:cNvGraphicFramePr>
              <p:nvPr>
                <p:extLst>
                  <p:ext uri="{D42A27DB-BD31-4B8C-83A1-F6EECF244321}">
                    <p14:modId xmlns:p14="http://schemas.microsoft.com/office/powerpoint/2010/main" val="4035365741"/>
                  </p:ext>
                </p:extLst>
              </p:nvPr>
            </p:nvGraphicFramePr>
            <p:xfrm>
              <a:off x="2534693" y="1323474"/>
              <a:ext cx="1898220" cy="2126007"/>
            </p:xfrm>
            <a:graphic>
              <a:graphicData uri="http://schemas.microsoft.com/office/drawing/2017/model3d">
                <am3d:model3d r:embed="rId4">
                  <am3d:spPr>
                    <a:xfrm>
                      <a:off x="0" y="0"/>
                      <a:ext cx="1898220" cy="2126007"/>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699168" ay="2060939" az="398230"/>
                    <am3d:postTrans dx="0" dy="0" dz="0"/>
                  </am3d:trans>
                  <am3d:raster rName="Office3DRenderer" rVer="16.0.8326">
                    <am3d:blip r:embed="rId6"/>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Modello 3D 20">
                <a:extLst>
                  <a:ext uri="{FF2B5EF4-FFF2-40B4-BE49-F238E27FC236}">
                    <a16:creationId xmlns:a16="http://schemas.microsoft.com/office/drawing/2014/main" id="{3614AF00-BB20-4A71-863B-E58CECE4C4EB}"/>
                  </a:ext>
                </a:extLst>
              </p:cNvPr>
              <p:cNvPicPr>
                <a:picLocks noGrp="1" noRot="1" noChangeAspect="1" noMove="1" noResize="1" noEditPoints="1" noAdjustHandles="1" noChangeArrowheads="1" noChangeShapeType="1" noCrop="1"/>
              </p:cNvPicPr>
              <p:nvPr/>
            </p:nvPicPr>
            <p:blipFill>
              <a:blip r:embed="rId6"/>
              <a:stretch>
                <a:fillRect/>
              </a:stretch>
            </p:blipFill>
            <p:spPr>
              <a:xfrm>
                <a:off x="2534693" y="1323474"/>
                <a:ext cx="1898220" cy="2126007"/>
              </a:xfrm>
              <a:prstGeom prst="rect">
                <a:avLst/>
              </a:prstGeom>
            </p:spPr>
          </p:pic>
        </mc:Fallback>
      </mc:AlternateContent>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24" name="Rettangolo 23">
            <a:extLst>
              <a:ext uri="{FF2B5EF4-FFF2-40B4-BE49-F238E27FC236}">
                <a16:creationId xmlns:a16="http://schemas.microsoft.com/office/drawing/2014/main" id="{B6386B43-21D8-454C-953B-9C8B3BEBD317}"/>
              </a:ext>
            </a:extLst>
          </p:cNvPr>
          <p:cNvSpPr/>
          <p:nvPr/>
        </p:nvSpPr>
        <p:spPr>
          <a:xfrm>
            <a:off x="587506" y="7103514"/>
            <a:ext cx="11277600" cy="1200329"/>
          </a:xfrm>
          <a:prstGeom prst="rect">
            <a:avLst/>
          </a:prstGeom>
          <a:noFill/>
        </p:spPr>
        <p:txBody>
          <a:bodyPr wrap="square" lIns="91440" tIns="45720" rIns="91440" bIns="45720">
            <a:spAutoFit/>
          </a:bodyPr>
          <a:lstStyle/>
          <a:p>
            <a:pPr algn="ct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dx(y) = </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minv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c(</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x,v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dv(y) }</a:t>
            </a:r>
            <a:endParaRPr lang="it-IT"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617814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8EA47DB8-1DA6-4FBA-959E-279507B6120B}"/>
                  </a:ext>
                </a:extLst>
              </p:cNvPr>
              <p:cNvGraphicFramePr>
                <a:graphicFrameLocks noChangeAspect="1"/>
              </p:cNvGraphicFramePr>
              <p:nvPr/>
            </p:nvGraphicFramePr>
            <p:xfrm>
              <a:off x="8552364" y="2386477"/>
              <a:ext cx="845335" cy="827032"/>
            </p:xfrm>
            <a:graphic>
              <a:graphicData uri="http://schemas.microsoft.com/office/drawing/2017/model3d">
                <am3d:model3d r:embed="rId2">
                  <am3d:spPr>
                    <a:xfrm>
                      <a:off x="0" y="0"/>
                      <a:ext cx="845335" cy="8270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195951" ay="-148348" az="-2159473"/>
                    <am3d:postTrans dx="0" dy="0" dz="0"/>
                  </am3d:trans>
                  <am3d:raster rName="Office3DRenderer" rVer="16.0.8326">
                    <am3d:blip r:embed="rId3"/>
                  </am3d:raster>
                  <am3d:objViewport viewportSz="9135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8EA47DB8-1DA6-4FBA-959E-279507B6120B}"/>
                  </a:ext>
                </a:extLst>
              </p:cNvPr>
              <p:cNvPicPr>
                <a:picLocks noGrp="1" noRot="1" noChangeAspect="1" noMove="1" noResize="1" noEditPoints="1" noAdjustHandles="1" noChangeArrowheads="1" noChangeShapeType="1" noCrop="1"/>
              </p:cNvPicPr>
              <p:nvPr/>
            </p:nvPicPr>
            <p:blipFill>
              <a:blip r:embed="rId3"/>
              <a:stretch>
                <a:fillRect/>
              </a:stretch>
            </p:blipFill>
            <p:spPr>
              <a:xfrm>
                <a:off x="8552364" y="2386477"/>
                <a:ext cx="845335" cy="82703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5" name="Modello 3D 14">
                <a:extLst>
                  <a:ext uri="{FF2B5EF4-FFF2-40B4-BE49-F238E27FC236}">
                    <a16:creationId xmlns:a16="http://schemas.microsoft.com/office/drawing/2014/main" id="{874AD338-8297-465F-B5C3-6F265096C601}"/>
                  </a:ext>
                </a:extLst>
              </p:cNvPr>
              <p:cNvGraphicFramePr>
                <a:graphicFrameLocks noChangeAspect="1"/>
              </p:cNvGraphicFramePr>
              <p:nvPr>
                <p:extLst>
                  <p:ext uri="{D42A27DB-BD31-4B8C-83A1-F6EECF244321}">
                    <p14:modId xmlns:p14="http://schemas.microsoft.com/office/powerpoint/2010/main" val="3753702029"/>
                  </p:ext>
                </p:extLst>
              </p:nvPr>
            </p:nvGraphicFramePr>
            <p:xfrm>
              <a:off x="7987956" y="-2509871"/>
              <a:ext cx="1974149" cy="2277864"/>
            </p:xfrm>
            <a:graphic>
              <a:graphicData uri="http://schemas.microsoft.com/office/drawing/2017/model3d">
                <am3d:model3d r:embed="rId4">
                  <am3d:spPr>
                    <a:xfrm>
                      <a:off x="0" y="0"/>
                      <a:ext cx="1974149" cy="2277864"/>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1271018" ay="-2034023" az="-731824"/>
                    <am3d:postTrans dx="0" dy="0" dz="0"/>
                  </am3d:trans>
                  <am3d:raster rName="Office3DRenderer" rVer="16.0.8326">
                    <am3d:blip r:embed="rId5"/>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5" name="Modello 3D 14">
                <a:extLst>
                  <a:ext uri="{FF2B5EF4-FFF2-40B4-BE49-F238E27FC236}">
                    <a16:creationId xmlns:a16="http://schemas.microsoft.com/office/drawing/2014/main" id="{874AD338-8297-465F-B5C3-6F265096C601}"/>
                  </a:ext>
                </a:extLst>
              </p:cNvPr>
              <p:cNvPicPr>
                <a:picLocks noGrp="1" noRot="1" noChangeAspect="1" noMove="1" noResize="1" noEditPoints="1" noAdjustHandles="1" noChangeArrowheads="1" noChangeShapeType="1" noCrop="1"/>
              </p:cNvPicPr>
              <p:nvPr/>
            </p:nvPicPr>
            <p:blipFill>
              <a:blip r:embed="rId5"/>
              <a:stretch>
                <a:fillRect/>
              </a:stretch>
            </p:blipFill>
            <p:spPr>
              <a:xfrm>
                <a:off x="7987956" y="-2509871"/>
                <a:ext cx="1974149" cy="2277864"/>
              </a:xfrm>
              <a:prstGeom prst="rect">
                <a:avLst/>
              </a:prstGeom>
            </p:spPr>
          </p:pic>
        </mc:Fallback>
      </mc:AlternateContent>
      <p:sp>
        <p:nvSpPr>
          <p:cNvPr id="16" name="Rettangolo 15">
            <a:extLst>
              <a:ext uri="{FF2B5EF4-FFF2-40B4-BE49-F238E27FC236}">
                <a16:creationId xmlns:a16="http://schemas.microsoft.com/office/drawing/2014/main" id="{9B4A4D05-A43C-48DD-B55C-CB317FF1DFAB}"/>
              </a:ext>
            </a:extLst>
          </p:cNvPr>
          <p:cNvSpPr/>
          <p:nvPr/>
        </p:nvSpPr>
        <p:spPr>
          <a:xfrm>
            <a:off x="0" y="-16288"/>
            <a:ext cx="12297508" cy="3737387"/>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F8FB0D5F-28E1-40C6-9C9C-0B76E83A185E}"/>
              </a:ext>
            </a:extLst>
          </p:cNvPr>
          <p:cNvSpPr txBox="1"/>
          <p:nvPr/>
        </p:nvSpPr>
        <p:spPr>
          <a:xfrm>
            <a:off x="1375752" y="1039286"/>
            <a:ext cx="10126296" cy="2031325"/>
          </a:xfrm>
          <a:prstGeom prst="rect">
            <a:avLst/>
          </a:prstGeom>
          <a:noFill/>
        </p:spPr>
        <p:txBody>
          <a:bodyPr wrap="square">
            <a:spAutoFit/>
          </a:bodyPr>
          <a:lstStyle/>
          <a:p>
            <a:r>
              <a:rPr lang="it-IT" dirty="0">
                <a:solidFill>
                  <a:schemeClr val="bg1"/>
                </a:solidFill>
                <a:latin typeface="Corbel Light" panose="020B0303020204020204" pitchFamily="34" charset="0"/>
              </a:rPr>
              <a:t>La formula è la </a:t>
            </a:r>
            <a:r>
              <a:rPr lang="it-IT" dirty="0" err="1">
                <a:solidFill>
                  <a:schemeClr val="bg1"/>
                </a:solidFill>
                <a:latin typeface="Corbel Light" panose="020B0303020204020204" pitchFamily="34" charset="0"/>
              </a:rPr>
              <a:t>seguente.Dove</a:t>
            </a:r>
            <a:r>
              <a:rPr lang="it-IT" dirty="0">
                <a:solidFill>
                  <a:schemeClr val="bg1"/>
                </a:solidFill>
                <a:latin typeface="Corbel Light" panose="020B0303020204020204" pitchFamily="34" charset="0"/>
              </a:rPr>
              <a:t> </a:t>
            </a:r>
            <a:r>
              <a:rPr lang="it-IT" b="1" dirty="0">
                <a:solidFill>
                  <a:schemeClr val="bg1"/>
                </a:solidFill>
                <a:latin typeface="Corbel Light" panose="020B0303020204020204" pitchFamily="34" charset="0"/>
              </a:rPr>
              <a:t>dv(y)</a:t>
            </a:r>
            <a:r>
              <a:rPr lang="it-IT" dirty="0">
                <a:solidFill>
                  <a:schemeClr val="bg1"/>
                </a:solidFill>
                <a:latin typeface="Corbel Light" panose="020B0303020204020204" pitchFamily="34" charset="0"/>
              </a:rPr>
              <a:t> è a sua volta ottenuto attraverso la formula di </a:t>
            </a:r>
            <a:r>
              <a:rPr lang="it-IT" dirty="0" err="1">
                <a:solidFill>
                  <a:schemeClr val="bg1"/>
                </a:solidFill>
                <a:latin typeface="Corbel Light" panose="020B0303020204020204" pitchFamily="34" charset="0"/>
              </a:rPr>
              <a:t>Bellman</a:t>
            </a:r>
            <a:r>
              <a:rPr lang="it-IT" dirty="0">
                <a:solidFill>
                  <a:schemeClr val="bg1"/>
                </a:solidFill>
                <a:latin typeface="Corbel Light" panose="020B0303020204020204" pitchFamily="34" charset="0"/>
              </a:rPr>
              <a:t>-Ford ed ecco quindi la ricorsività. Questa formula ci dice che il costo per andare da x a y è minimo se passa attraverso un nodo v tale che il costo totale per andare da x a v e poi da v a y è minimo.</a:t>
            </a:r>
          </a:p>
          <a:p>
            <a:r>
              <a:rPr lang="it-IT" i="1" dirty="0">
                <a:solidFill>
                  <a:schemeClr val="bg1"/>
                </a:solidFill>
                <a:latin typeface="Corbel Light" panose="020B0303020204020204" pitchFamily="34" charset="0"/>
              </a:rPr>
              <a:t>Il numero massimo di﻿ iterazioni equivale N-1 dove N rappresenta il numero totale di nodi della rete. Per iterazione si intende il processo in cui si prova a rilassare tutti gli archi della rete. A seguito di N-1 iterazioni saranno quindi sicuramente individuati tutti i percorsi migliori.</a:t>
            </a:r>
          </a:p>
          <a:p>
            <a:endParaRPr lang="it-IT" dirty="0">
              <a:solidFill>
                <a:srgbClr val="000000"/>
              </a:solidFill>
              <a:effectLst/>
              <a:latin typeface="YAFdtQi73Xs 0"/>
            </a:endParaRPr>
          </a:p>
        </p:txBody>
      </p:sp>
      <mc:AlternateContent xmlns:mc="http://schemas.openxmlformats.org/markup-compatibility/2006">
        <mc:Choice xmlns:am3d="http://schemas.microsoft.com/office/drawing/2017/model3d" Requires="am3d">
          <p:graphicFrame>
            <p:nvGraphicFramePr>
              <p:cNvPr id="21" name="Modello 3D 20">
                <a:extLst>
                  <a:ext uri="{FF2B5EF4-FFF2-40B4-BE49-F238E27FC236}">
                    <a16:creationId xmlns:a16="http://schemas.microsoft.com/office/drawing/2014/main" id="{3614AF00-BB20-4A71-863B-E58CECE4C4EB}"/>
                  </a:ext>
                </a:extLst>
              </p:cNvPr>
              <p:cNvGraphicFramePr>
                <a:graphicFrameLocks noChangeAspect="1"/>
              </p:cNvGraphicFramePr>
              <p:nvPr>
                <p:extLst>
                  <p:ext uri="{D42A27DB-BD31-4B8C-83A1-F6EECF244321}">
                    <p14:modId xmlns:p14="http://schemas.microsoft.com/office/powerpoint/2010/main" val="535197858"/>
                  </p:ext>
                </p:extLst>
              </p:nvPr>
            </p:nvGraphicFramePr>
            <p:xfrm>
              <a:off x="2445793" y="-2471770"/>
              <a:ext cx="1898220" cy="2126007"/>
            </p:xfrm>
            <a:graphic>
              <a:graphicData uri="http://schemas.microsoft.com/office/drawing/2017/model3d">
                <am3d:model3d r:embed="rId4">
                  <am3d:spPr>
                    <a:xfrm>
                      <a:off x="0" y="0"/>
                      <a:ext cx="1898220" cy="2126007"/>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x="699168" ay="2060939" az="398230"/>
                    <am3d:postTrans dx="0" dy="0" dz="0"/>
                  </am3d:trans>
                  <am3d:raster rName="Office3DRenderer" rVer="16.0.8326">
                    <am3d:blip r:embed="rId6"/>
                  </am3d:raster>
                  <am3d:objViewport viewportSz="261954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Modello 3D 20">
                <a:extLst>
                  <a:ext uri="{FF2B5EF4-FFF2-40B4-BE49-F238E27FC236}">
                    <a16:creationId xmlns:a16="http://schemas.microsoft.com/office/drawing/2014/main" id="{3614AF00-BB20-4A71-863B-E58CECE4C4EB}"/>
                  </a:ext>
                </a:extLst>
              </p:cNvPr>
              <p:cNvPicPr>
                <a:picLocks noGrp="1" noRot="1" noChangeAspect="1" noMove="1" noResize="1" noEditPoints="1" noAdjustHandles="1" noChangeArrowheads="1" noChangeShapeType="1" noCrop="1"/>
              </p:cNvPicPr>
              <p:nvPr/>
            </p:nvPicPr>
            <p:blipFill>
              <a:blip r:embed="rId6"/>
              <a:stretch>
                <a:fillRect/>
              </a:stretch>
            </p:blipFill>
            <p:spPr>
              <a:xfrm>
                <a:off x="2445793" y="-2471770"/>
                <a:ext cx="1898220" cy="2126007"/>
              </a:xfrm>
              <a:prstGeom prst="rect">
                <a:avLst/>
              </a:prstGeom>
            </p:spPr>
          </p:pic>
        </mc:Fallback>
      </mc:AlternateContent>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9" name="Rettangolo 8">
            <a:extLst>
              <a:ext uri="{FF2B5EF4-FFF2-40B4-BE49-F238E27FC236}">
                <a16:creationId xmlns:a16="http://schemas.microsoft.com/office/drawing/2014/main" id="{9BB7B84C-118F-4FE0-A903-6E9423FCB89E}"/>
              </a:ext>
            </a:extLst>
          </p:cNvPr>
          <p:cNvSpPr/>
          <p:nvPr/>
        </p:nvSpPr>
        <p:spPr>
          <a:xfrm>
            <a:off x="587506" y="4468125"/>
            <a:ext cx="11277600" cy="1200329"/>
          </a:xfrm>
          <a:prstGeom prst="rect">
            <a:avLst/>
          </a:prstGeom>
          <a:noFill/>
        </p:spPr>
        <p:txBody>
          <a:bodyPr wrap="square" lIns="91440" tIns="45720" rIns="91440" bIns="45720">
            <a:spAutoFit/>
          </a:bodyPr>
          <a:lstStyle/>
          <a:p>
            <a:pPr algn="ct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dx(y) = </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minv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c(</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x,v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dv(y) }</a:t>
            </a:r>
            <a:endParaRPr lang="it-IT"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pic>
        <p:nvPicPr>
          <p:cNvPr id="44" name="Immagine 43">
            <a:extLst>
              <a:ext uri="{FF2B5EF4-FFF2-40B4-BE49-F238E27FC236}">
                <a16:creationId xmlns:a16="http://schemas.microsoft.com/office/drawing/2014/main" id="{154739ED-A6D7-4625-A6BA-D61F8D91F104}"/>
              </a:ext>
            </a:extLst>
          </p:cNvPr>
          <p:cNvPicPr>
            <a:picLocks noChangeAspect="1"/>
          </p:cNvPicPr>
          <p:nvPr/>
        </p:nvPicPr>
        <p:blipFill>
          <a:blip r:embed="rId7"/>
          <a:stretch>
            <a:fillRect/>
          </a:stretch>
        </p:blipFill>
        <p:spPr>
          <a:xfrm>
            <a:off x="14864428" y="3938086"/>
            <a:ext cx="2822946" cy="1323579"/>
          </a:xfrm>
          <a:prstGeom prst="rect">
            <a:avLst/>
          </a:prstGeom>
        </p:spPr>
      </p:pic>
      <p:pic>
        <p:nvPicPr>
          <p:cNvPr id="45" name="Immagine 44">
            <a:extLst>
              <a:ext uri="{FF2B5EF4-FFF2-40B4-BE49-F238E27FC236}">
                <a16:creationId xmlns:a16="http://schemas.microsoft.com/office/drawing/2014/main" id="{73FD2796-7D3D-4281-B2E0-F794DBFFBF27}"/>
              </a:ext>
            </a:extLst>
          </p:cNvPr>
          <p:cNvPicPr>
            <a:picLocks noChangeAspect="1"/>
          </p:cNvPicPr>
          <p:nvPr/>
        </p:nvPicPr>
        <p:blipFill>
          <a:blip r:embed="rId8"/>
          <a:stretch>
            <a:fillRect/>
          </a:stretch>
        </p:blipFill>
        <p:spPr>
          <a:xfrm>
            <a:off x="14830330" y="5314597"/>
            <a:ext cx="2839995" cy="1269916"/>
          </a:xfrm>
          <a:prstGeom prst="rect">
            <a:avLst/>
          </a:prstGeom>
        </p:spPr>
      </p:pic>
      <p:cxnSp>
        <p:nvCxnSpPr>
          <p:cNvPr id="46" name="Connettore diritto 45">
            <a:extLst>
              <a:ext uri="{FF2B5EF4-FFF2-40B4-BE49-F238E27FC236}">
                <a16:creationId xmlns:a16="http://schemas.microsoft.com/office/drawing/2014/main" id="{951A2972-AA98-46A5-928C-D81267976627}"/>
              </a:ext>
            </a:extLst>
          </p:cNvPr>
          <p:cNvCxnSpPr>
            <a:cxnSpLocks/>
          </p:cNvCxnSpPr>
          <p:nvPr/>
        </p:nvCxnSpPr>
        <p:spPr>
          <a:xfrm flipH="1">
            <a:off x="19226706" y="6228133"/>
            <a:ext cx="13779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118FA1D3-966F-4EFD-A17E-681023A5F6DD}"/>
              </a:ext>
            </a:extLst>
          </p:cNvPr>
          <p:cNvCxnSpPr>
            <a:cxnSpLocks/>
          </p:cNvCxnSpPr>
          <p:nvPr/>
        </p:nvCxnSpPr>
        <p:spPr>
          <a:xfrm flipH="1" flipV="1">
            <a:off x="19953680" y="4799743"/>
            <a:ext cx="764781"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94F1EBA1-7C32-49B3-973F-AF648157E625}"/>
              </a:ext>
            </a:extLst>
          </p:cNvPr>
          <p:cNvCxnSpPr>
            <a:cxnSpLocks/>
          </p:cNvCxnSpPr>
          <p:nvPr/>
        </p:nvCxnSpPr>
        <p:spPr>
          <a:xfrm flipV="1">
            <a:off x="19054448" y="4799743"/>
            <a:ext cx="899232"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49" name="Modello 3D 48">
                <a:extLst>
                  <a:ext uri="{FF2B5EF4-FFF2-40B4-BE49-F238E27FC236}">
                    <a16:creationId xmlns:a16="http://schemas.microsoft.com/office/drawing/2014/main" id="{7C4C688B-90C8-4A98-BE4C-0174AE956CFA}"/>
                  </a:ext>
                </a:extLst>
              </p:cNvPr>
              <p:cNvGraphicFramePr>
                <a:graphicFrameLocks noChangeAspect="1"/>
              </p:cNvGraphicFramePr>
              <p:nvPr>
                <p:extLst>
                  <p:ext uri="{D42A27DB-BD31-4B8C-83A1-F6EECF244321}">
                    <p14:modId xmlns:p14="http://schemas.microsoft.com/office/powerpoint/2010/main" val="316993484"/>
                  </p:ext>
                </p:extLst>
              </p:nvPr>
            </p:nvGraphicFramePr>
            <p:xfrm>
              <a:off x="20494582" y="5490014"/>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9"/>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9" name="Modello 3D 48">
                <a:extLst>
                  <a:ext uri="{FF2B5EF4-FFF2-40B4-BE49-F238E27FC236}">
                    <a16:creationId xmlns:a16="http://schemas.microsoft.com/office/drawing/2014/main" id="{7C4C688B-90C8-4A98-BE4C-0174AE956CFA}"/>
                  </a:ext>
                </a:extLst>
              </p:cNvPr>
              <p:cNvPicPr>
                <a:picLocks noGrp="1" noRot="1" noChangeAspect="1" noMove="1" noResize="1" noEditPoints="1" noAdjustHandles="1" noChangeArrowheads="1" noChangeShapeType="1" noCrop="1"/>
              </p:cNvPicPr>
              <p:nvPr/>
            </p:nvPicPr>
            <p:blipFill>
              <a:blip r:embed="rId9"/>
              <a:stretch>
                <a:fillRect/>
              </a:stretch>
            </p:blipFill>
            <p:spPr>
              <a:xfrm>
                <a:off x="20494582" y="5490014"/>
                <a:ext cx="903926" cy="86448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0" name="Modello 3D 49">
                <a:extLst>
                  <a:ext uri="{FF2B5EF4-FFF2-40B4-BE49-F238E27FC236}">
                    <a16:creationId xmlns:a16="http://schemas.microsoft.com/office/drawing/2014/main" id="{5AEE8F2F-E1AF-4130-B917-8BBDE00138BE}"/>
                  </a:ext>
                </a:extLst>
              </p:cNvPr>
              <p:cNvGraphicFramePr>
                <a:graphicFrameLocks noChangeAspect="1"/>
              </p:cNvGraphicFramePr>
              <p:nvPr>
                <p:extLst>
                  <p:ext uri="{D42A27DB-BD31-4B8C-83A1-F6EECF244321}">
                    <p14:modId xmlns:p14="http://schemas.microsoft.com/office/powerpoint/2010/main" val="2215704056"/>
                  </p:ext>
                </p:extLst>
              </p:nvPr>
            </p:nvGraphicFramePr>
            <p:xfrm>
              <a:off x="18376259" y="5499515"/>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9"/>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0" name="Modello 3D 49">
                <a:extLst>
                  <a:ext uri="{FF2B5EF4-FFF2-40B4-BE49-F238E27FC236}">
                    <a16:creationId xmlns:a16="http://schemas.microsoft.com/office/drawing/2014/main" id="{5AEE8F2F-E1AF-4130-B917-8BBDE00138BE}"/>
                  </a:ext>
                </a:extLst>
              </p:cNvPr>
              <p:cNvPicPr>
                <a:picLocks noGrp="1" noRot="1" noChangeAspect="1" noMove="1" noResize="1" noEditPoints="1" noAdjustHandles="1" noChangeArrowheads="1" noChangeShapeType="1" noCrop="1"/>
              </p:cNvPicPr>
              <p:nvPr/>
            </p:nvPicPr>
            <p:blipFill>
              <a:blip r:embed="rId9"/>
              <a:stretch>
                <a:fillRect/>
              </a:stretch>
            </p:blipFill>
            <p:spPr>
              <a:xfrm>
                <a:off x="18376259" y="5499515"/>
                <a:ext cx="903926" cy="864481"/>
              </a:xfrm>
              <a:prstGeom prst="rect">
                <a:avLst/>
              </a:prstGeom>
            </p:spPr>
          </p:pic>
        </mc:Fallback>
      </mc:AlternateContent>
      <p:sp>
        <p:nvSpPr>
          <p:cNvPr id="51" name="CasellaDiTesto 50">
            <a:extLst>
              <a:ext uri="{FF2B5EF4-FFF2-40B4-BE49-F238E27FC236}">
                <a16:creationId xmlns:a16="http://schemas.microsoft.com/office/drawing/2014/main" id="{3C0A63CA-79E5-4529-8C37-285491996A38}"/>
              </a:ext>
            </a:extLst>
          </p:cNvPr>
          <p:cNvSpPr txBox="1"/>
          <p:nvPr/>
        </p:nvSpPr>
        <p:spPr>
          <a:xfrm>
            <a:off x="18676021" y="5756846"/>
            <a:ext cx="304892" cy="369332"/>
          </a:xfrm>
          <a:prstGeom prst="rect">
            <a:avLst/>
          </a:prstGeom>
          <a:noFill/>
        </p:spPr>
        <p:txBody>
          <a:bodyPr wrap="none" rtlCol="0">
            <a:spAutoFit/>
          </a:bodyPr>
          <a:lstStyle/>
          <a:p>
            <a:r>
              <a:rPr lang="en-US" dirty="0"/>
              <a:t>X</a:t>
            </a:r>
            <a:endParaRPr lang="it-IT" dirty="0"/>
          </a:p>
        </p:txBody>
      </p:sp>
      <p:sp>
        <p:nvSpPr>
          <p:cNvPr id="52" name="CasellaDiTesto 51">
            <a:extLst>
              <a:ext uri="{FF2B5EF4-FFF2-40B4-BE49-F238E27FC236}">
                <a16:creationId xmlns:a16="http://schemas.microsoft.com/office/drawing/2014/main" id="{824627E1-193B-4F8D-B180-17EB3F0A0E83}"/>
              </a:ext>
            </a:extLst>
          </p:cNvPr>
          <p:cNvSpPr txBox="1"/>
          <p:nvPr/>
        </p:nvSpPr>
        <p:spPr>
          <a:xfrm>
            <a:off x="20857615" y="5707366"/>
            <a:ext cx="292068" cy="369332"/>
          </a:xfrm>
          <a:prstGeom prst="rect">
            <a:avLst/>
          </a:prstGeom>
          <a:noFill/>
        </p:spPr>
        <p:txBody>
          <a:bodyPr wrap="none" rtlCol="0">
            <a:spAutoFit/>
          </a:bodyPr>
          <a:lstStyle/>
          <a:p>
            <a:r>
              <a:rPr lang="en-US" dirty="0"/>
              <a:t>Z</a:t>
            </a:r>
            <a:endParaRPr lang="it-IT" dirty="0"/>
          </a:p>
        </p:txBody>
      </p:sp>
      <p:sp>
        <p:nvSpPr>
          <p:cNvPr id="53" name="CasellaDiTesto 52">
            <a:extLst>
              <a:ext uri="{FF2B5EF4-FFF2-40B4-BE49-F238E27FC236}">
                <a16:creationId xmlns:a16="http://schemas.microsoft.com/office/drawing/2014/main" id="{017C846A-B07B-4A43-8162-42B99A9E8CF8}"/>
              </a:ext>
            </a:extLst>
          </p:cNvPr>
          <p:cNvSpPr txBox="1"/>
          <p:nvPr/>
        </p:nvSpPr>
        <p:spPr>
          <a:xfrm>
            <a:off x="19801234" y="4093230"/>
            <a:ext cx="304892" cy="369332"/>
          </a:xfrm>
          <a:prstGeom prst="rect">
            <a:avLst/>
          </a:prstGeom>
          <a:noFill/>
        </p:spPr>
        <p:txBody>
          <a:bodyPr wrap="none" rtlCol="0">
            <a:spAutoFit/>
          </a:bodyPr>
          <a:lstStyle/>
          <a:p>
            <a:r>
              <a:rPr lang="en-US" dirty="0"/>
              <a:t>Y</a:t>
            </a:r>
            <a:endParaRPr lang="it-IT" dirty="0"/>
          </a:p>
        </p:txBody>
      </p:sp>
      <p:sp>
        <p:nvSpPr>
          <p:cNvPr id="54" name="CasellaDiTesto 53">
            <a:extLst>
              <a:ext uri="{FF2B5EF4-FFF2-40B4-BE49-F238E27FC236}">
                <a16:creationId xmlns:a16="http://schemas.microsoft.com/office/drawing/2014/main" id="{ECAD2691-0A92-436C-8DA7-9790FAE154B5}"/>
              </a:ext>
            </a:extLst>
          </p:cNvPr>
          <p:cNvSpPr txBox="1"/>
          <p:nvPr/>
        </p:nvSpPr>
        <p:spPr>
          <a:xfrm>
            <a:off x="19202378" y="5159907"/>
            <a:ext cx="301686" cy="369332"/>
          </a:xfrm>
          <a:prstGeom prst="rect">
            <a:avLst/>
          </a:prstGeom>
          <a:noFill/>
        </p:spPr>
        <p:txBody>
          <a:bodyPr wrap="none" rtlCol="0">
            <a:spAutoFit/>
          </a:bodyPr>
          <a:lstStyle/>
          <a:p>
            <a:r>
              <a:rPr lang="en-US" dirty="0"/>
              <a:t>2</a:t>
            </a:r>
            <a:endParaRPr lang="it-IT" dirty="0"/>
          </a:p>
        </p:txBody>
      </p:sp>
      <p:sp>
        <p:nvSpPr>
          <p:cNvPr id="55" name="CasellaDiTesto 54">
            <a:extLst>
              <a:ext uri="{FF2B5EF4-FFF2-40B4-BE49-F238E27FC236}">
                <a16:creationId xmlns:a16="http://schemas.microsoft.com/office/drawing/2014/main" id="{315F92A5-C454-4579-A7F6-556C3A0AFBAC}"/>
              </a:ext>
            </a:extLst>
          </p:cNvPr>
          <p:cNvSpPr txBox="1"/>
          <p:nvPr/>
        </p:nvSpPr>
        <p:spPr>
          <a:xfrm>
            <a:off x="20302921" y="5176333"/>
            <a:ext cx="301686" cy="369332"/>
          </a:xfrm>
          <a:prstGeom prst="rect">
            <a:avLst/>
          </a:prstGeom>
          <a:noFill/>
        </p:spPr>
        <p:txBody>
          <a:bodyPr wrap="none" rtlCol="0">
            <a:spAutoFit/>
          </a:bodyPr>
          <a:lstStyle/>
          <a:p>
            <a:r>
              <a:rPr lang="en-US" dirty="0"/>
              <a:t>1</a:t>
            </a:r>
            <a:endParaRPr lang="it-IT" dirty="0"/>
          </a:p>
        </p:txBody>
      </p:sp>
      <p:sp>
        <p:nvSpPr>
          <p:cNvPr id="56" name="CasellaDiTesto 55">
            <a:extLst>
              <a:ext uri="{FF2B5EF4-FFF2-40B4-BE49-F238E27FC236}">
                <a16:creationId xmlns:a16="http://schemas.microsoft.com/office/drawing/2014/main" id="{DE131419-0919-46AF-B27B-49C2EFE52BD1}"/>
              </a:ext>
            </a:extLst>
          </p:cNvPr>
          <p:cNvSpPr txBox="1"/>
          <p:nvPr/>
        </p:nvSpPr>
        <p:spPr>
          <a:xfrm>
            <a:off x="19653771" y="6126178"/>
            <a:ext cx="304892" cy="369332"/>
          </a:xfrm>
          <a:prstGeom prst="rect">
            <a:avLst/>
          </a:prstGeom>
          <a:noFill/>
        </p:spPr>
        <p:txBody>
          <a:bodyPr wrap="none" rtlCol="0">
            <a:spAutoFit/>
          </a:bodyPr>
          <a:lstStyle/>
          <a:p>
            <a:r>
              <a:rPr lang="en-US" dirty="0"/>
              <a:t>7</a:t>
            </a:r>
            <a:endParaRPr lang="it-IT" dirty="0"/>
          </a:p>
        </p:txBody>
      </p:sp>
      <mc:AlternateContent xmlns:mc="http://schemas.openxmlformats.org/markup-compatibility/2006">
        <mc:Choice xmlns:am3d="http://schemas.microsoft.com/office/drawing/2017/model3d" Requires="am3d">
          <p:graphicFrame>
            <p:nvGraphicFramePr>
              <p:cNvPr id="57" name="Modello 3D 56">
                <a:extLst>
                  <a:ext uri="{FF2B5EF4-FFF2-40B4-BE49-F238E27FC236}">
                    <a16:creationId xmlns:a16="http://schemas.microsoft.com/office/drawing/2014/main" id="{6297A766-90B2-4D5E-91EA-23F1FB10B951}"/>
                  </a:ext>
                </a:extLst>
              </p:cNvPr>
              <p:cNvGraphicFramePr>
                <a:graphicFrameLocks noChangeAspect="1"/>
              </p:cNvGraphicFramePr>
              <p:nvPr>
                <p:extLst>
                  <p:ext uri="{D42A27DB-BD31-4B8C-83A1-F6EECF244321}">
                    <p14:modId xmlns:p14="http://schemas.microsoft.com/office/powerpoint/2010/main" val="4235101490"/>
                  </p:ext>
                </p:extLst>
              </p:nvPr>
            </p:nvGraphicFramePr>
            <p:xfrm>
              <a:off x="19501717" y="3935262"/>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9"/>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7" name="Modello 3D 56">
                <a:extLst>
                  <a:ext uri="{FF2B5EF4-FFF2-40B4-BE49-F238E27FC236}">
                    <a16:creationId xmlns:a16="http://schemas.microsoft.com/office/drawing/2014/main" id="{6297A766-90B2-4D5E-91EA-23F1FB10B951}"/>
                  </a:ext>
                </a:extLst>
              </p:cNvPr>
              <p:cNvPicPr>
                <a:picLocks noGrp="1" noRot="1" noChangeAspect="1" noMove="1" noResize="1" noEditPoints="1" noAdjustHandles="1" noChangeArrowheads="1" noChangeShapeType="1" noCrop="1"/>
              </p:cNvPicPr>
              <p:nvPr/>
            </p:nvPicPr>
            <p:blipFill>
              <a:blip r:embed="rId9"/>
              <a:stretch>
                <a:fillRect/>
              </a:stretch>
            </p:blipFill>
            <p:spPr>
              <a:xfrm>
                <a:off x="19501717" y="3935262"/>
                <a:ext cx="903926" cy="864481"/>
              </a:xfrm>
              <a:prstGeom prst="rect">
                <a:avLst/>
              </a:prstGeom>
            </p:spPr>
          </p:pic>
        </mc:Fallback>
      </mc:AlternateContent>
      <p:sp>
        <p:nvSpPr>
          <p:cNvPr id="58" name="CasellaDiTesto 57">
            <a:extLst>
              <a:ext uri="{FF2B5EF4-FFF2-40B4-BE49-F238E27FC236}">
                <a16:creationId xmlns:a16="http://schemas.microsoft.com/office/drawing/2014/main" id="{D5202C36-97A9-43F2-BAE9-F4F85350959E}"/>
              </a:ext>
            </a:extLst>
          </p:cNvPr>
          <p:cNvSpPr txBox="1"/>
          <p:nvPr/>
        </p:nvSpPr>
        <p:spPr>
          <a:xfrm>
            <a:off x="12456272" y="3838357"/>
            <a:ext cx="252663" cy="3108543"/>
          </a:xfrm>
          <a:prstGeom prst="rect">
            <a:avLst/>
          </a:prstGeom>
          <a:noFill/>
        </p:spPr>
        <p:txBody>
          <a:bodyPr wrap="square" rtlCol="0">
            <a:spAutoFit/>
          </a:bodyPr>
          <a:lstStyle/>
          <a:p>
            <a:r>
              <a:rPr lang="en-US" sz="2800" dirty="0">
                <a:solidFill>
                  <a:srgbClr val="3C6E71"/>
                </a:solidFill>
                <a:latin typeface="Bebas Neue" panose="020B0606020202050201" pitchFamily="34" charset="0"/>
              </a:rPr>
              <a:t>ESEMPIO</a:t>
            </a:r>
            <a:endParaRPr lang="it-IT" sz="28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487119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8EA47DB8-1DA6-4FBA-959E-279507B6120B}"/>
                  </a:ext>
                </a:extLst>
              </p:cNvPr>
              <p:cNvGraphicFramePr>
                <a:graphicFrameLocks noChangeAspect="1"/>
              </p:cNvGraphicFramePr>
              <p:nvPr/>
            </p:nvGraphicFramePr>
            <p:xfrm>
              <a:off x="8552364" y="2386477"/>
              <a:ext cx="845335" cy="827032"/>
            </p:xfrm>
            <a:graphic>
              <a:graphicData uri="http://schemas.microsoft.com/office/drawing/2017/model3d">
                <am3d:model3d r:embed="rId2">
                  <am3d:spPr>
                    <a:xfrm>
                      <a:off x="0" y="0"/>
                      <a:ext cx="845335" cy="8270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195951" ay="-148348" az="-2159473"/>
                    <am3d:postTrans dx="0" dy="0" dz="0"/>
                  </am3d:trans>
                  <am3d:raster rName="Office3DRenderer" rVer="16.0.8326">
                    <am3d:blip r:embed="rId3"/>
                  </am3d:raster>
                  <am3d:objViewport viewportSz="9135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8EA47DB8-1DA6-4FBA-959E-279507B6120B}"/>
                  </a:ext>
                </a:extLst>
              </p:cNvPr>
              <p:cNvPicPr>
                <a:picLocks noGrp="1" noRot="1" noChangeAspect="1" noMove="1" noResize="1" noEditPoints="1" noAdjustHandles="1" noChangeArrowheads="1" noChangeShapeType="1" noCrop="1"/>
              </p:cNvPicPr>
              <p:nvPr/>
            </p:nvPicPr>
            <p:blipFill>
              <a:blip r:embed="rId3"/>
              <a:stretch>
                <a:fillRect/>
              </a:stretch>
            </p:blipFill>
            <p:spPr>
              <a:xfrm>
                <a:off x="8552364" y="2386477"/>
                <a:ext cx="845335" cy="827032"/>
              </a:xfrm>
              <a:prstGeom prst="rect">
                <a:avLst/>
              </a:prstGeom>
            </p:spPr>
          </p:pic>
        </mc:Fallback>
      </mc:AlternateContent>
      <p:sp>
        <p:nvSpPr>
          <p:cNvPr id="16" name="Rettangolo 15">
            <a:extLst>
              <a:ext uri="{FF2B5EF4-FFF2-40B4-BE49-F238E27FC236}">
                <a16:creationId xmlns:a16="http://schemas.microsoft.com/office/drawing/2014/main" id="{9B4A4D05-A43C-48DD-B55C-CB317FF1DFAB}"/>
              </a:ext>
            </a:extLst>
          </p:cNvPr>
          <p:cNvSpPr/>
          <p:nvPr/>
        </p:nvSpPr>
        <p:spPr>
          <a:xfrm>
            <a:off x="0" y="-16288"/>
            <a:ext cx="12297508" cy="3737387"/>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F8FB0D5F-28E1-40C6-9C9C-0B76E83A185E}"/>
              </a:ext>
            </a:extLst>
          </p:cNvPr>
          <p:cNvSpPr txBox="1"/>
          <p:nvPr/>
        </p:nvSpPr>
        <p:spPr>
          <a:xfrm>
            <a:off x="1375752" y="1039286"/>
            <a:ext cx="10126296" cy="1754326"/>
          </a:xfrm>
          <a:prstGeom prst="rect">
            <a:avLst/>
          </a:prstGeom>
          <a:noFill/>
        </p:spPr>
        <p:txBody>
          <a:bodyPr wrap="square">
            <a:spAutoFit/>
          </a:bodyPr>
          <a:lstStyle/>
          <a:p>
            <a:r>
              <a:rPr lang="it-IT" b="1" dirty="0">
                <a:solidFill>
                  <a:schemeClr val="bg1"/>
                </a:solidFill>
                <a:latin typeface="Corbel Light" panose="020B0303020204020204" pitchFamily="34" charset="0"/>
              </a:rPr>
              <a:t>Il funzionamento di base </a:t>
            </a:r>
            <a:r>
              <a:rPr lang="it-IT" dirty="0">
                <a:solidFill>
                  <a:schemeClr val="bg1"/>
                </a:solidFill>
                <a:latin typeface="Corbel Light" panose="020B0303020204020204" pitchFamily="34" charset="0"/>
              </a:rPr>
              <a:t>è quello che inizialmente ogni router imposta a 0 il costo per raggiungere se stesso e calcola i costi solo per i router direttamente adiacenti. Tutti gli altri non direttamente collegati vengono impostati con un costo infinito. Poi attraverso i vari </a:t>
            </a:r>
            <a:r>
              <a:rPr lang="it-IT" dirty="0" err="1">
                <a:solidFill>
                  <a:schemeClr val="bg1"/>
                </a:solidFill>
                <a:latin typeface="Corbel Light" panose="020B0303020204020204" pitchFamily="34" charset="0"/>
              </a:rPr>
              <a:t>Distance</a:t>
            </a:r>
            <a:r>
              <a:rPr lang="it-IT" dirty="0">
                <a:solidFill>
                  <a:schemeClr val="bg1"/>
                </a:solidFill>
                <a:latin typeface="Corbel Light" panose="020B0303020204020204" pitchFamily="34" charset="0"/>
              </a:rPr>
              <a:t> </a:t>
            </a:r>
            <a:r>
              <a:rPr lang="it-IT" dirty="0" err="1">
                <a:solidFill>
                  <a:schemeClr val="bg1"/>
                </a:solidFill>
                <a:latin typeface="Corbel Light" panose="020B0303020204020204" pitchFamily="34" charset="0"/>
              </a:rPr>
              <a:t>Vector</a:t>
            </a:r>
            <a:r>
              <a:rPr lang="it-IT" dirty="0">
                <a:solidFill>
                  <a:schemeClr val="bg1"/>
                </a:solidFill>
                <a:latin typeface="Corbel Light" panose="020B0303020204020204" pitchFamily="34" charset="0"/>
              </a:rPr>
              <a:t>, tutti i router si scambiano informazioni e attraverso la formula ﻿di </a:t>
            </a:r>
            <a:r>
              <a:rPr lang="it-IT" dirty="0" err="1">
                <a:solidFill>
                  <a:schemeClr val="bg1"/>
                </a:solidFill>
                <a:latin typeface="Corbel Light" panose="020B0303020204020204" pitchFamily="34" charset="0"/>
              </a:rPr>
              <a:t>Bellman</a:t>
            </a:r>
            <a:r>
              <a:rPr lang="it-IT" dirty="0">
                <a:solidFill>
                  <a:schemeClr val="bg1"/>
                </a:solidFill>
                <a:latin typeface="Corbel Light" panose="020B0303020204020204" pitchFamily="34" charset="0"/>
              </a:rPr>
              <a:t>-Ford, si calcolano i percorsi migliori in un numero tale di iterazioni che permetta a tutti i router di convergere alla stessa tabella delle distanze. Fatto questo ogni router costruisce la propria routing </a:t>
            </a:r>
            <a:r>
              <a:rPr lang="it-IT" dirty="0" err="1">
                <a:solidFill>
                  <a:schemeClr val="bg1"/>
                </a:solidFill>
                <a:latin typeface="Corbel Light" panose="020B0303020204020204" pitchFamily="34" charset="0"/>
              </a:rPr>
              <a:t>table</a:t>
            </a:r>
            <a:r>
              <a:rPr lang="it-IT" dirty="0">
                <a:solidFill>
                  <a:schemeClr val="bg1"/>
                </a:solidFill>
                <a:latin typeface="Corbel Light" panose="020B0303020204020204" pitchFamily="34" charset="0"/>
              </a:rPr>
              <a:t>.</a:t>
            </a:r>
          </a:p>
        </p:txBody>
      </p:sp>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9" name="Rettangolo 8">
            <a:extLst>
              <a:ext uri="{FF2B5EF4-FFF2-40B4-BE49-F238E27FC236}">
                <a16:creationId xmlns:a16="http://schemas.microsoft.com/office/drawing/2014/main" id="{9BB7B84C-118F-4FE0-A903-6E9423FCB89E}"/>
              </a:ext>
            </a:extLst>
          </p:cNvPr>
          <p:cNvSpPr/>
          <p:nvPr/>
        </p:nvSpPr>
        <p:spPr>
          <a:xfrm>
            <a:off x="-11553694" y="4451380"/>
            <a:ext cx="11277600" cy="1200329"/>
          </a:xfrm>
          <a:prstGeom prst="rect">
            <a:avLst/>
          </a:prstGeom>
          <a:noFill/>
        </p:spPr>
        <p:txBody>
          <a:bodyPr wrap="square" lIns="91440" tIns="45720" rIns="91440" bIns="45720">
            <a:spAutoFit/>
          </a:bodyPr>
          <a:lstStyle/>
          <a:p>
            <a:pPr algn="ct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dx(y) = </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minv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c(</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x,v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dv(y) }</a:t>
            </a:r>
            <a:endParaRPr lang="it-IT"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pic>
        <p:nvPicPr>
          <p:cNvPr id="11" name="Immagine 10">
            <a:extLst>
              <a:ext uri="{FF2B5EF4-FFF2-40B4-BE49-F238E27FC236}">
                <a16:creationId xmlns:a16="http://schemas.microsoft.com/office/drawing/2014/main" id="{72890B16-E045-4C6D-8D8C-A09630A63404}"/>
              </a:ext>
            </a:extLst>
          </p:cNvPr>
          <p:cNvPicPr>
            <a:picLocks noChangeAspect="1"/>
          </p:cNvPicPr>
          <p:nvPr/>
        </p:nvPicPr>
        <p:blipFill>
          <a:blip r:embed="rId4"/>
          <a:stretch>
            <a:fillRect/>
          </a:stretch>
        </p:blipFill>
        <p:spPr>
          <a:xfrm>
            <a:off x="2469228" y="3849186"/>
            <a:ext cx="2822946" cy="1323579"/>
          </a:xfrm>
          <a:prstGeom prst="rect">
            <a:avLst/>
          </a:prstGeom>
        </p:spPr>
      </p:pic>
      <p:pic>
        <p:nvPicPr>
          <p:cNvPr id="12" name="Immagine 11">
            <a:extLst>
              <a:ext uri="{FF2B5EF4-FFF2-40B4-BE49-F238E27FC236}">
                <a16:creationId xmlns:a16="http://schemas.microsoft.com/office/drawing/2014/main" id="{C1521FD2-33B6-47A4-A406-B51655EE90BE}"/>
              </a:ext>
            </a:extLst>
          </p:cNvPr>
          <p:cNvPicPr>
            <a:picLocks noChangeAspect="1"/>
          </p:cNvPicPr>
          <p:nvPr/>
        </p:nvPicPr>
        <p:blipFill>
          <a:blip r:embed="rId5"/>
          <a:stretch>
            <a:fillRect/>
          </a:stretch>
        </p:blipFill>
        <p:spPr>
          <a:xfrm>
            <a:off x="2435130" y="5225697"/>
            <a:ext cx="2839995" cy="1269916"/>
          </a:xfrm>
          <a:prstGeom prst="rect">
            <a:avLst/>
          </a:prstGeom>
        </p:spPr>
      </p:pic>
      <p:cxnSp>
        <p:nvCxnSpPr>
          <p:cNvPr id="13" name="Connettore diritto 12">
            <a:extLst>
              <a:ext uri="{FF2B5EF4-FFF2-40B4-BE49-F238E27FC236}">
                <a16:creationId xmlns:a16="http://schemas.microsoft.com/office/drawing/2014/main" id="{D154BBCA-A9F5-4B22-BE7C-EF4A32DCFC50}"/>
              </a:ext>
            </a:extLst>
          </p:cNvPr>
          <p:cNvCxnSpPr>
            <a:cxnSpLocks/>
          </p:cNvCxnSpPr>
          <p:nvPr/>
        </p:nvCxnSpPr>
        <p:spPr>
          <a:xfrm flipH="1">
            <a:off x="9077401" y="6065180"/>
            <a:ext cx="13779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diritto 13">
            <a:extLst>
              <a:ext uri="{FF2B5EF4-FFF2-40B4-BE49-F238E27FC236}">
                <a16:creationId xmlns:a16="http://schemas.microsoft.com/office/drawing/2014/main" id="{FB343CAA-4E80-4615-878E-8FF314B88A73}"/>
              </a:ext>
            </a:extLst>
          </p:cNvPr>
          <p:cNvCxnSpPr>
            <a:cxnSpLocks/>
          </p:cNvCxnSpPr>
          <p:nvPr/>
        </p:nvCxnSpPr>
        <p:spPr>
          <a:xfrm flipH="1" flipV="1">
            <a:off x="9804375" y="4636790"/>
            <a:ext cx="764781"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ttore diritto 16">
            <a:extLst>
              <a:ext uri="{FF2B5EF4-FFF2-40B4-BE49-F238E27FC236}">
                <a16:creationId xmlns:a16="http://schemas.microsoft.com/office/drawing/2014/main" id="{9EBCBFF6-66A1-4928-A3C2-BDB728B5DB55}"/>
              </a:ext>
            </a:extLst>
          </p:cNvPr>
          <p:cNvCxnSpPr>
            <a:cxnSpLocks/>
          </p:cNvCxnSpPr>
          <p:nvPr/>
        </p:nvCxnSpPr>
        <p:spPr>
          <a:xfrm flipV="1">
            <a:off x="8905143" y="4636790"/>
            <a:ext cx="899232"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18" name="Modello 3D 17">
                <a:extLst>
                  <a:ext uri="{FF2B5EF4-FFF2-40B4-BE49-F238E27FC236}">
                    <a16:creationId xmlns:a16="http://schemas.microsoft.com/office/drawing/2014/main" id="{CA40D037-058F-40C4-9754-CBC2F4A82A81}"/>
                  </a:ext>
                </a:extLst>
              </p:cNvPr>
              <p:cNvGraphicFramePr>
                <a:graphicFrameLocks noChangeAspect="1"/>
              </p:cNvGraphicFramePr>
              <p:nvPr>
                <p:extLst>
                  <p:ext uri="{D42A27DB-BD31-4B8C-83A1-F6EECF244321}">
                    <p14:modId xmlns:p14="http://schemas.microsoft.com/office/powerpoint/2010/main" val="535614135"/>
                  </p:ext>
                </p:extLst>
              </p:nvPr>
            </p:nvGraphicFramePr>
            <p:xfrm>
              <a:off x="10345277" y="5327061"/>
              <a:ext cx="903926" cy="864481"/>
            </p:xfrm>
            <a:graphic>
              <a:graphicData uri="http://schemas.microsoft.com/office/drawing/2017/model3d">
                <am3d:model3d r:embed="rId6">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7"/>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Modello 3D 17">
                <a:extLst>
                  <a:ext uri="{FF2B5EF4-FFF2-40B4-BE49-F238E27FC236}">
                    <a16:creationId xmlns:a16="http://schemas.microsoft.com/office/drawing/2014/main" id="{CA40D037-058F-40C4-9754-CBC2F4A82A81}"/>
                  </a:ext>
                </a:extLst>
              </p:cNvPr>
              <p:cNvPicPr>
                <a:picLocks noGrp="1" noRot="1" noChangeAspect="1" noMove="1" noResize="1" noEditPoints="1" noAdjustHandles="1" noChangeArrowheads="1" noChangeShapeType="1" noCrop="1"/>
              </p:cNvPicPr>
              <p:nvPr/>
            </p:nvPicPr>
            <p:blipFill>
              <a:blip r:embed="rId7"/>
              <a:stretch>
                <a:fillRect/>
              </a:stretch>
            </p:blipFill>
            <p:spPr>
              <a:xfrm>
                <a:off x="10345277" y="5327061"/>
                <a:ext cx="903926" cy="86448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9" name="Modello 3D 18">
                <a:extLst>
                  <a:ext uri="{FF2B5EF4-FFF2-40B4-BE49-F238E27FC236}">
                    <a16:creationId xmlns:a16="http://schemas.microsoft.com/office/drawing/2014/main" id="{36BEBB78-D378-4C9F-B4D1-61D84EE54847}"/>
                  </a:ext>
                </a:extLst>
              </p:cNvPr>
              <p:cNvGraphicFramePr>
                <a:graphicFrameLocks noChangeAspect="1"/>
              </p:cNvGraphicFramePr>
              <p:nvPr>
                <p:extLst>
                  <p:ext uri="{D42A27DB-BD31-4B8C-83A1-F6EECF244321}">
                    <p14:modId xmlns:p14="http://schemas.microsoft.com/office/powerpoint/2010/main" val="960857980"/>
                  </p:ext>
                </p:extLst>
              </p:nvPr>
            </p:nvGraphicFramePr>
            <p:xfrm>
              <a:off x="8226954" y="5336562"/>
              <a:ext cx="903926" cy="864481"/>
            </p:xfrm>
            <a:graphic>
              <a:graphicData uri="http://schemas.microsoft.com/office/drawing/2017/model3d">
                <am3d:model3d r:embed="rId6">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7"/>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lo 3D 18">
                <a:extLst>
                  <a:ext uri="{FF2B5EF4-FFF2-40B4-BE49-F238E27FC236}">
                    <a16:creationId xmlns:a16="http://schemas.microsoft.com/office/drawing/2014/main" id="{36BEBB78-D378-4C9F-B4D1-61D84EE54847}"/>
                  </a:ext>
                </a:extLst>
              </p:cNvPr>
              <p:cNvPicPr>
                <a:picLocks noGrp="1" noRot="1" noChangeAspect="1" noMove="1" noResize="1" noEditPoints="1" noAdjustHandles="1" noChangeArrowheads="1" noChangeShapeType="1" noCrop="1"/>
              </p:cNvPicPr>
              <p:nvPr/>
            </p:nvPicPr>
            <p:blipFill>
              <a:blip r:embed="rId7"/>
              <a:stretch>
                <a:fillRect/>
              </a:stretch>
            </p:blipFill>
            <p:spPr>
              <a:xfrm>
                <a:off x="8226954" y="5336562"/>
                <a:ext cx="903926" cy="864481"/>
              </a:xfrm>
              <a:prstGeom prst="rect">
                <a:avLst/>
              </a:prstGeom>
            </p:spPr>
          </p:pic>
        </mc:Fallback>
      </mc:AlternateContent>
      <p:sp>
        <p:nvSpPr>
          <p:cNvPr id="24" name="CasellaDiTesto 23">
            <a:extLst>
              <a:ext uri="{FF2B5EF4-FFF2-40B4-BE49-F238E27FC236}">
                <a16:creationId xmlns:a16="http://schemas.microsoft.com/office/drawing/2014/main" id="{5F175ED8-47EA-43C5-8561-742F1CAC8ED4}"/>
              </a:ext>
            </a:extLst>
          </p:cNvPr>
          <p:cNvSpPr txBox="1"/>
          <p:nvPr/>
        </p:nvSpPr>
        <p:spPr>
          <a:xfrm>
            <a:off x="8526716" y="5593893"/>
            <a:ext cx="304892" cy="369332"/>
          </a:xfrm>
          <a:prstGeom prst="rect">
            <a:avLst/>
          </a:prstGeom>
          <a:noFill/>
        </p:spPr>
        <p:txBody>
          <a:bodyPr wrap="none" rtlCol="0">
            <a:spAutoFit/>
          </a:bodyPr>
          <a:lstStyle/>
          <a:p>
            <a:r>
              <a:rPr lang="en-US" dirty="0"/>
              <a:t>X</a:t>
            </a:r>
            <a:endParaRPr lang="it-IT" dirty="0"/>
          </a:p>
        </p:txBody>
      </p:sp>
      <p:sp>
        <p:nvSpPr>
          <p:cNvPr id="25" name="CasellaDiTesto 24">
            <a:extLst>
              <a:ext uri="{FF2B5EF4-FFF2-40B4-BE49-F238E27FC236}">
                <a16:creationId xmlns:a16="http://schemas.microsoft.com/office/drawing/2014/main" id="{CB30E238-46EA-458C-AD6C-D387EC216D58}"/>
              </a:ext>
            </a:extLst>
          </p:cNvPr>
          <p:cNvSpPr txBox="1"/>
          <p:nvPr/>
        </p:nvSpPr>
        <p:spPr>
          <a:xfrm>
            <a:off x="10708310" y="5544413"/>
            <a:ext cx="292068" cy="369332"/>
          </a:xfrm>
          <a:prstGeom prst="rect">
            <a:avLst/>
          </a:prstGeom>
          <a:noFill/>
        </p:spPr>
        <p:txBody>
          <a:bodyPr wrap="none" rtlCol="0">
            <a:spAutoFit/>
          </a:bodyPr>
          <a:lstStyle/>
          <a:p>
            <a:r>
              <a:rPr lang="en-US" dirty="0"/>
              <a:t>Z</a:t>
            </a:r>
            <a:endParaRPr lang="it-IT" dirty="0"/>
          </a:p>
        </p:txBody>
      </p:sp>
      <p:sp>
        <p:nvSpPr>
          <p:cNvPr id="26" name="CasellaDiTesto 25">
            <a:extLst>
              <a:ext uri="{FF2B5EF4-FFF2-40B4-BE49-F238E27FC236}">
                <a16:creationId xmlns:a16="http://schemas.microsoft.com/office/drawing/2014/main" id="{E496E5EB-2082-48C2-8673-C6A00F8D52F5}"/>
              </a:ext>
            </a:extLst>
          </p:cNvPr>
          <p:cNvSpPr txBox="1"/>
          <p:nvPr/>
        </p:nvSpPr>
        <p:spPr>
          <a:xfrm>
            <a:off x="9651929" y="3930277"/>
            <a:ext cx="304892" cy="369332"/>
          </a:xfrm>
          <a:prstGeom prst="rect">
            <a:avLst/>
          </a:prstGeom>
          <a:noFill/>
        </p:spPr>
        <p:txBody>
          <a:bodyPr wrap="none" rtlCol="0">
            <a:spAutoFit/>
          </a:bodyPr>
          <a:lstStyle/>
          <a:p>
            <a:r>
              <a:rPr lang="en-US" dirty="0"/>
              <a:t>Y</a:t>
            </a:r>
            <a:endParaRPr lang="it-IT" dirty="0"/>
          </a:p>
        </p:txBody>
      </p:sp>
      <p:sp>
        <p:nvSpPr>
          <p:cNvPr id="27" name="CasellaDiTesto 26">
            <a:extLst>
              <a:ext uri="{FF2B5EF4-FFF2-40B4-BE49-F238E27FC236}">
                <a16:creationId xmlns:a16="http://schemas.microsoft.com/office/drawing/2014/main" id="{6F46809F-738D-4987-A8EA-2F69DE2C1A4D}"/>
              </a:ext>
            </a:extLst>
          </p:cNvPr>
          <p:cNvSpPr txBox="1"/>
          <p:nvPr/>
        </p:nvSpPr>
        <p:spPr>
          <a:xfrm>
            <a:off x="9053073" y="4996954"/>
            <a:ext cx="301686" cy="369332"/>
          </a:xfrm>
          <a:prstGeom prst="rect">
            <a:avLst/>
          </a:prstGeom>
          <a:noFill/>
        </p:spPr>
        <p:txBody>
          <a:bodyPr wrap="none" rtlCol="0">
            <a:spAutoFit/>
          </a:bodyPr>
          <a:lstStyle/>
          <a:p>
            <a:r>
              <a:rPr lang="en-US" dirty="0"/>
              <a:t>2</a:t>
            </a:r>
            <a:endParaRPr lang="it-IT" dirty="0"/>
          </a:p>
        </p:txBody>
      </p:sp>
      <p:sp>
        <p:nvSpPr>
          <p:cNvPr id="28" name="CasellaDiTesto 27">
            <a:extLst>
              <a:ext uri="{FF2B5EF4-FFF2-40B4-BE49-F238E27FC236}">
                <a16:creationId xmlns:a16="http://schemas.microsoft.com/office/drawing/2014/main" id="{EF75EC89-EEEA-460E-83DB-2B7215F3DED6}"/>
              </a:ext>
            </a:extLst>
          </p:cNvPr>
          <p:cNvSpPr txBox="1"/>
          <p:nvPr/>
        </p:nvSpPr>
        <p:spPr>
          <a:xfrm>
            <a:off x="10153616" y="5013380"/>
            <a:ext cx="301686" cy="369332"/>
          </a:xfrm>
          <a:prstGeom prst="rect">
            <a:avLst/>
          </a:prstGeom>
          <a:noFill/>
        </p:spPr>
        <p:txBody>
          <a:bodyPr wrap="none" rtlCol="0">
            <a:spAutoFit/>
          </a:bodyPr>
          <a:lstStyle/>
          <a:p>
            <a:r>
              <a:rPr lang="en-US" dirty="0"/>
              <a:t>1</a:t>
            </a:r>
            <a:endParaRPr lang="it-IT" dirty="0"/>
          </a:p>
        </p:txBody>
      </p:sp>
      <p:sp>
        <p:nvSpPr>
          <p:cNvPr id="29" name="CasellaDiTesto 28">
            <a:extLst>
              <a:ext uri="{FF2B5EF4-FFF2-40B4-BE49-F238E27FC236}">
                <a16:creationId xmlns:a16="http://schemas.microsoft.com/office/drawing/2014/main" id="{997D1CCD-786B-4012-80D2-98BB5AF1A8C0}"/>
              </a:ext>
            </a:extLst>
          </p:cNvPr>
          <p:cNvSpPr txBox="1"/>
          <p:nvPr/>
        </p:nvSpPr>
        <p:spPr>
          <a:xfrm>
            <a:off x="9504466" y="5963225"/>
            <a:ext cx="304892" cy="369332"/>
          </a:xfrm>
          <a:prstGeom prst="rect">
            <a:avLst/>
          </a:prstGeom>
          <a:noFill/>
        </p:spPr>
        <p:txBody>
          <a:bodyPr wrap="none" rtlCol="0">
            <a:spAutoFit/>
          </a:bodyPr>
          <a:lstStyle/>
          <a:p>
            <a:r>
              <a:rPr lang="en-US" dirty="0"/>
              <a:t>7</a:t>
            </a:r>
            <a:endParaRPr lang="it-IT" dirty="0"/>
          </a:p>
        </p:txBody>
      </p:sp>
      <mc:AlternateContent xmlns:mc="http://schemas.openxmlformats.org/markup-compatibility/2006">
        <mc:Choice xmlns:am3d="http://schemas.microsoft.com/office/drawing/2017/model3d" Requires="am3d">
          <p:graphicFrame>
            <p:nvGraphicFramePr>
              <p:cNvPr id="41" name="Modello 3D 40">
                <a:extLst>
                  <a:ext uri="{FF2B5EF4-FFF2-40B4-BE49-F238E27FC236}">
                    <a16:creationId xmlns:a16="http://schemas.microsoft.com/office/drawing/2014/main" id="{9D6F4C37-A541-4541-82E9-9FE3A9893E62}"/>
                  </a:ext>
                </a:extLst>
              </p:cNvPr>
              <p:cNvGraphicFramePr>
                <a:graphicFrameLocks noChangeAspect="1"/>
              </p:cNvGraphicFramePr>
              <p:nvPr>
                <p:extLst>
                  <p:ext uri="{D42A27DB-BD31-4B8C-83A1-F6EECF244321}">
                    <p14:modId xmlns:p14="http://schemas.microsoft.com/office/powerpoint/2010/main" val="1224905952"/>
                  </p:ext>
                </p:extLst>
              </p:nvPr>
            </p:nvGraphicFramePr>
            <p:xfrm>
              <a:off x="9352412" y="3772309"/>
              <a:ext cx="903926" cy="864481"/>
            </p:xfrm>
            <a:graphic>
              <a:graphicData uri="http://schemas.microsoft.com/office/drawing/2017/model3d">
                <am3d:model3d r:embed="rId6">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7"/>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1" name="Modello 3D 40">
                <a:extLst>
                  <a:ext uri="{FF2B5EF4-FFF2-40B4-BE49-F238E27FC236}">
                    <a16:creationId xmlns:a16="http://schemas.microsoft.com/office/drawing/2014/main" id="{9D6F4C37-A541-4541-82E9-9FE3A9893E62}"/>
                  </a:ext>
                </a:extLst>
              </p:cNvPr>
              <p:cNvPicPr>
                <a:picLocks noGrp="1" noRot="1" noChangeAspect="1" noMove="1" noResize="1" noEditPoints="1" noAdjustHandles="1" noChangeArrowheads="1" noChangeShapeType="1" noCrop="1"/>
              </p:cNvPicPr>
              <p:nvPr/>
            </p:nvPicPr>
            <p:blipFill>
              <a:blip r:embed="rId7"/>
              <a:stretch>
                <a:fillRect/>
              </a:stretch>
            </p:blipFill>
            <p:spPr>
              <a:xfrm>
                <a:off x="9352412" y="3772309"/>
                <a:ext cx="903926" cy="864481"/>
              </a:xfrm>
              <a:prstGeom prst="rect">
                <a:avLst/>
              </a:prstGeom>
            </p:spPr>
          </p:pic>
        </mc:Fallback>
      </mc:AlternateContent>
      <p:sp>
        <p:nvSpPr>
          <p:cNvPr id="3" name="CasellaDiTesto 2">
            <a:extLst>
              <a:ext uri="{FF2B5EF4-FFF2-40B4-BE49-F238E27FC236}">
                <a16:creationId xmlns:a16="http://schemas.microsoft.com/office/drawing/2014/main" id="{8EC69715-4377-4326-ADEE-AE5D98D66E02}"/>
              </a:ext>
            </a:extLst>
          </p:cNvPr>
          <p:cNvSpPr txBox="1"/>
          <p:nvPr/>
        </p:nvSpPr>
        <p:spPr>
          <a:xfrm>
            <a:off x="61072" y="3749457"/>
            <a:ext cx="252663" cy="3108543"/>
          </a:xfrm>
          <a:prstGeom prst="rect">
            <a:avLst/>
          </a:prstGeom>
          <a:noFill/>
        </p:spPr>
        <p:txBody>
          <a:bodyPr wrap="square" rtlCol="0">
            <a:spAutoFit/>
          </a:bodyPr>
          <a:lstStyle/>
          <a:p>
            <a:r>
              <a:rPr lang="en-US" sz="2800" dirty="0">
                <a:solidFill>
                  <a:srgbClr val="3C6E71"/>
                </a:solidFill>
                <a:latin typeface="Bebas Neue" panose="020B0606020202050201" pitchFamily="34" charset="0"/>
              </a:rPr>
              <a:t>ESEMPIO</a:t>
            </a:r>
            <a:endParaRPr lang="it-IT" sz="28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81647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8EA47DB8-1DA6-4FBA-959E-279507B6120B}"/>
                  </a:ext>
                </a:extLst>
              </p:cNvPr>
              <p:cNvGraphicFramePr>
                <a:graphicFrameLocks noChangeAspect="1"/>
              </p:cNvGraphicFramePr>
              <p:nvPr/>
            </p:nvGraphicFramePr>
            <p:xfrm>
              <a:off x="8552364" y="2386477"/>
              <a:ext cx="845335" cy="827032"/>
            </p:xfrm>
            <a:graphic>
              <a:graphicData uri="http://schemas.microsoft.com/office/drawing/2017/model3d">
                <am3d:model3d r:embed="rId2">
                  <am3d:spPr>
                    <a:xfrm>
                      <a:off x="0" y="0"/>
                      <a:ext cx="845335" cy="8270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195951" ay="-148348" az="-2159473"/>
                    <am3d:postTrans dx="0" dy="0" dz="0"/>
                  </am3d:trans>
                  <am3d:raster rName="Office3DRenderer" rVer="16.0.8326">
                    <am3d:blip r:embed="rId3"/>
                  </am3d:raster>
                  <am3d:objViewport viewportSz="9135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8EA47DB8-1DA6-4FBA-959E-279507B6120B}"/>
                  </a:ext>
                </a:extLst>
              </p:cNvPr>
              <p:cNvPicPr>
                <a:picLocks noGrp="1" noRot="1" noChangeAspect="1" noMove="1" noResize="1" noEditPoints="1" noAdjustHandles="1" noChangeArrowheads="1" noChangeShapeType="1" noCrop="1"/>
              </p:cNvPicPr>
              <p:nvPr/>
            </p:nvPicPr>
            <p:blipFill>
              <a:blip r:embed="rId3"/>
              <a:stretch>
                <a:fillRect/>
              </a:stretch>
            </p:blipFill>
            <p:spPr>
              <a:xfrm>
                <a:off x="8552364" y="2386477"/>
                <a:ext cx="845335" cy="827032"/>
              </a:xfrm>
              <a:prstGeom prst="rect">
                <a:avLst/>
              </a:prstGeom>
            </p:spPr>
          </p:pic>
        </mc:Fallback>
      </mc:AlternateContent>
      <p:sp>
        <p:nvSpPr>
          <p:cNvPr id="16" name="Rettangolo 15">
            <a:extLst>
              <a:ext uri="{FF2B5EF4-FFF2-40B4-BE49-F238E27FC236}">
                <a16:creationId xmlns:a16="http://schemas.microsoft.com/office/drawing/2014/main" id="{9B4A4D05-A43C-48DD-B55C-CB317FF1DFAB}"/>
              </a:ext>
            </a:extLst>
          </p:cNvPr>
          <p:cNvSpPr/>
          <p:nvPr/>
        </p:nvSpPr>
        <p:spPr>
          <a:xfrm>
            <a:off x="0" y="-16288"/>
            <a:ext cx="12297508" cy="687428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9" name="Rettangolo 8">
            <a:extLst>
              <a:ext uri="{FF2B5EF4-FFF2-40B4-BE49-F238E27FC236}">
                <a16:creationId xmlns:a16="http://schemas.microsoft.com/office/drawing/2014/main" id="{9BB7B84C-118F-4FE0-A903-6E9423FCB89E}"/>
              </a:ext>
            </a:extLst>
          </p:cNvPr>
          <p:cNvSpPr/>
          <p:nvPr/>
        </p:nvSpPr>
        <p:spPr>
          <a:xfrm>
            <a:off x="-11553694" y="4451380"/>
            <a:ext cx="11277600" cy="1200329"/>
          </a:xfrm>
          <a:prstGeom prst="rect">
            <a:avLst/>
          </a:prstGeom>
          <a:noFill/>
        </p:spPr>
        <p:txBody>
          <a:bodyPr wrap="square" lIns="91440" tIns="45720" rIns="91440" bIns="45720">
            <a:spAutoFit/>
          </a:bodyPr>
          <a:lstStyle/>
          <a:p>
            <a:pPr algn="ct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dx(y) = </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minv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c(</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x,v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dv(y) }</a:t>
            </a:r>
            <a:endParaRPr lang="it-IT"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3" name="Connettore diritto 12">
            <a:extLst>
              <a:ext uri="{FF2B5EF4-FFF2-40B4-BE49-F238E27FC236}">
                <a16:creationId xmlns:a16="http://schemas.microsoft.com/office/drawing/2014/main" id="{D154BBCA-A9F5-4B22-BE7C-EF4A32DCFC50}"/>
              </a:ext>
            </a:extLst>
          </p:cNvPr>
          <p:cNvCxnSpPr>
            <a:cxnSpLocks/>
          </p:cNvCxnSpPr>
          <p:nvPr/>
        </p:nvCxnSpPr>
        <p:spPr>
          <a:xfrm flipH="1">
            <a:off x="5790737" y="4587305"/>
            <a:ext cx="13779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diritto 13">
            <a:extLst>
              <a:ext uri="{FF2B5EF4-FFF2-40B4-BE49-F238E27FC236}">
                <a16:creationId xmlns:a16="http://schemas.microsoft.com/office/drawing/2014/main" id="{FB343CAA-4E80-4615-878E-8FF314B88A73}"/>
              </a:ext>
            </a:extLst>
          </p:cNvPr>
          <p:cNvCxnSpPr>
            <a:cxnSpLocks/>
          </p:cNvCxnSpPr>
          <p:nvPr/>
        </p:nvCxnSpPr>
        <p:spPr>
          <a:xfrm flipH="1" flipV="1">
            <a:off x="6517711" y="3158915"/>
            <a:ext cx="764781"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ttore diritto 16">
            <a:extLst>
              <a:ext uri="{FF2B5EF4-FFF2-40B4-BE49-F238E27FC236}">
                <a16:creationId xmlns:a16="http://schemas.microsoft.com/office/drawing/2014/main" id="{9EBCBFF6-66A1-4928-A3C2-BDB728B5DB55}"/>
              </a:ext>
            </a:extLst>
          </p:cNvPr>
          <p:cNvCxnSpPr>
            <a:cxnSpLocks/>
          </p:cNvCxnSpPr>
          <p:nvPr/>
        </p:nvCxnSpPr>
        <p:spPr>
          <a:xfrm flipV="1">
            <a:off x="5618479" y="3158915"/>
            <a:ext cx="899232"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18" name="Modello 3D 17">
                <a:extLst>
                  <a:ext uri="{FF2B5EF4-FFF2-40B4-BE49-F238E27FC236}">
                    <a16:creationId xmlns:a16="http://schemas.microsoft.com/office/drawing/2014/main" id="{CA40D037-058F-40C4-9754-CBC2F4A82A81}"/>
                  </a:ext>
                </a:extLst>
              </p:cNvPr>
              <p:cNvGraphicFramePr>
                <a:graphicFrameLocks noChangeAspect="1"/>
              </p:cNvGraphicFramePr>
              <p:nvPr>
                <p:extLst>
                  <p:ext uri="{D42A27DB-BD31-4B8C-83A1-F6EECF244321}">
                    <p14:modId xmlns:p14="http://schemas.microsoft.com/office/powerpoint/2010/main" val="1573993499"/>
                  </p:ext>
                </p:extLst>
              </p:nvPr>
            </p:nvGraphicFramePr>
            <p:xfrm>
              <a:off x="7058613" y="3849186"/>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Modello 3D 17">
                <a:extLst>
                  <a:ext uri="{FF2B5EF4-FFF2-40B4-BE49-F238E27FC236}">
                    <a16:creationId xmlns:a16="http://schemas.microsoft.com/office/drawing/2014/main" id="{CA40D037-058F-40C4-9754-CBC2F4A82A81}"/>
                  </a:ext>
                </a:extLst>
              </p:cNvPr>
              <p:cNvPicPr>
                <a:picLocks noGrp="1" noRot="1" noChangeAspect="1" noMove="1" noResize="1" noEditPoints="1" noAdjustHandles="1" noChangeArrowheads="1" noChangeShapeType="1" noCrop="1"/>
              </p:cNvPicPr>
              <p:nvPr/>
            </p:nvPicPr>
            <p:blipFill>
              <a:blip r:embed="rId5"/>
              <a:stretch>
                <a:fillRect/>
              </a:stretch>
            </p:blipFill>
            <p:spPr>
              <a:xfrm>
                <a:off x="7058613" y="3849186"/>
                <a:ext cx="903926" cy="86448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9" name="Modello 3D 18">
                <a:extLst>
                  <a:ext uri="{FF2B5EF4-FFF2-40B4-BE49-F238E27FC236}">
                    <a16:creationId xmlns:a16="http://schemas.microsoft.com/office/drawing/2014/main" id="{36BEBB78-D378-4C9F-B4D1-61D84EE54847}"/>
                  </a:ext>
                </a:extLst>
              </p:cNvPr>
              <p:cNvGraphicFramePr>
                <a:graphicFrameLocks noChangeAspect="1"/>
              </p:cNvGraphicFramePr>
              <p:nvPr>
                <p:extLst>
                  <p:ext uri="{D42A27DB-BD31-4B8C-83A1-F6EECF244321}">
                    <p14:modId xmlns:p14="http://schemas.microsoft.com/office/powerpoint/2010/main" val="2616968819"/>
                  </p:ext>
                </p:extLst>
              </p:nvPr>
            </p:nvGraphicFramePr>
            <p:xfrm>
              <a:off x="4940290" y="3858687"/>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lo 3D 18">
                <a:extLst>
                  <a:ext uri="{FF2B5EF4-FFF2-40B4-BE49-F238E27FC236}">
                    <a16:creationId xmlns:a16="http://schemas.microsoft.com/office/drawing/2014/main" id="{36BEBB78-D378-4C9F-B4D1-61D84EE54847}"/>
                  </a:ext>
                </a:extLst>
              </p:cNvPr>
              <p:cNvPicPr>
                <a:picLocks noGrp="1" noRot="1" noChangeAspect="1" noMove="1" noResize="1" noEditPoints="1" noAdjustHandles="1" noChangeArrowheads="1" noChangeShapeType="1" noCrop="1"/>
              </p:cNvPicPr>
              <p:nvPr/>
            </p:nvPicPr>
            <p:blipFill>
              <a:blip r:embed="rId5"/>
              <a:stretch>
                <a:fillRect/>
              </a:stretch>
            </p:blipFill>
            <p:spPr>
              <a:xfrm>
                <a:off x="4940290" y="3858687"/>
                <a:ext cx="903926" cy="864481"/>
              </a:xfrm>
              <a:prstGeom prst="rect">
                <a:avLst/>
              </a:prstGeom>
            </p:spPr>
          </p:pic>
        </mc:Fallback>
      </mc:AlternateContent>
      <p:sp>
        <p:nvSpPr>
          <p:cNvPr id="24" name="CasellaDiTesto 23">
            <a:extLst>
              <a:ext uri="{FF2B5EF4-FFF2-40B4-BE49-F238E27FC236}">
                <a16:creationId xmlns:a16="http://schemas.microsoft.com/office/drawing/2014/main" id="{5F175ED8-47EA-43C5-8561-742F1CAC8ED4}"/>
              </a:ext>
            </a:extLst>
          </p:cNvPr>
          <p:cNvSpPr txBox="1"/>
          <p:nvPr/>
        </p:nvSpPr>
        <p:spPr>
          <a:xfrm>
            <a:off x="5240052" y="4116018"/>
            <a:ext cx="304892" cy="369332"/>
          </a:xfrm>
          <a:prstGeom prst="rect">
            <a:avLst/>
          </a:prstGeom>
          <a:noFill/>
        </p:spPr>
        <p:txBody>
          <a:bodyPr wrap="none" rtlCol="0">
            <a:spAutoFit/>
          </a:bodyPr>
          <a:lstStyle/>
          <a:p>
            <a:r>
              <a:rPr lang="en-US" dirty="0"/>
              <a:t>X</a:t>
            </a:r>
            <a:endParaRPr lang="it-IT" dirty="0"/>
          </a:p>
        </p:txBody>
      </p:sp>
      <p:sp>
        <p:nvSpPr>
          <p:cNvPr id="25" name="CasellaDiTesto 24">
            <a:extLst>
              <a:ext uri="{FF2B5EF4-FFF2-40B4-BE49-F238E27FC236}">
                <a16:creationId xmlns:a16="http://schemas.microsoft.com/office/drawing/2014/main" id="{CB30E238-46EA-458C-AD6C-D387EC216D58}"/>
              </a:ext>
            </a:extLst>
          </p:cNvPr>
          <p:cNvSpPr txBox="1"/>
          <p:nvPr/>
        </p:nvSpPr>
        <p:spPr>
          <a:xfrm>
            <a:off x="7421646" y="4066538"/>
            <a:ext cx="292068" cy="369332"/>
          </a:xfrm>
          <a:prstGeom prst="rect">
            <a:avLst/>
          </a:prstGeom>
          <a:noFill/>
        </p:spPr>
        <p:txBody>
          <a:bodyPr wrap="none" rtlCol="0">
            <a:spAutoFit/>
          </a:bodyPr>
          <a:lstStyle/>
          <a:p>
            <a:r>
              <a:rPr lang="en-US" dirty="0"/>
              <a:t>Z</a:t>
            </a:r>
            <a:endParaRPr lang="it-IT" dirty="0"/>
          </a:p>
        </p:txBody>
      </p:sp>
      <p:sp>
        <p:nvSpPr>
          <p:cNvPr id="26" name="CasellaDiTesto 25">
            <a:extLst>
              <a:ext uri="{FF2B5EF4-FFF2-40B4-BE49-F238E27FC236}">
                <a16:creationId xmlns:a16="http://schemas.microsoft.com/office/drawing/2014/main" id="{E496E5EB-2082-48C2-8673-C6A00F8D52F5}"/>
              </a:ext>
            </a:extLst>
          </p:cNvPr>
          <p:cNvSpPr txBox="1"/>
          <p:nvPr/>
        </p:nvSpPr>
        <p:spPr>
          <a:xfrm>
            <a:off x="6365265" y="2452402"/>
            <a:ext cx="304892" cy="369332"/>
          </a:xfrm>
          <a:prstGeom prst="rect">
            <a:avLst/>
          </a:prstGeom>
          <a:noFill/>
        </p:spPr>
        <p:txBody>
          <a:bodyPr wrap="none" rtlCol="0">
            <a:spAutoFit/>
          </a:bodyPr>
          <a:lstStyle/>
          <a:p>
            <a:r>
              <a:rPr lang="en-US" dirty="0"/>
              <a:t>Y</a:t>
            </a:r>
            <a:endParaRPr lang="it-IT" dirty="0"/>
          </a:p>
        </p:txBody>
      </p:sp>
      <p:sp>
        <p:nvSpPr>
          <p:cNvPr id="27" name="CasellaDiTesto 26">
            <a:extLst>
              <a:ext uri="{FF2B5EF4-FFF2-40B4-BE49-F238E27FC236}">
                <a16:creationId xmlns:a16="http://schemas.microsoft.com/office/drawing/2014/main" id="{6F46809F-738D-4987-A8EA-2F69DE2C1A4D}"/>
              </a:ext>
            </a:extLst>
          </p:cNvPr>
          <p:cNvSpPr txBox="1"/>
          <p:nvPr/>
        </p:nvSpPr>
        <p:spPr>
          <a:xfrm>
            <a:off x="5766409" y="3519079"/>
            <a:ext cx="301686" cy="369332"/>
          </a:xfrm>
          <a:prstGeom prst="rect">
            <a:avLst/>
          </a:prstGeom>
          <a:noFill/>
        </p:spPr>
        <p:txBody>
          <a:bodyPr wrap="none" rtlCol="0">
            <a:spAutoFit/>
          </a:bodyPr>
          <a:lstStyle/>
          <a:p>
            <a:r>
              <a:rPr lang="en-US" dirty="0"/>
              <a:t>2</a:t>
            </a:r>
            <a:endParaRPr lang="it-IT" dirty="0"/>
          </a:p>
        </p:txBody>
      </p:sp>
      <p:sp>
        <p:nvSpPr>
          <p:cNvPr id="28" name="CasellaDiTesto 27">
            <a:extLst>
              <a:ext uri="{FF2B5EF4-FFF2-40B4-BE49-F238E27FC236}">
                <a16:creationId xmlns:a16="http://schemas.microsoft.com/office/drawing/2014/main" id="{EF75EC89-EEEA-460E-83DB-2B7215F3DED6}"/>
              </a:ext>
            </a:extLst>
          </p:cNvPr>
          <p:cNvSpPr txBox="1"/>
          <p:nvPr/>
        </p:nvSpPr>
        <p:spPr>
          <a:xfrm>
            <a:off x="6866952" y="3535505"/>
            <a:ext cx="301686" cy="369332"/>
          </a:xfrm>
          <a:prstGeom prst="rect">
            <a:avLst/>
          </a:prstGeom>
          <a:noFill/>
        </p:spPr>
        <p:txBody>
          <a:bodyPr wrap="none" rtlCol="0">
            <a:spAutoFit/>
          </a:bodyPr>
          <a:lstStyle/>
          <a:p>
            <a:r>
              <a:rPr lang="en-US" dirty="0"/>
              <a:t>1</a:t>
            </a:r>
            <a:endParaRPr lang="it-IT" dirty="0"/>
          </a:p>
        </p:txBody>
      </p:sp>
      <p:sp>
        <p:nvSpPr>
          <p:cNvPr id="29" name="CasellaDiTesto 28">
            <a:extLst>
              <a:ext uri="{FF2B5EF4-FFF2-40B4-BE49-F238E27FC236}">
                <a16:creationId xmlns:a16="http://schemas.microsoft.com/office/drawing/2014/main" id="{997D1CCD-786B-4012-80D2-98BB5AF1A8C0}"/>
              </a:ext>
            </a:extLst>
          </p:cNvPr>
          <p:cNvSpPr txBox="1"/>
          <p:nvPr/>
        </p:nvSpPr>
        <p:spPr>
          <a:xfrm>
            <a:off x="6347786" y="4581346"/>
            <a:ext cx="304892" cy="369332"/>
          </a:xfrm>
          <a:prstGeom prst="rect">
            <a:avLst/>
          </a:prstGeom>
          <a:noFill/>
        </p:spPr>
        <p:txBody>
          <a:bodyPr wrap="none" rtlCol="0">
            <a:spAutoFit/>
          </a:bodyPr>
          <a:lstStyle/>
          <a:p>
            <a:r>
              <a:rPr lang="en-US" dirty="0"/>
              <a:t>7</a:t>
            </a:r>
            <a:endParaRPr lang="it-IT" dirty="0"/>
          </a:p>
        </p:txBody>
      </p:sp>
      <mc:AlternateContent xmlns:mc="http://schemas.openxmlformats.org/markup-compatibility/2006">
        <mc:Choice xmlns:am3d="http://schemas.microsoft.com/office/drawing/2017/model3d" Requires="am3d">
          <p:graphicFrame>
            <p:nvGraphicFramePr>
              <p:cNvPr id="41" name="Modello 3D 40">
                <a:extLst>
                  <a:ext uri="{FF2B5EF4-FFF2-40B4-BE49-F238E27FC236}">
                    <a16:creationId xmlns:a16="http://schemas.microsoft.com/office/drawing/2014/main" id="{9D6F4C37-A541-4541-82E9-9FE3A9893E62}"/>
                  </a:ext>
                </a:extLst>
              </p:cNvPr>
              <p:cNvGraphicFramePr>
                <a:graphicFrameLocks noChangeAspect="1"/>
              </p:cNvGraphicFramePr>
              <p:nvPr>
                <p:extLst>
                  <p:ext uri="{D42A27DB-BD31-4B8C-83A1-F6EECF244321}">
                    <p14:modId xmlns:p14="http://schemas.microsoft.com/office/powerpoint/2010/main" val="222209269"/>
                  </p:ext>
                </p:extLst>
              </p:nvPr>
            </p:nvGraphicFramePr>
            <p:xfrm>
              <a:off x="6065748" y="2294434"/>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1" name="Modello 3D 40">
                <a:extLst>
                  <a:ext uri="{FF2B5EF4-FFF2-40B4-BE49-F238E27FC236}">
                    <a16:creationId xmlns:a16="http://schemas.microsoft.com/office/drawing/2014/main" id="{9D6F4C37-A541-4541-82E9-9FE3A9893E62}"/>
                  </a:ext>
                </a:extLst>
              </p:cNvPr>
              <p:cNvPicPr>
                <a:picLocks noGrp="1" noRot="1" noChangeAspect="1" noMove="1" noResize="1" noEditPoints="1" noAdjustHandles="1" noChangeArrowheads="1" noChangeShapeType="1" noCrop="1"/>
              </p:cNvPicPr>
              <p:nvPr/>
            </p:nvPicPr>
            <p:blipFill>
              <a:blip r:embed="rId5"/>
              <a:stretch>
                <a:fillRect/>
              </a:stretch>
            </p:blipFill>
            <p:spPr>
              <a:xfrm>
                <a:off x="6065748" y="2294434"/>
                <a:ext cx="903926" cy="864481"/>
              </a:xfrm>
              <a:prstGeom prst="rect">
                <a:avLst/>
              </a:prstGeom>
            </p:spPr>
          </p:pic>
        </mc:Fallback>
      </mc:AlternateContent>
      <p:pic>
        <p:nvPicPr>
          <p:cNvPr id="32" name="Immagine 31">
            <a:extLst>
              <a:ext uri="{FF2B5EF4-FFF2-40B4-BE49-F238E27FC236}">
                <a16:creationId xmlns:a16="http://schemas.microsoft.com/office/drawing/2014/main" id="{3B602A4B-4E95-4FB5-AEF6-87F7FDE00A63}"/>
              </a:ext>
            </a:extLst>
          </p:cNvPr>
          <p:cNvPicPr>
            <a:picLocks noChangeAspect="1"/>
          </p:cNvPicPr>
          <p:nvPr/>
        </p:nvPicPr>
        <p:blipFill>
          <a:blip r:embed="rId6"/>
          <a:stretch>
            <a:fillRect/>
          </a:stretch>
        </p:blipFill>
        <p:spPr>
          <a:xfrm>
            <a:off x="1653379" y="2885566"/>
            <a:ext cx="2867425" cy="1543265"/>
          </a:xfrm>
          <a:prstGeom prst="rect">
            <a:avLst/>
          </a:prstGeom>
        </p:spPr>
      </p:pic>
      <p:pic>
        <p:nvPicPr>
          <p:cNvPr id="33" name="Immagine 32">
            <a:extLst>
              <a:ext uri="{FF2B5EF4-FFF2-40B4-BE49-F238E27FC236}">
                <a16:creationId xmlns:a16="http://schemas.microsoft.com/office/drawing/2014/main" id="{CDBE25C2-880D-4C1D-850A-8D376E124609}"/>
              </a:ext>
            </a:extLst>
          </p:cNvPr>
          <p:cNvPicPr>
            <a:picLocks noChangeAspect="1"/>
          </p:cNvPicPr>
          <p:nvPr/>
        </p:nvPicPr>
        <p:blipFill>
          <a:blip r:embed="rId7"/>
          <a:stretch>
            <a:fillRect/>
          </a:stretch>
        </p:blipFill>
        <p:spPr>
          <a:xfrm>
            <a:off x="8929118" y="2890797"/>
            <a:ext cx="2611485" cy="1507389"/>
          </a:xfrm>
          <a:prstGeom prst="rect">
            <a:avLst/>
          </a:prstGeom>
        </p:spPr>
      </p:pic>
      <p:sp>
        <p:nvSpPr>
          <p:cNvPr id="34" name="CasellaDiTesto 33">
            <a:extLst>
              <a:ext uri="{FF2B5EF4-FFF2-40B4-BE49-F238E27FC236}">
                <a16:creationId xmlns:a16="http://schemas.microsoft.com/office/drawing/2014/main" id="{46BED8B8-B885-4F6C-B058-715E35D0263F}"/>
              </a:ext>
            </a:extLst>
          </p:cNvPr>
          <p:cNvSpPr txBox="1"/>
          <p:nvPr/>
        </p:nvSpPr>
        <p:spPr>
          <a:xfrm>
            <a:off x="3366687" y="5137346"/>
            <a:ext cx="6267090" cy="1200329"/>
          </a:xfrm>
          <a:prstGeom prst="rect">
            <a:avLst/>
          </a:prstGeom>
          <a:noFill/>
        </p:spPr>
        <p:txBody>
          <a:bodyPr wrap="square">
            <a:spAutoFit/>
          </a:bodyPr>
          <a:lstStyle/>
          <a:p>
            <a:pPr algn="ctr"/>
            <a:r>
              <a:rPr lang="it-IT" dirty="0">
                <a:solidFill>
                  <a:schemeClr val="bg1"/>
                </a:solidFill>
                <a:latin typeface="Corbel Light" panose="020B0303020204020204" pitchFamily="34" charset="0"/>
              </a:rPr>
              <a:t>In questo caso si può quindi notare come il router stabilisca i costi per raggiungere tutti i router adiacenti a esso, compreso se stesso, mentre non avendo﻿ informazioni sul resto, si limita a porre i costi di tutto ciò che non può ancora calcolare a infinito.</a:t>
            </a:r>
          </a:p>
        </p:txBody>
      </p:sp>
    </p:spTree>
    <p:extLst>
      <p:ext uri="{BB962C8B-B14F-4D97-AF65-F5344CB8AC3E}">
        <p14:creationId xmlns:p14="http://schemas.microsoft.com/office/powerpoint/2010/main" val="1731062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0" name="Modello 3D 19">
                <a:extLst>
                  <a:ext uri="{FF2B5EF4-FFF2-40B4-BE49-F238E27FC236}">
                    <a16:creationId xmlns:a16="http://schemas.microsoft.com/office/drawing/2014/main" id="{8EA47DB8-1DA6-4FBA-959E-279507B6120B}"/>
                  </a:ext>
                </a:extLst>
              </p:cNvPr>
              <p:cNvGraphicFramePr>
                <a:graphicFrameLocks noChangeAspect="1"/>
              </p:cNvGraphicFramePr>
              <p:nvPr/>
            </p:nvGraphicFramePr>
            <p:xfrm>
              <a:off x="8552364" y="2386477"/>
              <a:ext cx="845335" cy="827032"/>
            </p:xfrm>
            <a:graphic>
              <a:graphicData uri="http://schemas.microsoft.com/office/drawing/2017/model3d">
                <am3d:model3d r:embed="rId2">
                  <am3d:spPr>
                    <a:xfrm>
                      <a:off x="0" y="0"/>
                      <a:ext cx="845335" cy="827032"/>
                    </a:xfrm>
                    <a:prstGeom prst="rect">
                      <a:avLst/>
                    </a:prstGeom>
                  </am3d:spPr>
                  <am3d:camera>
                    <am3d:pos x="0" y="0" z="58695964"/>
                    <am3d:up dx="0" dy="36000000" dz="0"/>
                    <am3d:lookAt x="0" y="0" z="0"/>
                    <am3d:perspective fov="2700000"/>
                  </am3d:camera>
                  <am3d:trans>
                    <am3d:meterPerModelUnit n="822" d="1000000"/>
                    <am3d:preTrans dx="-201419" dy="-63220" dz="-201419"/>
                    <am3d:scale>
                      <am3d:sx n="1000000" d="1000000"/>
                      <am3d:sy n="1000000" d="1000000"/>
                      <am3d:sz n="1000000" d="1000000"/>
                    </am3d:scale>
                    <am3d:rot ax="5195951" ay="-148348" az="-2159473"/>
                    <am3d:postTrans dx="0" dy="0" dz="0"/>
                  </am3d:trans>
                  <am3d:raster rName="Office3DRenderer" rVer="16.0.8326">
                    <am3d:blip r:embed="rId3"/>
                  </am3d:raster>
                  <am3d:objViewport viewportSz="91356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Modello 3D 19">
                <a:extLst>
                  <a:ext uri="{FF2B5EF4-FFF2-40B4-BE49-F238E27FC236}">
                    <a16:creationId xmlns:a16="http://schemas.microsoft.com/office/drawing/2014/main" id="{8EA47DB8-1DA6-4FBA-959E-279507B6120B}"/>
                  </a:ext>
                </a:extLst>
              </p:cNvPr>
              <p:cNvPicPr>
                <a:picLocks noGrp="1" noRot="1" noChangeAspect="1" noMove="1" noResize="1" noEditPoints="1" noAdjustHandles="1" noChangeArrowheads="1" noChangeShapeType="1" noCrop="1"/>
              </p:cNvPicPr>
              <p:nvPr/>
            </p:nvPicPr>
            <p:blipFill>
              <a:blip r:embed="rId3"/>
              <a:stretch>
                <a:fillRect/>
              </a:stretch>
            </p:blipFill>
            <p:spPr>
              <a:xfrm>
                <a:off x="8552364" y="2386477"/>
                <a:ext cx="845335" cy="827032"/>
              </a:xfrm>
              <a:prstGeom prst="rect">
                <a:avLst/>
              </a:prstGeom>
            </p:spPr>
          </p:pic>
        </mc:Fallback>
      </mc:AlternateContent>
      <p:sp>
        <p:nvSpPr>
          <p:cNvPr id="16" name="Rettangolo 15">
            <a:extLst>
              <a:ext uri="{FF2B5EF4-FFF2-40B4-BE49-F238E27FC236}">
                <a16:creationId xmlns:a16="http://schemas.microsoft.com/office/drawing/2014/main" id="{9B4A4D05-A43C-48DD-B55C-CB317FF1DFAB}"/>
              </a:ext>
            </a:extLst>
          </p:cNvPr>
          <p:cNvSpPr/>
          <p:nvPr/>
        </p:nvSpPr>
        <p:spPr>
          <a:xfrm>
            <a:off x="0" y="-16288"/>
            <a:ext cx="12297508" cy="687428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9" name="Rettangolo 8">
            <a:extLst>
              <a:ext uri="{FF2B5EF4-FFF2-40B4-BE49-F238E27FC236}">
                <a16:creationId xmlns:a16="http://schemas.microsoft.com/office/drawing/2014/main" id="{9BB7B84C-118F-4FE0-A903-6E9423FCB89E}"/>
              </a:ext>
            </a:extLst>
          </p:cNvPr>
          <p:cNvSpPr/>
          <p:nvPr/>
        </p:nvSpPr>
        <p:spPr>
          <a:xfrm>
            <a:off x="-11553694" y="4451380"/>
            <a:ext cx="11277600" cy="1200329"/>
          </a:xfrm>
          <a:prstGeom prst="rect">
            <a:avLst/>
          </a:prstGeom>
          <a:noFill/>
        </p:spPr>
        <p:txBody>
          <a:bodyPr wrap="square" lIns="91440" tIns="45720" rIns="91440" bIns="45720">
            <a:spAutoFit/>
          </a:bodyPr>
          <a:lstStyle/>
          <a:p>
            <a:pPr algn="ct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dx(y) = </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minv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c(</a:t>
            </a:r>
            <a:r>
              <a:rPr lang="it-IT" sz="7200" b="1" i="0" cap="none" spc="0" dirty="0" err="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x,v</a:t>
            </a:r>
            <a:r>
              <a:rPr lang="it-IT" sz="7200" b="1" i="0"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YAFdtQi73Xs 0"/>
              </a:rPr>
              <a:t>) + dv(y) }</a:t>
            </a:r>
            <a:endParaRPr lang="it-IT" sz="72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cxnSp>
        <p:nvCxnSpPr>
          <p:cNvPr id="13" name="Connettore diritto 12">
            <a:extLst>
              <a:ext uri="{FF2B5EF4-FFF2-40B4-BE49-F238E27FC236}">
                <a16:creationId xmlns:a16="http://schemas.microsoft.com/office/drawing/2014/main" id="{D154BBCA-A9F5-4B22-BE7C-EF4A32DCFC50}"/>
              </a:ext>
            </a:extLst>
          </p:cNvPr>
          <p:cNvCxnSpPr>
            <a:cxnSpLocks/>
          </p:cNvCxnSpPr>
          <p:nvPr/>
        </p:nvCxnSpPr>
        <p:spPr>
          <a:xfrm flipH="1">
            <a:off x="5790737" y="4587305"/>
            <a:ext cx="13779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Connettore diritto 13">
            <a:extLst>
              <a:ext uri="{FF2B5EF4-FFF2-40B4-BE49-F238E27FC236}">
                <a16:creationId xmlns:a16="http://schemas.microsoft.com/office/drawing/2014/main" id="{FB343CAA-4E80-4615-878E-8FF314B88A73}"/>
              </a:ext>
            </a:extLst>
          </p:cNvPr>
          <p:cNvCxnSpPr>
            <a:cxnSpLocks/>
          </p:cNvCxnSpPr>
          <p:nvPr/>
        </p:nvCxnSpPr>
        <p:spPr>
          <a:xfrm flipH="1" flipV="1">
            <a:off x="6517711" y="3158915"/>
            <a:ext cx="764781"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nettore diritto 16">
            <a:extLst>
              <a:ext uri="{FF2B5EF4-FFF2-40B4-BE49-F238E27FC236}">
                <a16:creationId xmlns:a16="http://schemas.microsoft.com/office/drawing/2014/main" id="{9EBCBFF6-66A1-4928-A3C2-BDB728B5DB55}"/>
              </a:ext>
            </a:extLst>
          </p:cNvPr>
          <p:cNvCxnSpPr>
            <a:cxnSpLocks/>
          </p:cNvCxnSpPr>
          <p:nvPr/>
        </p:nvCxnSpPr>
        <p:spPr>
          <a:xfrm flipV="1">
            <a:off x="5618479" y="3158915"/>
            <a:ext cx="899232" cy="1269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m3d="http://schemas.microsoft.com/office/drawing/2017/model3d" Requires="am3d">
          <p:graphicFrame>
            <p:nvGraphicFramePr>
              <p:cNvPr id="18" name="Modello 3D 17">
                <a:extLst>
                  <a:ext uri="{FF2B5EF4-FFF2-40B4-BE49-F238E27FC236}">
                    <a16:creationId xmlns:a16="http://schemas.microsoft.com/office/drawing/2014/main" id="{CA40D037-058F-40C4-9754-CBC2F4A82A81}"/>
                  </a:ext>
                </a:extLst>
              </p:cNvPr>
              <p:cNvGraphicFramePr>
                <a:graphicFrameLocks noChangeAspect="1"/>
              </p:cNvGraphicFramePr>
              <p:nvPr/>
            </p:nvGraphicFramePr>
            <p:xfrm>
              <a:off x="7058613" y="3849186"/>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8" name="Modello 3D 17">
                <a:extLst>
                  <a:ext uri="{FF2B5EF4-FFF2-40B4-BE49-F238E27FC236}">
                    <a16:creationId xmlns:a16="http://schemas.microsoft.com/office/drawing/2014/main" id="{CA40D037-058F-40C4-9754-CBC2F4A82A81}"/>
                  </a:ext>
                </a:extLst>
              </p:cNvPr>
              <p:cNvPicPr>
                <a:picLocks noGrp="1" noRot="1" noChangeAspect="1" noMove="1" noResize="1" noEditPoints="1" noAdjustHandles="1" noChangeArrowheads="1" noChangeShapeType="1" noCrop="1"/>
              </p:cNvPicPr>
              <p:nvPr/>
            </p:nvPicPr>
            <p:blipFill>
              <a:blip r:embed="rId5"/>
              <a:stretch>
                <a:fillRect/>
              </a:stretch>
            </p:blipFill>
            <p:spPr>
              <a:xfrm>
                <a:off x="7058613" y="3849186"/>
                <a:ext cx="903926" cy="864481"/>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19" name="Modello 3D 18">
                <a:extLst>
                  <a:ext uri="{FF2B5EF4-FFF2-40B4-BE49-F238E27FC236}">
                    <a16:creationId xmlns:a16="http://schemas.microsoft.com/office/drawing/2014/main" id="{36BEBB78-D378-4C9F-B4D1-61D84EE54847}"/>
                  </a:ext>
                </a:extLst>
              </p:cNvPr>
              <p:cNvGraphicFramePr>
                <a:graphicFrameLocks noChangeAspect="1"/>
              </p:cNvGraphicFramePr>
              <p:nvPr/>
            </p:nvGraphicFramePr>
            <p:xfrm>
              <a:off x="4940290" y="3858687"/>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9" name="Modello 3D 18">
                <a:extLst>
                  <a:ext uri="{FF2B5EF4-FFF2-40B4-BE49-F238E27FC236}">
                    <a16:creationId xmlns:a16="http://schemas.microsoft.com/office/drawing/2014/main" id="{36BEBB78-D378-4C9F-B4D1-61D84EE54847}"/>
                  </a:ext>
                </a:extLst>
              </p:cNvPr>
              <p:cNvPicPr>
                <a:picLocks noGrp="1" noRot="1" noChangeAspect="1" noMove="1" noResize="1" noEditPoints="1" noAdjustHandles="1" noChangeArrowheads="1" noChangeShapeType="1" noCrop="1"/>
              </p:cNvPicPr>
              <p:nvPr/>
            </p:nvPicPr>
            <p:blipFill>
              <a:blip r:embed="rId5"/>
              <a:stretch>
                <a:fillRect/>
              </a:stretch>
            </p:blipFill>
            <p:spPr>
              <a:xfrm>
                <a:off x="4940290" y="3858687"/>
                <a:ext cx="903926" cy="864481"/>
              </a:xfrm>
              <a:prstGeom prst="rect">
                <a:avLst/>
              </a:prstGeom>
            </p:spPr>
          </p:pic>
        </mc:Fallback>
      </mc:AlternateContent>
      <p:sp>
        <p:nvSpPr>
          <p:cNvPr id="24" name="CasellaDiTesto 23">
            <a:extLst>
              <a:ext uri="{FF2B5EF4-FFF2-40B4-BE49-F238E27FC236}">
                <a16:creationId xmlns:a16="http://schemas.microsoft.com/office/drawing/2014/main" id="{5F175ED8-47EA-43C5-8561-742F1CAC8ED4}"/>
              </a:ext>
            </a:extLst>
          </p:cNvPr>
          <p:cNvSpPr txBox="1"/>
          <p:nvPr/>
        </p:nvSpPr>
        <p:spPr>
          <a:xfrm>
            <a:off x="5240052" y="4116018"/>
            <a:ext cx="304892" cy="369332"/>
          </a:xfrm>
          <a:prstGeom prst="rect">
            <a:avLst/>
          </a:prstGeom>
          <a:noFill/>
        </p:spPr>
        <p:txBody>
          <a:bodyPr wrap="none" rtlCol="0">
            <a:spAutoFit/>
          </a:bodyPr>
          <a:lstStyle/>
          <a:p>
            <a:r>
              <a:rPr lang="en-US" dirty="0"/>
              <a:t>X</a:t>
            </a:r>
            <a:endParaRPr lang="it-IT" dirty="0"/>
          </a:p>
        </p:txBody>
      </p:sp>
      <p:sp>
        <p:nvSpPr>
          <p:cNvPr id="25" name="CasellaDiTesto 24">
            <a:extLst>
              <a:ext uri="{FF2B5EF4-FFF2-40B4-BE49-F238E27FC236}">
                <a16:creationId xmlns:a16="http://schemas.microsoft.com/office/drawing/2014/main" id="{CB30E238-46EA-458C-AD6C-D387EC216D58}"/>
              </a:ext>
            </a:extLst>
          </p:cNvPr>
          <p:cNvSpPr txBox="1"/>
          <p:nvPr/>
        </p:nvSpPr>
        <p:spPr>
          <a:xfrm>
            <a:off x="7421646" y="4066538"/>
            <a:ext cx="292068" cy="369332"/>
          </a:xfrm>
          <a:prstGeom prst="rect">
            <a:avLst/>
          </a:prstGeom>
          <a:noFill/>
        </p:spPr>
        <p:txBody>
          <a:bodyPr wrap="none" rtlCol="0">
            <a:spAutoFit/>
          </a:bodyPr>
          <a:lstStyle/>
          <a:p>
            <a:r>
              <a:rPr lang="en-US" dirty="0"/>
              <a:t>Z</a:t>
            </a:r>
            <a:endParaRPr lang="it-IT" dirty="0"/>
          </a:p>
        </p:txBody>
      </p:sp>
      <p:sp>
        <p:nvSpPr>
          <p:cNvPr id="26" name="CasellaDiTesto 25">
            <a:extLst>
              <a:ext uri="{FF2B5EF4-FFF2-40B4-BE49-F238E27FC236}">
                <a16:creationId xmlns:a16="http://schemas.microsoft.com/office/drawing/2014/main" id="{E496E5EB-2082-48C2-8673-C6A00F8D52F5}"/>
              </a:ext>
            </a:extLst>
          </p:cNvPr>
          <p:cNvSpPr txBox="1"/>
          <p:nvPr/>
        </p:nvSpPr>
        <p:spPr>
          <a:xfrm>
            <a:off x="6365265" y="2452402"/>
            <a:ext cx="304892" cy="369332"/>
          </a:xfrm>
          <a:prstGeom prst="rect">
            <a:avLst/>
          </a:prstGeom>
          <a:noFill/>
        </p:spPr>
        <p:txBody>
          <a:bodyPr wrap="none" rtlCol="0">
            <a:spAutoFit/>
          </a:bodyPr>
          <a:lstStyle/>
          <a:p>
            <a:r>
              <a:rPr lang="en-US" dirty="0"/>
              <a:t>Y</a:t>
            </a:r>
            <a:endParaRPr lang="it-IT" dirty="0"/>
          </a:p>
        </p:txBody>
      </p:sp>
      <p:sp>
        <p:nvSpPr>
          <p:cNvPr id="27" name="CasellaDiTesto 26">
            <a:extLst>
              <a:ext uri="{FF2B5EF4-FFF2-40B4-BE49-F238E27FC236}">
                <a16:creationId xmlns:a16="http://schemas.microsoft.com/office/drawing/2014/main" id="{6F46809F-738D-4987-A8EA-2F69DE2C1A4D}"/>
              </a:ext>
            </a:extLst>
          </p:cNvPr>
          <p:cNvSpPr txBox="1"/>
          <p:nvPr/>
        </p:nvSpPr>
        <p:spPr>
          <a:xfrm>
            <a:off x="5766409" y="3519079"/>
            <a:ext cx="301686" cy="369332"/>
          </a:xfrm>
          <a:prstGeom prst="rect">
            <a:avLst/>
          </a:prstGeom>
          <a:noFill/>
        </p:spPr>
        <p:txBody>
          <a:bodyPr wrap="none" rtlCol="0">
            <a:spAutoFit/>
          </a:bodyPr>
          <a:lstStyle/>
          <a:p>
            <a:r>
              <a:rPr lang="en-US" dirty="0"/>
              <a:t>2</a:t>
            </a:r>
            <a:endParaRPr lang="it-IT" dirty="0"/>
          </a:p>
        </p:txBody>
      </p:sp>
      <p:sp>
        <p:nvSpPr>
          <p:cNvPr id="28" name="CasellaDiTesto 27">
            <a:extLst>
              <a:ext uri="{FF2B5EF4-FFF2-40B4-BE49-F238E27FC236}">
                <a16:creationId xmlns:a16="http://schemas.microsoft.com/office/drawing/2014/main" id="{EF75EC89-EEEA-460E-83DB-2B7215F3DED6}"/>
              </a:ext>
            </a:extLst>
          </p:cNvPr>
          <p:cNvSpPr txBox="1"/>
          <p:nvPr/>
        </p:nvSpPr>
        <p:spPr>
          <a:xfrm>
            <a:off x="6866952" y="3535505"/>
            <a:ext cx="301686" cy="369332"/>
          </a:xfrm>
          <a:prstGeom prst="rect">
            <a:avLst/>
          </a:prstGeom>
          <a:noFill/>
        </p:spPr>
        <p:txBody>
          <a:bodyPr wrap="none" rtlCol="0">
            <a:spAutoFit/>
          </a:bodyPr>
          <a:lstStyle/>
          <a:p>
            <a:r>
              <a:rPr lang="en-US" dirty="0"/>
              <a:t>1</a:t>
            </a:r>
            <a:endParaRPr lang="it-IT" dirty="0"/>
          </a:p>
        </p:txBody>
      </p:sp>
      <p:sp>
        <p:nvSpPr>
          <p:cNvPr id="29" name="CasellaDiTesto 28">
            <a:extLst>
              <a:ext uri="{FF2B5EF4-FFF2-40B4-BE49-F238E27FC236}">
                <a16:creationId xmlns:a16="http://schemas.microsoft.com/office/drawing/2014/main" id="{997D1CCD-786B-4012-80D2-98BB5AF1A8C0}"/>
              </a:ext>
            </a:extLst>
          </p:cNvPr>
          <p:cNvSpPr txBox="1"/>
          <p:nvPr/>
        </p:nvSpPr>
        <p:spPr>
          <a:xfrm>
            <a:off x="6347786" y="4581346"/>
            <a:ext cx="304892" cy="369332"/>
          </a:xfrm>
          <a:prstGeom prst="rect">
            <a:avLst/>
          </a:prstGeom>
          <a:noFill/>
        </p:spPr>
        <p:txBody>
          <a:bodyPr wrap="none" rtlCol="0">
            <a:spAutoFit/>
          </a:bodyPr>
          <a:lstStyle/>
          <a:p>
            <a:r>
              <a:rPr lang="en-US" dirty="0"/>
              <a:t>7</a:t>
            </a:r>
            <a:endParaRPr lang="it-IT" dirty="0"/>
          </a:p>
        </p:txBody>
      </p:sp>
      <mc:AlternateContent xmlns:mc="http://schemas.openxmlformats.org/markup-compatibility/2006">
        <mc:Choice xmlns:am3d="http://schemas.microsoft.com/office/drawing/2017/model3d" Requires="am3d">
          <p:graphicFrame>
            <p:nvGraphicFramePr>
              <p:cNvPr id="41" name="Modello 3D 40">
                <a:extLst>
                  <a:ext uri="{FF2B5EF4-FFF2-40B4-BE49-F238E27FC236}">
                    <a16:creationId xmlns:a16="http://schemas.microsoft.com/office/drawing/2014/main" id="{9D6F4C37-A541-4541-82E9-9FE3A9893E62}"/>
                  </a:ext>
                </a:extLst>
              </p:cNvPr>
              <p:cNvGraphicFramePr>
                <a:graphicFrameLocks noChangeAspect="1"/>
              </p:cNvGraphicFramePr>
              <p:nvPr/>
            </p:nvGraphicFramePr>
            <p:xfrm>
              <a:off x="6065748" y="2294434"/>
              <a:ext cx="903926" cy="864481"/>
            </p:xfrm>
            <a:graphic>
              <a:graphicData uri="http://schemas.microsoft.com/office/drawing/2017/model3d">
                <am3d:model3d r:embed="rId4">
                  <am3d:spPr>
                    <a:xfrm>
                      <a:off x="0" y="0"/>
                      <a:ext cx="903926" cy="864481"/>
                    </a:xfrm>
                    <a:prstGeom prst="rect">
                      <a:avLst/>
                    </a:prstGeom>
                  </am3d:spPr>
                  <am3d:camera>
                    <am3d:pos x="0" y="0" z="75763924"/>
                    <am3d:up dx="0" dy="36000000" dz="0"/>
                    <am3d:lookAt x="0" y="0" z="0"/>
                    <am3d:perspective fov="2700000"/>
                  </am3d:camera>
                  <am3d:trans>
                    <am3d:meterPerModelUnit n="4928146" d="1000000"/>
                    <am3d:preTrans dx="-89613" dy="-11749904" dz="2416598"/>
                    <am3d:scale>
                      <am3d:sx n="1000000" d="1000000"/>
                      <am3d:sy n="1000000" d="1000000"/>
                      <am3d:sz n="1000000" d="1000000"/>
                    </am3d:scale>
                    <am3d:rot/>
                    <am3d:postTrans dx="0" dy="0" dz="0"/>
                  </am3d:trans>
                  <am3d:raster rName="Office3DRenderer" rVer="16.0.8326">
                    <am3d:blip r:embed="rId5"/>
                  </am3d:raster>
                  <am3d:objViewport viewportSz="1251039"/>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41" name="Modello 3D 40">
                <a:extLst>
                  <a:ext uri="{FF2B5EF4-FFF2-40B4-BE49-F238E27FC236}">
                    <a16:creationId xmlns:a16="http://schemas.microsoft.com/office/drawing/2014/main" id="{9D6F4C37-A541-4541-82E9-9FE3A9893E62}"/>
                  </a:ext>
                </a:extLst>
              </p:cNvPr>
              <p:cNvPicPr>
                <a:picLocks noGrp="1" noRot="1" noChangeAspect="1" noMove="1" noResize="1" noEditPoints="1" noAdjustHandles="1" noChangeArrowheads="1" noChangeShapeType="1" noCrop="1"/>
              </p:cNvPicPr>
              <p:nvPr/>
            </p:nvPicPr>
            <p:blipFill>
              <a:blip r:embed="rId5"/>
              <a:stretch>
                <a:fillRect/>
              </a:stretch>
            </p:blipFill>
            <p:spPr>
              <a:xfrm>
                <a:off x="6065748" y="2294434"/>
                <a:ext cx="903926" cy="864481"/>
              </a:xfrm>
              <a:prstGeom prst="rect">
                <a:avLst/>
              </a:prstGeom>
            </p:spPr>
          </p:pic>
        </mc:Fallback>
      </mc:AlternateContent>
      <p:sp>
        <p:nvSpPr>
          <p:cNvPr id="34" name="CasellaDiTesto 33">
            <a:extLst>
              <a:ext uri="{FF2B5EF4-FFF2-40B4-BE49-F238E27FC236}">
                <a16:creationId xmlns:a16="http://schemas.microsoft.com/office/drawing/2014/main" id="{46BED8B8-B885-4F6C-B058-715E35D0263F}"/>
              </a:ext>
            </a:extLst>
          </p:cNvPr>
          <p:cNvSpPr txBox="1"/>
          <p:nvPr/>
        </p:nvSpPr>
        <p:spPr>
          <a:xfrm>
            <a:off x="3366687" y="5137346"/>
            <a:ext cx="6267090" cy="369332"/>
          </a:xfrm>
          <a:prstGeom prst="rect">
            <a:avLst/>
          </a:prstGeom>
          <a:noFill/>
        </p:spPr>
        <p:txBody>
          <a:bodyPr wrap="square">
            <a:spAutoFit/>
          </a:bodyPr>
          <a:lstStyle/>
          <a:p>
            <a:pPr algn="ctr"/>
            <a:r>
              <a:rPr lang="it-IT" dirty="0">
                <a:solidFill>
                  <a:schemeClr val="bg1"/>
                </a:solidFill>
                <a:latin typeface="Corbel Light" panose="020B0303020204020204" pitchFamily="34" charset="0"/>
              </a:rPr>
              <a:t>Quanto visto avviene per ogni router.</a:t>
            </a:r>
          </a:p>
        </p:txBody>
      </p:sp>
      <p:pic>
        <p:nvPicPr>
          <p:cNvPr id="30" name="Immagine 29">
            <a:extLst>
              <a:ext uri="{FF2B5EF4-FFF2-40B4-BE49-F238E27FC236}">
                <a16:creationId xmlns:a16="http://schemas.microsoft.com/office/drawing/2014/main" id="{4C575C96-805B-4E8D-8181-9E623C144F3D}"/>
              </a:ext>
            </a:extLst>
          </p:cNvPr>
          <p:cNvPicPr>
            <a:picLocks noChangeAspect="1"/>
          </p:cNvPicPr>
          <p:nvPr/>
        </p:nvPicPr>
        <p:blipFill>
          <a:blip r:embed="rId6"/>
          <a:stretch>
            <a:fillRect/>
          </a:stretch>
        </p:blipFill>
        <p:spPr>
          <a:xfrm>
            <a:off x="1681858" y="2451727"/>
            <a:ext cx="1996424" cy="1067352"/>
          </a:xfrm>
          <a:prstGeom prst="rect">
            <a:avLst/>
          </a:prstGeom>
        </p:spPr>
      </p:pic>
      <p:pic>
        <p:nvPicPr>
          <p:cNvPr id="31" name="Immagine 30">
            <a:extLst>
              <a:ext uri="{FF2B5EF4-FFF2-40B4-BE49-F238E27FC236}">
                <a16:creationId xmlns:a16="http://schemas.microsoft.com/office/drawing/2014/main" id="{33947CDD-A52F-4413-B3B6-F82DF2387FEF}"/>
              </a:ext>
            </a:extLst>
          </p:cNvPr>
          <p:cNvPicPr>
            <a:picLocks noChangeAspect="1"/>
          </p:cNvPicPr>
          <p:nvPr/>
        </p:nvPicPr>
        <p:blipFill>
          <a:blip r:embed="rId7"/>
          <a:stretch>
            <a:fillRect/>
          </a:stretch>
        </p:blipFill>
        <p:spPr>
          <a:xfrm>
            <a:off x="1668627" y="3849186"/>
            <a:ext cx="2057266" cy="1147591"/>
          </a:xfrm>
          <a:prstGeom prst="rect">
            <a:avLst/>
          </a:prstGeom>
        </p:spPr>
      </p:pic>
      <p:pic>
        <p:nvPicPr>
          <p:cNvPr id="35" name="Immagine 34">
            <a:extLst>
              <a:ext uri="{FF2B5EF4-FFF2-40B4-BE49-F238E27FC236}">
                <a16:creationId xmlns:a16="http://schemas.microsoft.com/office/drawing/2014/main" id="{56FEDE06-0543-4FAE-A770-DF1F7F9DD4D0}"/>
              </a:ext>
            </a:extLst>
          </p:cNvPr>
          <p:cNvPicPr>
            <a:picLocks noChangeAspect="1"/>
          </p:cNvPicPr>
          <p:nvPr/>
        </p:nvPicPr>
        <p:blipFill>
          <a:blip r:embed="rId8"/>
          <a:stretch>
            <a:fillRect/>
          </a:stretch>
        </p:blipFill>
        <p:spPr>
          <a:xfrm>
            <a:off x="9442031" y="2451727"/>
            <a:ext cx="2004541" cy="1067353"/>
          </a:xfrm>
          <a:prstGeom prst="rect">
            <a:avLst/>
          </a:prstGeom>
        </p:spPr>
      </p:pic>
      <p:pic>
        <p:nvPicPr>
          <p:cNvPr id="36" name="Immagine 35">
            <a:extLst>
              <a:ext uri="{FF2B5EF4-FFF2-40B4-BE49-F238E27FC236}">
                <a16:creationId xmlns:a16="http://schemas.microsoft.com/office/drawing/2014/main" id="{4A83DBF5-A6AF-404B-A107-512438022648}"/>
              </a:ext>
            </a:extLst>
          </p:cNvPr>
          <p:cNvPicPr>
            <a:picLocks noChangeAspect="1"/>
          </p:cNvPicPr>
          <p:nvPr/>
        </p:nvPicPr>
        <p:blipFill>
          <a:blip r:embed="rId9"/>
          <a:stretch>
            <a:fillRect/>
          </a:stretch>
        </p:blipFill>
        <p:spPr>
          <a:xfrm>
            <a:off x="9442031" y="3784021"/>
            <a:ext cx="2052923" cy="1176501"/>
          </a:xfrm>
          <a:prstGeom prst="rect">
            <a:avLst/>
          </a:prstGeom>
        </p:spPr>
      </p:pic>
      <p:sp>
        <p:nvSpPr>
          <p:cNvPr id="37" name="CasellaDiTesto 36">
            <a:extLst>
              <a:ext uri="{FF2B5EF4-FFF2-40B4-BE49-F238E27FC236}">
                <a16:creationId xmlns:a16="http://schemas.microsoft.com/office/drawing/2014/main" id="{728B45FB-DCA1-4FC7-8D31-0AD0ACE84A8F}"/>
              </a:ext>
            </a:extLst>
          </p:cNvPr>
          <p:cNvSpPr txBox="1"/>
          <p:nvPr/>
        </p:nvSpPr>
        <p:spPr>
          <a:xfrm>
            <a:off x="1541867" y="1948462"/>
            <a:ext cx="2184026" cy="369332"/>
          </a:xfrm>
          <a:prstGeom prst="rect">
            <a:avLst/>
          </a:prstGeom>
          <a:noFill/>
        </p:spPr>
        <p:txBody>
          <a:bodyPr wrap="square">
            <a:spAutoFit/>
          </a:bodyPr>
          <a:lstStyle/>
          <a:p>
            <a:pPr algn="ctr"/>
            <a:r>
              <a:rPr lang="it-IT" dirty="0">
                <a:solidFill>
                  <a:schemeClr val="bg1"/>
                </a:solidFill>
                <a:latin typeface="Corbel Light" panose="020B0303020204020204" pitchFamily="34" charset="0"/>
              </a:rPr>
              <a:t>Tabella router  Y</a:t>
            </a:r>
          </a:p>
        </p:txBody>
      </p:sp>
      <p:sp>
        <p:nvSpPr>
          <p:cNvPr id="38" name="CasellaDiTesto 37">
            <a:extLst>
              <a:ext uri="{FF2B5EF4-FFF2-40B4-BE49-F238E27FC236}">
                <a16:creationId xmlns:a16="http://schemas.microsoft.com/office/drawing/2014/main" id="{7F279126-E11C-4088-8463-82790F076E0B}"/>
              </a:ext>
            </a:extLst>
          </p:cNvPr>
          <p:cNvSpPr txBox="1"/>
          <p:nvPr/>
        </p:nvSpPr>
        <p:spPr>
          <a:xfrm>
            <a:off x="9309529" y="1946861"/>
            <a:ext cx="2184026" cy="369332"/>
          </a:xfrm>
          <a:prstGeom prst="rect">
            <a:avLst/>
          </a:prstGeom>
          <a:noFill/>
        </p:spPr>
        <p:txBody>
          <a:bodyPr wrap="square">
            <a:spAutoFit/>
          </a:bodyPr>
          <a:lstStyle/>
          <a:p>
            <a:pPr algn="ctr"/>
            <a:r>
              <a:rPr lang="it-IT" dirty="0">
                <a:solidFill>
                  <a:schemeClr val="bg1"/>
                </a:solidFill>
                <a:latin typeface="Corbel Light" panose="020B0303020204020204" pitchFamily="34" charset="0"/>
              </a:rPr>
              <a:t>Tabella router  Z</a:t>
            </a:r>
          </a:p>
        </p:txBody>
      </p:sp>
    </p:spTree>
    <p:extLst>
      <p:ext uri="{BB962C8B-B14F-4D97-AF65-F5344CB8AC3E}">
        <p14:creationId xmlns:p14="http://schemas.microsoft.com/office/powerpoint/2010/main" val="1397396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9B4A4D05-A43C-48DD-B55C-CB317FF1DFAB}"/>
              </a:ext>
            </a:extLst>
          </p:cNvPr>
          <p:cNvSpPr/>
          <p:nvPr/>
        </p:nvSpPr>
        <p:spPr>
          <a:xfrm>
            <a:off x="0" y="-16288"/>
            <a:ext cx="12297508" cy="687428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pic>
        <p:nvPicPr>
          <p:cNvPr id="32" name="Immagine 31">
            <a:extLst>
              <a:ext uri="{FF2B5EF4-FFF2-40B4-BE49-F238E27FC236}">
                <a16:creationId xmlns:a16="http://schemas.microsoft.com/office/drawing/2014/main" id="{78EEBD07-8D7A-4712-A1C5-D5FD1CCB7A71}"/>
              </a:ext>
            </a:extLst>
          </p:cNvPr>
          <p:cNvPicPr>
            <a:picLocks noChangeAspect="1"/>
          </p:cNvPicPr>
          <p:nvPr/>
        </p:nvPicPr>
        <p:blipFill>
          <a:blip r:embed="rId2"/>
          <a:stretch>
            <a:fillRect/>
          </a:stretch>
        </p:blipFill>
        <p:spPr>
          <a:xfrm>
            <a:off x="1384417" y="2245952"/>
            <a:ext cx="1941526" cy="1151564"/>
          </a:xfrm>
          <a:prstGeom prst="rect">
            <a:avLst/>
          </a:prstGeom>
        </p:spPr>
      </p:pic>
      <p:pic>
        <p:nvPicPr>
          <p:cNvPr id="33" name="Immagine 32">
            <a:extLst>
              <a:ext uri="{FF2B5EF4-FFF2-40B4-BE49-F238E27FC236}">
                <a16:creationId xmlns:a16="http://schemas.microsoft.com/office/drawing/2014/main" id="{687B5D11-14F0-4816-B45F-42D5AACD7769}"/>
              </a:ext>
            </a:extLst>
          </p:cNvPr>
          <p:cNvPicPr>
            <a:picLocks noChangeAspect="1"/>
          </p:cNvPicPr>
          <p:nvPr/>
        </p:nvPicPr>
        <p:blipFill>
          <a:blip r:embed="rId3"/>
          <a:stretch>
            <a:fillRect/>
          </a:stretch>
        </p:blipFill>
        <p:spPr>
          <a:xfrm>
            <a:off x="1384417" y="4483313"/>
            <a:ext cx="2030305" cy="1037168"/>
          </a:xfrm>
          <a:prstGeom prst="rect">
            <a:avLst/>
          </a:prstGeom>
        </p:spPr>
      </p:pic>
      <p:sp>
        <p:nvSpPr>
          <p:cNvPr id="39" name="CasellaDiTesto 38">
            <a:extLst>
              <a:ext uri="{FF2B5EF4-FFF2-40B4-BE49-F238E27FC236}">
                <a16:creationId xmlns:a16="http://schemas.microsoft.com/office/drawing/2014/main" id="{D2239DDA-B29A-4B4D-BD4D-A6EC3D878CD3}"/>
              </a:ext>
            </a:extLst>
          </p:cNvPr>
          <p:cNvSpPr txBox="1"/>
          <p:nvPr/>
        </p:nvSpPr>
        <p:spPr>
          <a:xfrm>
            <a:off x="1311022" y="1337519"/>
            <a:ext cx="5535995" cy="646331"/>
          </a:xfrm>
          <a:prstGeom prst="rect">
            <a:avLst/>
          </a:prstGeom>
          <a:noFill/>
        </p:spPr>
        <p:txBody>
          <a:bodyPr wrap="square">
            <a:spAutoFit/>
          </a:bodyPr>
          <a:lstStyle/>
          <a:p>
            <a:r>
              <a:rPr lang="it-IT" dirty="0">
                <a:solidFill>
                  <a:schemeClr val="bg1"/>
                </a:solidFill>
                <a:latin typeface="Corbel Light" panose="020B0303020204020204" pitchFamily="34" charset="0"/>
              </a:rPr>
              <a:t>Per prima cosa aggiorna le righe della tabella dove è </a:t>
            </a:r>
          </a:p>
          <a:p>
            <a:r>
              <a:rPr lang="it-IT" dirty="0">
                <a:solidFill>
                  <a:schemeClr val="bg1"/>
                </a:solidFill>
                <a:latin typeface="Corbel Light" panose="020B0303020204020204" pitchFamily="34" charset="0"/>
              </a:rPr>
              <a:t>presente (infinito), che indica di non avere informazioni</a:t>
            </a:r>
          </a:p>
        </p:txBody>
      </p:sp>
      <p:sp>
        <p:nvSpPr>
          <p:cNvPr id="40" name="CasellaDiTesto 39">
            <a:extLst>
              <a:ext uri="{FF2B5EF4-FFF2-40B4-BE49-F238E27FC236}">
                <a16:creationId xmlns:a16="http://schemas.microsoft.com/office/drawing/2014/main" id="{CD536D33-3F75-4847-B7D0-3ABFCC332AC7}"/>
              </a:ext>
            </a:extLst>
          </p:cNvPr>
          <p:cNvSpPr txBox="1"/>
          <p:nvPr/>
        </p:nvSpPr>
        <p:spPr>
          <a:xfrm>
            <a:off x="4079019" y="2392627"/>
            <a:ext cx="4271433" cy="1477328"/>
          </a:xfrm>
          <a:prstGeom prst="rect">
            <a:avLst/>
          </a:prstGeom>
          <a:noFill/>
        </p:spPr>
        <p:txBody>
          <a:bodyPr wrap="square">
            <a:spAutoFit/>
          </a:bodyPr>
          <a:lstStyle/>
          <a:p>
            <a:r>
              <a:rPr lang="it-IT" dirty="0">
                <a:solidFill>
                  <a:schemeClr val="bg1"/>
                </a:solidFill>
                <a:latin typeface="Corbel Light" panose="020B0303020204020204" pitchFamily="34" charset="0"/>
              </a:rPr>
              <a:t>Viene quindi applicata la formula di </a:t>
            </a:r>
            <a:r>
              <a:rPr lang="it-IT" dirty="0" err="1">
                <a:solidFill>
                  <a:schemeClr val="bg1"/>
                </a:solidFill>
                <a:latin typeface="Corbel Light" panose="020B0303020204020204" pitchFamily="34" charset="0"/>
              </a:rPr>
              <a:t>Bellman</a:t>
            </a:r>
            <a:r>
              <a:rPr lang="it-IT" dirty="0">
                <a:solidFill>
                  <a:schemeClr val="bg1"/>
                </a:solidFill>
                <a:latin typeface="Corbel Light" panose="020B0303020204020204" pitchFamily="34" charset="0"/>
              </a:rPr>
              <a:t>-Ford dopo aver ricevuto le informazioni dagli altri router e sulla base di quelle si ottengono nuovi percorsi migliori e viene quindi aggiornata la tabella di distanze.</a:t>
            </a:r>
          </a:p>
        </p:txBody>
      </p:sp>
      <p:sp>
        <p:nvSpPr>
          <p:cNvPr id="42" name="CasellaDiTesto 41">
            <a:extLst>
              <a:ext uri="{FF2B5EF4-FFF2-40B4-BE49-F238E27FC236}">
                <a16:creationId xmlns:a16="http://schemas.microsoft.com/office/drawing/2014/main" id="{1DA0FBCE-67C1-44C0-BD7B-5A8A650DA44A}"/>
              </a:ext>
            </a:extLst>
          </p:cNvPr>
          <p:cNvSpPr txBox="1"/>
          <p:nvPr/>
        </p:nvSpPr>
        <p:spPr>
          <a:xfrm>
            <a:off x="4311251" y="4961819"/>
            <a:ext cx="6155266" cy="369332"/>
          </a:xfrm>
          <a:prstGeom prst="rect">
            <a:avLst/>
          </a:prstGeom>
          <a:noFill/>
        </p:spPr>
        <p:txBody>
          <a:bodyPr wrap="square">
            <a:spAutoFit/>
          </a:bodyPr>
          <a:lstStyle/>
          <a:p>
            <a:r>
              <a:rPr lang="pl-PL" b="0" i="0" dirty="0">
                <a:solidFill>
                  <a:srgbClr val="FFFFFF"/>
                </a:solidFill>
                <a:effectLst/>
              </a:rPr>
              <a:t>d (z)=min{c(x,y)+D (z), c(x,z)+d (z)}=min{2+1,7+0}=3</a:t>
            </a:r>
            <a:endParaRPr lang="it-IT" dirty="0"/>
          </a:p>
        </p:txBody>
      </p:sp>
      <p:sp>
        <p:nvSpPr>
          <p:cNvPr id="43" name="CasellaDiTesto 42">
            <a:extLst>
              <a:ext uri="{FF2B5EF4-FFF2-40B4-BE49-F238E27FC236}">
                <a16:creationId xmlns:a16="http://schemas.microsoft.com/office/drawing/2014/main" id="{DDF22A9C-A51E-4CA6-815B-74A2A042EA11}"/>
              </a:ext>
            </a:extLst>
          </p:cNvPr>
          <p:cNvSpPr txBox="1"/>
          <p:nvPr/>
        </p:nvSpPr>
        <p:spPr>
          <a:xfrm>
            <a:off x="4311251" y="5335815"/>
            <a:ext cx="6155266" cy="369332"/>
          </a:xfrm>
          <a:prstGeom prst="rect">
            <a:avLst/>
          </a:prstGeom>
          <a:noFill/>
        </p:spPr>
        <p:txBody>
          <a:bodyPr wrap="square">
            <a:spAutoFit/>
          </a:bodyPr>
          <a:lstStyle/>
          <a:p>
            <a:r>
              <a:rPr lang="es-ES" b="0" i="0" dirty="0">
                <a:solidFill>
                  <a:srgbClr val="FFFFFF"/>
                </a:solidFill>
                <a:effectLst/>
              </a:rPr>
              <a:t>d (y)=min{c(x,y)+D (y),c(x,z)+d (y)}=min{2+1,7+0}=3</a:t>
            </a:r>
            <a:endParaRPr lang="it-IT" dirty="0"/>
          </a:p>
        </p:txBody>
      </p:sp>
      <p:cxnSp>
        <p:nvCxnSpPr>
          <p:cNvPr id="7" name="Connettore 2 6">
            <a:extLst>
              <a:ext uri="{FF2B5EF4-FFF2-40B4-BE49-F238E27FC236}">
                <a16:creationId xmlns:a16="http://schemas.microsoft.com/office/drawing/2014/main" id="{FAE56E4F-A78A-48B2-9440-E27A486410B1}"/>
              </a:ext>
            </a:extLst>
          </p:cNvPr>
          <p:cNvCxnSpPr/>
          <p:nvPr/>
        </p:nvCxnSpPr>
        <p:spPr>
          <a:xfrm>
            <a:off x="3325943" y="5089088"/>
            <a:ext cx="86505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4" name="Connettore 2 43">
            <a:extLst>
              <a:ext uri="{FF2B5EF4-FFF2-40B4-BE49-F238E27FC236}">
                <a16:creationId xmlns:a16="http://schemas.microsoft.com/office/drawing/2014/main" id="{B164EA4C-3B96-4D0C-A833-BA8230772D29}"/>
              </a:ext>
            </a:extLst>
          </p:cNvPr>
          <p:cNvCxnSpPr>
            <a:cxnSpLocks/>
          </p:cNvCxnSpPr>
          <p:nvPr/>
        </p:nvCxnSpPr>
        <p:spPr>
          <a:xfrm>
            <a:off x="2875753" y="5098176"/>
            <a:ext cx="1315247" cy="422305"/>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18008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a:extLst>
              <a:ext uri="{FF2B5EF4-FFF2-40B4-BE49-F238E27FC236}">
                <a16:creationId xmlns:a16="http://schemas.microsoft.com/office/drawing/2014/main" id="{9B4A4D05-A43C-48DD-B55C-CB317FF1DFAB}"/>
              </a:ext>
            </a:extLst>
          </p:cNvPr>
          <p:cNvSpPr/>
          <p:nvPr/>
        </p:nvSpPr>
        <p:spPr>
          <a:xfrm>
            <a:off x="0" y="-8144"/>
            <a:ext cx="12297508" cy="6874288"/>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CasellaDiTesto 21">
            <a:extLst>
              <a:ext uri="{FF2B5EF4-FFF2-40B4-BE49-F238E27FC236}">
                <a16:creationId xmlns:a16="http://schemas.microsoft.com/office/drawing/2014/main" id="{B8468450-3DF0-4636-A606-B187B627A98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3" name="CasellaDiTesto 22">
            <a:extLst>
              <a:ext uri="{FF2B5EF4-FFF2-40B4-BE49-F238E27FC236}">
                <a16:creationId xmlns:a16="http://schemas.microsoft.com/office/drawing/2014/main" id="{F7BCB3D9-4028-4650-9EA5-649EB3C1ABC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14" name="CasellaDiTesto 13">
            <a:extLst>
              <a:ext uri="{FF2B5EF4-FFF2-40B4-BE49-F238E27FC236}">
                <a16:creationId xmlns:a16="http://schemas.microsoft.com/office/drawing/2014/main" id="{DD3C720C-470D-4A38-998D-17FECCB54CBF}"/>
              </a:ext>
            </a:extLst>
          </p:cNvPr>
          <p:cNvSpPr txBox="1"/>
          <p:nvPr/>
        </p:nvSpPr>
        <p:spPr>
          <a:xfrm>
            <a:off x="3198485" y="1359482"/>
            <a:ext cx="6155266" cy="646331"/>
          </a:xfrm>
          <a:prstGeom prst="rect">
            <a:avLst/>
          </a:prstGeom>
          <a:noFill/>
        </p:spPr>
        <p:txBody>
          <a:bodyPr wrap="square">
            <a:spAutoFit/>
          </a:bodyPr>
          <a:lstStyle/>
          <a:p>
            <a:pPr algn="ctr"/>
            <a:r>
              <a:rPr lang="it-IT" dirty="0">
                <a:solidFill>
                  <a:schemeClr val="bg1"/>
                </a:solidFill>
                <a:latin typeface="Corbel Light" panose="020B0303020204020204" pitchFamily="34" charset="0"/>
              </a:rPr>
              <a:t>I calcoli vengono effettuati da tutti i nodi sulla base delle nuove informazioni.</a:t>
            </a:r>
          </a:p>
        </p:txBody>
      </p:sp>
      <p:pic>
        <p:nvPicPr>
          <p:cNvPr id="15" name="Immagine 14">
            <a:extLst>
              <a:ext uri="{FF2B5EF4-FFF2-40B4-BE49-F238E27FC236}">
                <a16:creationId xmlns:a16="http://schemas.microsoft.com/office/drawing/2014/main" id="{04F212BF-4C6B-41CE-9AA2-34936780A27C}"/>
              </a:ext>
            </a:extLst>
          </p:cNvPr>
          <p:cNvPicPr>
            <a:picLocks noChangeAspect="1"/>
          </p:cNvPicPr>
          <p:nvPr/>
        </p:nvPicPr>
        <p:blipFill>
          <a:blip r:embed="rId2"/>
          <a:stretch>
            <a:fillRect/>
          </a:stretch>
        </p:blipFill>
        <p:spPr>
          <a:xfrm>
            <a:off x="1413467" y="2271931"/>
            <a:ext cx="2238687" cy="1286054"/>
          </a:xfrm>
          <a:prstGeom prst="rect">
            <a:avLst/>
          </a:prstGeom>
        </p:spPr>
      </p:pic>
      <p:pic>
        <p:nvPicPr>
          <p:cNvPr id="17" name="Immagine 16">
            <a:extLst>
              <a:ext uri="{FF2B5EF4-FFF2-40B4-BE49-F238E27FC236}">
                <a16:creationId xmlns:a16="http://schemas.microsoft.com/office/drawing/2014/main" id="{8A7FE2A1-97B4-4E95-A30E-1BC165CEDE8C}"/>
              </a:ext>
            </a:extLst>
          </p:cNvPr>
          <p:cNvPicPr>
            <a:picLocks noChangeAspect="1"/>
          </p:cNvPicPr>
          <p:nvPr/>
        </p:nvPicPr>
        <p:blipFill>
          <a:blip r:embed="rId3"/>
          <a:stretch>
            <a:fillRect/>
          </a:stretch>
        </p:blipFill>
        <p:spPr>
          <a:xfrm>
            <a:off x="1413467" y="3780928"/>
            <a:ext cx="2238687" cy="1159191"/>
          </a:xfrm>
          <a:prstGeom prst="rect">
            <a:avLst/>
          </a:prstGeom>
        </p:spPr>
      </p:pic>
      <p:pic>
        <p:nvPicPr>
          <p:cNvPr id="18" name="Immagine 17">
            <a:extLst>
              <a:ext uri="{FF2B5EF4-FFF2-40B4-BE49-F238E27FC236}">
                <a16:creationId xmlns:a16="http://schemas.microsoft.com/office/drawing/2014/main" id="{4C233B39-D6F5-4DC7-A1B2-D3AF24A6D277}"/>
              </a:ext>
            </a:extLst>
          </p:cNvPr>
          <p:cNvPicPr>
            <a:picLocks noChangeAspect="1"/>
          </p:cNvPicPr>
          <p:nvPr/>
        </p:nvPicPr>
        <p:blipFill>
          <a:blip r:embed="rId4"/>
          <a:stretch>
            <a:fillRect/>
          </a:stretch>
        </p:blipFill>
        <p:spPr>
          <a:xfrm>
            <a:off x="8767018" y="2255226"/>
            <a:ext cx="2140446" cy="1329227"/>
          </a:xfrm>
          <a:prstGeom prst="rect">
            <a:avLst/>
          </a:prstGeom>
        </p:spPr>
      </p:pic>
      <p:pic>
        <p:nvPicPr>
          <p:cNvPr id="19" name="Immagine 18">
            <a:extLst>
              <a:ext uri="{FF2B5EF4-FFF2-40B4-BE49-F238E27FC236}">
                <a16:creationId xmlns:a16="http://schemas.microsoft.com/office/drawing/2014/main" id="{FC2B6682-0B4C-49F1-AE70-F57E00C73EDE}"/>
              </a:ext>
            </a:extLst>
          </p:cNvPr>
          <p:cNvPicPr>
            <a:picLocks noChangeAspect="1"/>
          </p:cNvPicPr>
          <p:nvPr/>
        </p:nvPicPr>
        <p:blipFill>
          <a:blip r:embed="rId5"/>
          <a:stretch>
            <a:fillRect/>
          </a:stretch>
        </p:blipFill>
        <p:spPr>
          <a:xfrm>
            <a:off x="8767018" y="3749012"/>
            <a:ext cx="2277994" cy="1191108"/>
          </a:xfrm>
          <a:prstGeom prst="rect">
            <a:avLst/>
          </a:prstGeom>
        </p:spPr>
      </p:pic>
      <p:sp>
        <p:nvSpPr>
          <p:cNvPr id="20" name="CasellaDiTesto 19">
            <a:extLst>
              <a:ext uri="{FF2B5EF4-FFF2-40B4-BE49-F238E27FC236}">
                <a16:creationId xmlns:a16="http://schemas.microsoft.com/office/drawing/2014/main" id="{1D123C85-8BE4-4F55-8EF2-A394651B932E}"/>
              </a:ext>
            </a:extLst>
          </p:cNvPr>
          <p:cNvSpPr txBox="1"/>
          <p:nvPr/>
        </p:nvSpPr>
        <p:spPr>
          <a:xfrm>
            <a:off x="1061902" y="5347032"/>
            <a:ext cx="6155266" cy="369332"/>
          </a:xfrm>
          <a:prstGeom prst="rect">
            <a:avLst/>
          </a:prstGeom>
          <a:noFill/>
        </p:spPr>
        <p:txBody>
          <a:bodyPr wrap="square">
            <a:spAutoFit/>
          </a:bodyPr>
          <a:lstStyle/>
          <a:p>
            <a:r>
              <a:rPr lang="it-IT" b="0" i="0">
                <a:solidFill>
                  <a:srgbClr val="FFFFFF"/>
                </a:solidFill>
                <a:effectLst/>
              </a:rPr>
              <a:t>d (x)=min{c(x,y)+D (x), c(x,z)+d (x)}=min{1+7,2+0}=2</a:t>
            </a:r>
            <a:endParaRPr lang="it-IT" dirty="0"/>
          </a:p>
        </p:txBody>
      </p:sp>
      <p:sp>
        <p:nvSpPr>
          <p:cNvPr id="24" name="CasellaDiTesto 23">
            <a:extLst>
              <a:ext uri="{FF2B5EF4-FFF2-40B4-BE49-F238E27FC236}">
                <a16:creationId xmlns:a16="http://schemas.microsoft.com/office/drawing/2014/main" id="{B13A2343-7B9C-4F71-BE8D-2B0CE20E1597}"/>
              </a:ext>
            </a:extLst>
          </p:cNvPr>
          <p:cNvSpPr txBox="1"/>
          <p:nvPr/>
        </p:nvSpPr>
        <p:spPr>
          <a:xfrm>
            <a:off x="1061902" y="5882396"/>
            <a:ext cx="6155266" cy="369332"/>
          </a:xfrm>
          <a:prstGeom prst="rect">
            <a:avLst/>
          </a:prstGeom>
          <a:noFill/>
        </p:spPr>
        <p:txBody>
          <a:bodyPr wrap="square">
            <a:spAutoFit/>
          </a:bodyPr>
          <a:lstStyle/>
          <a:p>
            <a:r>
              <a:rPr lang="pl-PL" b="0" i="0" dirty="0">
                <a:solidFill>
                  <a:srgbClr val="FFFFFF"/>
                </a:solidFill>
                <a:effectLst/>
              </a:rPr>
              <a:t>d (z)=min{c(x,y)+D (z), c(x,z)+d (z)}=min{1+0,2+7}=1</a:t>
            </a:r>
            <a:endParaRPr lang="it-IT" dirty="0"/>
          </a:p>
        </p:txBody>
      </p:sp>
      <p:sp>
        <p:nvSpPr>
          <p:cNvPr id="25" name="CasellaDiTesto 24">
            <a:extLst>
              <a:ext uri="{FF2B5EF4-FFF2-40B4-BE49-F238E27FC236}">
                <a16:creationId xmlns:a16="http://schemas.microsoft.com/office/drawing/2014/main" id="{705CF892-3618-4D4D-A985-E1D4012CDB4C}"/>
              </a:ext>
            </a:extLst>
          </p:cNvPr>
          <p:cNvSpPr txBox="1"/>
          <p:nvPr/>
        </p:nvSpPr>
        <p:spPr>
          <a:xfrm>
            <a:off x="7047834" y="5347032"/>
            <a:ext cx="6155266" cy="369332"/>
          </a:xfrm>
          <a:prstGeom prst="rect">
            <a:avLst/>
          </a:prstGeom>
          <a:noFill/>
        </p:spPr>
        <p:txBody>
          <a:bodyPr wrap="square">
            <a:spAutoFit/>
          </a:bodyPr>
          <a:lstStyle/>
          <a:p>
            <a:r>
              <a:rPr lang="pl-PL" b="0" i="0" dirty="0">
                <a:solidFill>
                  <a:srgbClr val="FFFFFF"/>
                </a:solidFill>
                <a:effectLst/>
              </a:rPr>
              <a:t>d (z)=min{c(x,y)+D (x), c(x,z)+d (x)}=min{1+2,7+0}=3</a:t>
            </a:r>
            <a:endParaRPr lang="it-IT" dirty="0"/>
          </a:p>
        </p:txBody>
      </p:sp>
      <p:sp>
        <p:nvSpPr>
          <p:cNvPr id="26" name="CasellaDiTesto 25">
            <a:extLst>
              <a:ext uri="{FF2B5EF4-FFF2-40B4-BE49-F238E27FC236}">
                <a16:creationId xmlns:a16="http://schemas.microsoft.com/office/drawing/2014/main" id="{6C942A38-8B36-4A61-961B-68472E4B7FE4}"/>
              </a:ext>
            </a:extLst>
          </p:cNvPr>
          <p:cNvSpPr txBox="1"/>
          <p:nvPr/>
        </p:nvSpPr>
        <p:spPr>
          <a:xfrm>
            <a:off x="7047834" y="5884517"/>
            <a:ext cx="6498166" cy="369332"/>
          </a:xfrm>
          <a:prstGeom prst="rect">
            <a:avLst/>
          </a:prstGeom>
          <a:noFill/>
        </p:spPr>
        <p:txBody>
          <a:bodyPr wrap="square">
            <a:spAutoFit/>
          </a:bodyPr>
          <a:lstStyle/>
          <a:p>
            <a:r>
              <a:rPr lang="pl-PL" b="0" i="0" dirty="0">
                <a:solidFill>
                  <a:srgbClr val="FFFFFF"/>
                </a:solidFill>
                <a:effectLst/>
              </a:rPr>
              <a:t>d (z)=min{c(x,y)+D (z), c(x,z)+d (z)}=min{1+0,7+2}=1</a:t>
            </a:r>
            <a:endParaRPr lang="it-IT" dirty="0"/>
          </a:p>
        </p:txBody>
      </p:sp>
    </p:spTree>
    <p:extLst>
      <p:ext uri="{BB962C8B-B14F-4D97-AF65-F5344CB8AC3E}">
        <p14:creationId xmlns:p14="http://schemas.microsoft.com/office/powerpoint/2010/main" val="4212568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5508" y="-164123"/>
            <a:ext cx="62015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CasellaDiTesto 4">
            <a:extLst>
              <a:ext uri="{FF2B5EF4-FFF2-40B4-BE49-F238E27FC236}">
                <a16:creationId xmlns:a16="http://schemas.microsoft.com/office/drawing/2014/main" id="{76AC8D7B-1569-41B3-9A7D-F81A22B4C8A9}"/>
              </a:ext>
            </a:extLst>
          </p:cNvPr>
          <p:cNvSpPr txBox="1"/>
          <p:nvPr/>
        </p:nvSpPr>
        <p:spPr>
          <a:xfrm>
            <a:off x="4864768" y="1323474"/>
            <a:ext cx="2462463" cy="584775"/>
          </a:xfrm>
          <a:prstGeom prst="rect">
            <a:avLst/>
          </a:prstGeom>
          <a:noFill/>
        </p:spPr>
        <p:txBody>
          <a:bodyPr wrap="square" rtlCol="0">
            <a:spAutoFit/>
          </a:bodyPr>
          <a:lstStyle/>
          <a:p>
            <a:r>
              <a:rPr lang="en-US" sz="3200" dirty="0">
                <a:solidFill>
                  <a:schemeClr val="bg1"/>
                </a:solidFill>
                <a:latin typeface="Bahnschrift Light" panose="020B0502040204020203" pitchFamily="34" charset="0"/>
              </a:rPr>
              <a:t>ALGORITMO</a:t>
            </a:r>
            <a:endParaRPr lang="it-IT" sz="3200" dirty="0">
              <a:solidFill>
                <a:schemeClr val="bg1"/>
              </a:solidFill>
              <a:latin typeface="Bahnschrift Light" panose="020B0502040204020203" pitchFamily="34" charset="0"/>
            </a:endParaRPr>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9" name="CasellaDiTesto 8">
            <a:extLst>
              <a:ext uri="{FF2B5EF4-FFF2-40B4-BE49-F238E27FC236}">
                <a16:creationId xmlns:a16="http://schemas.microsoft.com/office/drawing/2014/main" id="{BC0DED05-D780-4610-BE15-947CCB24D27F}"/>
              </a:ext>
            </a:extLst>
          </p:cNvPr>
          <p:cNvSpPr txBox="1"/>
          <p:nvPr/>
        </p:nvSpPr>
        <p:spPr>
          <a:xfrm>
            <a:off x="692150" y="4626586"/>
            <a:ext cx="7023100" cy="646331"/>
          </a:xfrm>
          <a:prstGeom prst="rect">
            <a:avLst/>
          </a:prstGeom>
          <a:noFill/>
        </p:spPr>
        <p:txBody>
          <a:bodyPr wrap="square">
            <a:spAutoFit/>
          </a:bodyPr>
          <a:lstStyle/>
          <a:p>
            <a:r>
              <a:rPr lang="it-IT" b="0" i="0" dirty="0">
                <a:solidFill>
                  <a:srgbClr val="FFFFFF"/>
                </a:solidFill>
                <a:effectLst/>
              </a:rPr>
              <a:t>I calcoli vengono effettuati da tutti i nodi sulla base delle nuove informazioni.</a:t>
            </a:r>
            <a:endParaRPr lang="it-IT" dirty="0"/>
          </a:p>
        </p:txBody>
      </p:sp>
      <p:pic>
        <p:nvPicPr>
          <p:cNvPr id="4" name="Immagine 3">
            <a:extLst>
              <a:ext uri="{FF2B5EF4-FFF2-40B4-BE49-F238E27FC236}">
                <a16:creationId xmlns:a16="http://schemas.microsoft.com/office/drawing/2014/main" id="{615DEA87-6ECA-4FDA-AD43-292DFD52B327}"/>
              </a:ext>
            </a:extLst>
          </p:cNvPr>
          <p:cNvPicPr>
            <a:picLocks noChangeAspect="1"/>
          </p:cNvPicPr>
          <p:nvPr/>
        </p:nvPicPr>
        <p:blipFill>
          <a:blip r:embed="rId2"/>
          <a:stretch>
            <a:fillRect/>
          </a:stretch>
        </p:blipFill>
        <p:spPr>
          <a:xfrm>
            <a:off x="1413467" y="2271931"/>
            <a:ext cx="2238687" cy="1286054"/>
          </a:xfrm>
          <a:prstGeom prst="rect">
            <a:avLst/>
          </a:prstGeom>
        </p:spPr>
      </p:pic>
      <p:pic>
        <p:nvPicPr>
          <p:cNvPr id="12" name="Immagine 11">
            <a:extLst>
              <a:ext uri="{FF2B5EF4-FFF2-40B4-BE49-F238E27FC236}">
                <a16:creationId xmlns:a16="http://schemas.microsoft.com/office/drawing/2014/main" id="{545CD39D-C55F-4012-951A-5E7C5922711D}"/>
              </a:ext>
            </a:extLst>
          </p:cNvPr>
          <p:cNvPicPr>
            <a:picLocks noChangeAspect="1"/>
          </p:cNvPicPr>
          <p:nvPr/>
        </p:nvPicPr>
        <p:blipFill>
          <a:blip r:embed="rId3"/>
          <a:stretch>
            <a:fillRect/>
          </a:stretch>
        </p:blipFill>
        <p:spPr>
          <a:xfrm>
            <a:off x="1946532" y="3877689"/>
            <a:ext cx="2943636" cy="1524213"/>
          </a:xfrm>
          <a:prstGeom prst="rect">
            <a:avLst/>
          </a:prstGeom>
        </p:spPr>
      </p:pic>
      <p:pic>
        <p:nvPicPr>
          <p:cNvPr id="14" name="Immagine 13">
            <a:extLst>
              <a:ext uri="{FF2B5EF4-FFF2-40B4-BE49-F238E27FC236}">
                <a16:creationId xmlns:a16="http://schemas.microsoft.com/office/drawing/2014/main" id="{0F7A45E5-63F4-4A6A-A773-83C6D7EA306A}"/>
              </a:ext>
            </a:extLst>
          </p:cNvPr>
          <p:cNvPicPr>
            <a:picLocks noChangeAspect="1"/>
          </p:cNvPicPr>
          <p:nvPr/>
        </p:nvPicPr>
        <p:blipFill>
          <a:blip r:embed="rId4"/>
          <a:stretch>
            <a:fillRect/>
          </a:stretch>
        </p:blipFill>
        <p:spPr>
          <a:xfrm>
            <a:off x="7217618" y="2861197"/>
            <a:ext cx="2086266" cy="1295581"/>
          </a:xfrm>
          <a:prstGeom prst="rect">
            <a:avLst/>
          </a:prstGeom>
        </p:spPr>
      </p:pic>
      <p:pic>
        <p:nvPicPr>
          <p:cNvPr id="16" name="Immagine 15">
            <a:extLst>
              <a:ext uri="{FF2B5EF4-FFF2-40B4-BE49-F238E27FC236}">
                <a16:creationId xmlns:a16="http://schemas.microsoft.com/office/drawing/2014/main" id="{646A2C15-49E3-4C7C-ADFE-4C787395D7AC}"/>
              </a:ext>
            </a:extLst>
          </p:cNvPr>
          <p:cNvPicPr>
            <a:picLocks noChangeAspect="1"/>
          </p:cNvPicPr>
          <p:nvPr/>
        </p:nvPicPr>
        <p:blipFill>
          <a:blip r:embed="rId5"/>
          <a:stretch>
            <a:fillRect/>
          </a:stretch>
        </p:blipFill>
        <p:spPr>
          <a:xfrm>
            <a:off x="6777823" y="4755571"/>
            <a:ext cx="2648680" cy="1384931"/>
          </a:xfrm>
          <a:prstGeom prst="rect">
            <a:avLst/>
          </a:prstGeom>
        </p:spPr>
      </p:pic>
      <p:sp>
        <p:nvSpPr>
          <p:cNvPr id="17" name="CasellaDiTesto 16">
            <a:extLst>
              <a:ext uri="{FF2B5EF4-FFF2-40B4-BE49-F238E27FC236}">
                <a16:creationId xmlns:a16="http://schemas.microsoft.com/office/drawing/2014/main" id="{7283D81B-252B-4A4F-A16B-ED19036E077B}"/>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18" name="CasellaDiTesto 17">
            <a:extLst>
              <a:ext uri="{FF2B5EF4-FFF2-40B4-BE49-F238E27FC236}">
                <a16:creationId xmlns:a16="http://schemas.microsoft.com/office/drawing/2014/main" id="{1E242FFB-2056-442B-B498-89A991B8F7A6}"/>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13163493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43627"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01800" y="960503"/>
            <a:ext cx="4140200" cy="4157597"/>
          </a:xfrm>
          <a:prstGeom prst="round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GESTIONE DI ARCHI NEGATIVI</a:t>
            </a:r>
          </a:p>
          <a:p>
            <a:r>
              <a:rPr lang="en-US" sz="2000" dirty="0">
                <a:solidFill>
                  <a:schemeClr val="bg1"/>
                </a:solidFill>
                <a:latin typeface="Futura XBlkCnIt BT" panose="020B0806020204090204" pitchFamily="34" charset="0"/>
              </a:rPr>
              <a:t>    IMPLEMENTAZIONE SEMPLICE</a:t>
            </a:r>
          </a:p>
          <a:p>
            <a:r>
              <a:rPr lang="en-US" sz="2000" dirty="0">
                <a:solidFill>
                  <a:schemeClr val="bg1"/>
                </a:solidFill>
                <a:latin typeface="Futura XBlkCnIt BT" panose="020B0806020204090204" pitchFamily="34" charset="0"/>
              </a:rPr>
              <a:t>    VERSABILITA A GRAFI CON PESI      </a:t>
            </a:r>
          </a:p>
          <a:p>
            <a:r>
              <a:rPr lang="en-US" sz="2000" dirty="0">
                <a:solidFill>
                  <a:schemeClr val="bg1"/>
                </a:solidFill>
                <a:latin typeface="Futura XBlkCnIt BT" panose="020B0806020204090204" pitchFamily="34" charset="0"/>
              </a:rPr>
              <a:t>    DINAMICI</a:t>
            </a:r>
          </a:p>
          <a:p>
            <a:r>
              <a:rPr lang="en-US" sz="2000" dirty="0">
                <a:solidFill>
                  <a:schemeClr val="bg1"/>
                </a:solidFill>
                <a:latin typeface="Futura XBlkCnIt BT" panose="020B0806020204090204" pitchFamily="34" charset="0"/>
              </a:rPr>
              <a:t>    ROBUSTEZZA CONTRO LA </a:t>
            </a:r>
          </a:p>
          <a:p>
            <a:r>
              <a:rPr lang="en-US" sz="2000" dirty="0">
                <a:solidFill>
                  <a:schemeClr val="bg1"/>
                </a:solidFill>
                <a:latin typeface="Futura XBlkCnIt BT" panose="020B0806020204090204" pitchFamily="34" charset="0"/>
              </a:rPr>
              <a:t>    GESTIONE DI RETE  </a:t>
            </a:r>
            <a:endParaRPr lang="it-IT" sz="2000" dirty="0">
              <a:solidFill>
                <a:schemeClr val="bg1"/>
              </a:solidFill>
              <a:latin typeface="Futura XBlkCnIt BT" panose="020B0806020204090204" pitchFamily="34" charset="0"/>
            </a:endParaRPr>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7245350" y="960503"/>
            <a:ext cx="4140200" cy="4157597"/>
          </a:xfrm>
          <a:prstGeom prst="round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BLACK HOLE</a:t>
            </a:r>
          </a:p>
          <a:p>
            <a:r>
              <a:rPr lang="en-US" sz="2000" dirty="0">
                <a:solidFill>
                  <a:srgbClr val="3B3838"/>
                </a:solidFill>
                <a:latin typeface="Futura XBlkCnIt BT" panose="020B0806020204090204" pitchFamily="34" charset="0"/>
              </a:rPr>
              <a:t>   ROUTING LOOP</a:t>
            </a:r>
          </a:p>
          <a:p>
            <a:r>
              <a:rPr lang="en-US" sz="2000" dirty="0">
                <a:solidFill>
                  <a:srgbClr val="3B3838"/>
                </a:solidFill>
                <a:latin typeface="Futura XBlkCnIt BT" panose="020B0806020204090204" pitchFamily="34" charset="0"/>
              </a:rPr>
              <a:t>   COUNT TO INFINITY</a:t>
            </a:r>
            <a:endParaRPr lang="it-IT" sz="2000" dirty="0">
              <a:solidFill>
                <a:srgbClr val="3B3838"/>
              </a:solidFill>
              <a:latin typeface="Futura XBlkCnIt BT" panose="020B0806020204090204" pitchFamily="34" charset="0"/>
            </a:endParaRPr>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vale 3">
            <a:extLst>
              <a:ext uri="{FF2B5EF4-FFF2-40B4-BE49-F238E27FC236}">
                <a16:creationId xmlns:a16="http://schemas.microsoft.com/office/drawing/2014/main" id="{A04D819E-770D-4145-8ABA-8521AF10FAF0}"/>
              </a:ext>
            </a:extLst>
          </p:cNvPr>
          <p:cNvSpPr/>
          <p:nvPr/>
        </p:nvSpPr>
        <p:spPr>
          <a:xfrm>
            <a:off x="3492500" y="5683926"/>
            <a:ext cx="558800" cy="5588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2616200" y="1206500"/>
            <a:ext cx="23114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PRO</a:t>
            </a:r>
            <a:endParaRPr lang="it-IT" dirty="0">
              <a:solidFill>
                <a:schemeClr val="bg1"/>
              </a:solidFill>
              <a:latin typeface="Futura XBlkCnIt BT" panose="020B0806020204090204" pitchFamily="34" charset="0"/>
            </a:endParaRPr>
          </a:p>
        </p:txBody>
      </p:sp>
      <p:sp>
        <p:nvSpPr>
          <p:cNvPr id="11" name="CasellaDiTesto 10">
            <a:extLst>
              <a:ext uri="{FF2B5EF4-FFF2-40B4-BE49-F238E27FC236}">
                <a16:creationId xmlns:a16="http://schemas.microsoft.com/office/drawing/2014/main" id="{A5E4DD28-BBA4-4124-BC55-7EF16F2A1E80}"/>
              </a:ext>
            </a:extLst>
          </p:cNvPr>
          <p:cNvSpPr txBox="1"/>
          <p:nvPr/>
        </p:nvSpPr>
        <p:spPr>
          <a:xfrm>
            <a:off x="8086725" y="1206500"/>
            <a:ext cx="245745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CONTRO</a:t>
            </a:r>
            <a:endParaRPr lang="it-IT" dirty="0">
              <a:solidFill>
                <a:srgbClr val="3B3838"/>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05651" y="2202785"/>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03135" y="2809585"/>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03135" y="342900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003135" y="2512492"/>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9" name="Ovale 18">
            <a:extLst>
              <a:ext uri="{FF2B5EF4-FFF2-40B4-BE49-F238E27FC236}">
                <a16:creationId xmlns:a16="http://schemas.microsoft.com/office/drawing/2014/main" id="{3C7F45BF-8523-4F39-8DC2-354CE2BE59BB}"/>
              </a:ext>
            </a:extLst>
          </p:cNvPr>
          <p:cNvSpPr/>
          <p:nvPr/>
        </p:nvSpPr>
        <p:spPr>
          <a:xfrm>
            <a:off x="7469554" y="2657968"/>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Ovale 19">
            <a:extLst>
              <a:ext uri="{FF2B5EF4-FFF2-40B4-BE49-F238E27FC236}">
                <a16:creationId xmlns:a16="http://schemas.microsoft.com/office/drawing/2014/main" id="{D062301A-D863-44A1-8145-AF6A191233A0}"/>
              </a:ext>
            </a:extLst>
          </p:cNvPr>
          <p:cNvSpPr/>
          <p:nvPr/>
        </p:nvSpPr>
        <p:spPr>
          <a:xfrm>
            <a:off x="7466092" y="2959464"/>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Ovale 20">
            <a:extLst>
              <a:ext uri="{FF2B5EF4-FFF2-40B4-BE49-F238E27FC236}">
                <a16:creationId xmlns:a16="http://schemas.microsoft.com/office/drawing/2014/main" id="{4EAD08A8-8158-4398-82E9-7E59F6E878C0}"/>
              </a:ext>
            </a:extLst>
          </p:cNvPr>
          <p:cNvSpPr/>
          <p:nvPr/>
        </p:nvSpPr>
        <p:spPr>
          <a:xfrm>
            <a:off x="7473016" y="3267101"/>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CasellaDiTesto 28">
            <a:extLst>
              <a:ext uri="{FF2B5EF4-FFF2-40B4-BE49-F238E27FC236}">
                <a16:creationId xmlns:a16="http://schemas.microsoft.com/office/drawing/2014/main" id="{1D7C9B7E-B4B8-4828-A220-B81A1554AEF4}"/>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30" name="CasellaDiTesto 29">
            <a:extLst>
              <a:ext uri="{FF2B5EF4-FFF2-40B4-BE49-F238E27FC236}">
                <a16:creationId xmlns:a16="http://schemas.microsoft.com/office/drawing/2014/main" id="{125108EE-EC82-4DAC-AFFF-CEA9087EBD76}"/>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12101087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43627"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7245350" y="960503"/>
            <a:ext cx="4140200" cy="4157597"/>
          </a:xfrm>
          <a:prstGeom prst="round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BLACK HOLE</a:t>
            </a:r>
          </a:p>
          <a:p>
            <a:r>
              <a:rPr lang="en-US" sz="2000" dirty="0">
                <a:solidFill>
                  <a:srgbClr val="3B3838"/>
                </a:solidFill>
                <a:latin typeface="Futura XBlkCnIt BT" panose="020B0806020204090204" pitchFamily="34" charset="0"/>
              </a:rPr>
              <a:t>   ROUTING LOOP</a:t>
            </a:r>
          </a:p>
          <a:p>
            <a:r>
              <a:rPr lang="en-US" sz="2000" dirty="0">
                <a:solidFill>
                  <a:srgbClr val="3B3838"/>
                </a:solidFill>
                <a:latin typeface="Futura XBlkCnIt BT" panose="020B0806020204090204" pitchFamily="34" charset="0"/>
              </a:rPr>
              <a:t>   COUNT TO INFINITY</a:t>
            </a:r>
            <a:endParaRPr lang="it-IT" sz="2000" dirty="0">
              <a:solidFill>
                <a:srgbClr val="3B3838"/>
              </a:solidFill>
              <a:latin typeface="Futura XBlkCnIt BT" panose="020B0806020204090204" pitchFamily="34" charset="0"/>
            </a:endParaRPr>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A5E4DD28-BBA4-4124-BC55-7EF16F2A1E80}"/>
              </a:ext>
            </a:extLst>
          </p:cNvPr>
          <p:cNvSpPr txBox="1"/>
          <p:nvPr/>
        </p:nvSpPr>
        <p:spPr>
          <a:xfrm>
            <a:off x="8086725" y="1206500"/>
            <a:ext cx="245745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CONTRO</a:t>
            </a:r>
            <a:endParaRPr lang="it-IT" dirty="0">
              <a:solidFill>
                <a:srgbClr val="3B3838"/>
              </a:solidFill>
              <a:latin typeface="Futura XBlkCnIt BT" panose="020B0806020204090204" pitchFamily="34" charset="0"/>
            </a:endParaRPr>
          </a:p>
        </p:txBody>
      </p:sp>
      <p:sp>
        <p:nvSpPr>
          <p:cNvPr id="19" name="Ovale 18">
            <a:extLst>
              <a:ext uri="{FF2B5EF4-FFF2-40B4-BE49-F238E27FC236}">
                <a16:creationId xmlns:a16="http://schemas.microsoft.com/office/drawing/2014/main" id="{3C7F45BF-8523-4F39-8DC2-354CE2BE59BB}"/>
              </a:ext>
            </a:extLst>
          </p:cNvPr>
          <p:cNvSpPr/>
          <p:nvPr/>
        </p:nvSpPr>
        <p:spPr>
          <a:xfrm>
            <a:off x="7469554" y="2657968"/>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Ovale 19">
            <a:extLst>
              <a:ext uri="{FF2B5EF4-FFF2-40B4-BE49-F238E27FC236}">
                <a16:creationId xmlns:a16="http://schemas.microsoft.com/office/drawing/2014/main" id="{D062301A-D863-44A1-8145-AF6A191233A0}"/>
              </a:ext>
            </a:extLst>
          </p:cNvPr>
          <p:cNvSpPr/>
          <p:nvPr/>
        </p:nvSpPr>
        <p:spPr>
          <a:xfrm>
            <a:off x="7466092" y="2959464"/>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Ovale 20">
            <a:extLst>
              <a:ext uri="{FF2B5EF4-FFF2-40B4-BE49-F238E27FC236}">
                <a16:creationId xmlns:a16="http://schemas.microsoft.com/office/drawing/2014/main" id="{4EAD08A8-8158-4398-82E9-7E59F6E878C0}"/>
              </a:ext>
            </a:extLst>
          </p:cNvPr>
          <p:cNvSpPr/>
          <p:nvPr/>
        </p:nvSpPr>
        <p:spPr>
          <a:xfrm>
            <a:off x="7473016" y="3267101"/>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vale 3">
            <a:extLst>
              <a:ext uri="{FF2B5EF4-FFF2-40B4-BE49-F238E27FC236}">
                <a16:creationId xmlns:a16="http://schemas.microsoft.com/office/drawing/2014/main" id="{A04D819E-770D-4145-8ABA-8521AF10FAF0}"/>
              </a:ext>
            </a:extLst>
          </p:cNvPr>
          <p:cNvSpPr/>
          <p:nvPr/>
        </p:nvSpPr>
        <p:spPr>
          <a:xfrm>
            <a:off x="-2406316" y="-5438273"/>
            <a:ext cx="17806737" cy="1746985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46956" y="1604740"/>
            <a:ext cx="4140200" cy="4157597"/>
          </a:xfrm>
          <a:prstGeom prst="round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GESTIONE DI ARCHI NEGATIVI</a:t>
            </a: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    IMPLEMENTAZIONE SEMPLICE</a:t>
            </a: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    VERSABILITA A GRAFI CON PESI      </a:t>
            </a:r>
          </a:p>
          <a:p>
            <a:r>
              <a:rPr lang="en-US" sz="2000" dirty="0">
                <a:solidFill>
                  <a:schemeClr val="bg1"/>
                </a:solidFill>
                <a:latin typeface="Futura XBlkCnIt BT" panose="020B0806020204090204" pitchFamily="34" charset="0"/>
              </a:rPr>
              <a:t>    DINAMICI</a:t>
            </a: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    </a:t>
            </a:r>
          </a:p>
          <a:p>
            <a:r>
              <a:rPr lang="en-US" sz="2000" dirty="0">
                <a:solidFill>
                  <a:schemeClr val="bg1"/>
                </a:solidFill>
                <a:latin typeface="Futura XBlkCnIt BT" panose="020B0806020204090204" pitchFamily="34" charset="0"/>
              </a:rPr>
              <a:t>     ROBUSTEZZA CONTRO LA </a:t>
            </a:r>
          </a:p>
          <a:p>
            <a:r>
              <a:rPr lang="en-US" sz="2000" dirty="0">
                <a:solidFill>
                  <a:schemeClr val="bg1"/>
                </a:solidFill>
                <a:latin typeface="Futura XBlkCnIt BT" panose="020B0806020204090204" pitchFamily="34" charset="0"/>
              </a:rPr>
              <a:t>    GESTIONE DI RETE  </a:t>
            </a:r>
            <a:endParaRPr lang="it-IT" sz="2000" dirty="0">
              <a:solidFill>
                <a:schemeClr val="bg1"/>
              </a:solidFill>
              <a:latin typeface="Futura XBlkCnIt BT" panose="020B0806020204090204" pitchFamily="34" charset="0"/>
            </a:endParaRPr>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4659826" y="-221122"/>
            <a:ext cx="3787775" cy="1862048"/>
          </a:xfrm>
          <a:prstGeom prst="rect">
            <a:avLst/>
          </a:prstGeom>
          <a:noFill/>
        </p:spPr>
        <p:txBody>
          <a:bodyPr wrap="square" rtlCol="0">
            <a:spAutoFit/>
          </a:bodyPr>
          <a:lstStyle/>
          <a:p>
            <a:pPr algn="ctr"/>
            <a:r>
              <a:rPr lang="en-US" sz="11500" dirty="0">
                <a:solidFill>
                  <a:schemeClr val="bg1"/>
                </a:solidFill>
                <a:latin typeface="Futura XBlkCnIt BT" panose="020B0806020204090204" pitchFamily="34" charset="0"/>
              </a:rPr>
              <a:t>PRO</a:t>
            </a:r>
            <a:endParaRPr lang="it-IT" sz="4400" dirty="0">
              <a:solidFill>
                <a:schemeClr val="bg1"/>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75873" y="149168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70697" y="2703862"/>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70697" y="3906969"/>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143435" y="5442887"/>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23" name="CasellaDiTesto 22">
            <a:extLst>
              <a:ext uri="{FF2B5EF4-FFF2-40B4-BE49-F238E27FC236}">
                <a16:creationId xmlns:a16="http://schemas.microsoft.com/office/drawing/2014/main" id="{158BAC31-AB37-423C-8919-8CB2B40672F0}"/>
              </a:ext>
            </a:extLst>
          </p:cNvPr>
          <p:cNvSpPr txBox="1"/>
          <p:nvPr/>
        </p:nvSpPr>
        <p:spPr>
          <a:xfrm>
            <a:off x="2448836" y="1678098"/>
            <a:ext cx="8277224" cy="646331"/>
          </a:xfrm>
          <a:prstGeom prst="rect">
            <a:avLst/>
          </a:prstGeom>
          <a:noFill/>
        </p:spPr>
        <p:txBody>
          <a:bodyPr wrap="square">
            <a:spAutoFit/>
          </a:bodyPr>
          <a:lstStyle/>
          <a:p>
            <a:r>
              <a:rPr lang="it-IT" b="1" dirty="0">
                <a:solidFill>
                  <a:schemeClr val="bg1"/>
                </a:solidFill>
                <a:latin typeface="Corbel Light" panose="020B0303020204020204" pitchFamily="34" charset="0"/>
              </a:rPr>
              <a:t>Rispetto all'algoritmo di </a:t>
            </a:r>
            <a:r>
              <a:rPr lang="it-IT" b="1" dirty="0" err="1">
                <a:solidFill>
                  <a:schemeClr val="bg1"/>
                </a:solidFill>
                <a:latin typeface="Corbel Light" panose="020B0303020204020204" pitchFamily="34" charset="0"/>
              </a:rPr>
              <a:t>Dijkstra</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in grado di gestire grafi con archi negativi, senza incorrere in problemi di loop infiniti, purché non ci siano cicli di peso negativo.</a:t>
            </a:r>
          </a:p>
        </p:txBody>
      </p:sp>
      <p:sp>
        <p:nvSpPr>
          <p:cNvPr id="24" name="CasellaDiTesto 23">
            <a:extLst>
              <a:ext uri="{FF2B5EF4-FFF2-40B4-BE49-F238E27FC236}">
                <a16:creationId xmlns:a16="http://schemas.microsoft.com/office/drawing/2014/main" id="{FDA092DD-CB83-4507-AADD-AF3B0A3B97A1}"/>
              </a:ext>
            </a:extLst>
          </p:cNvPr>
          <p:cNvSpPr txBox="1"/>
          <p:nvPr/>
        </p:nvSpPr>
        <p:spPr>
          <a:xfrm>
            <a:off x="2444074" y="2838131"/>
            <a:ext cx="8281986" cy="923330"/>
          </a:xfrm>
          <a:prstGeom prst="rect">
            <a:avLst/>
          </a:prstGeom>
          <a:noFill/>
        </p:spPr>
        <p:txBody>
          <a:bodyPr wrap="square">
            <a:spAutoFit/>
          </a:bodyPr>
          <a:lstStyle/>
          <a:p>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facile da implementare e comprendere, senza la necessità di strutture dati complesse come la coda di priorità richiesta da altri algoritmi, </a:t>
            </a:r>
            <a:r>
              <a:rPr lang="it-IT" b="1" dirty="0" err="1">
                <a:solidFill>
                  <a:schemeClr val="bg1"/>
                </a:solidFill>
                <a:latin typeface="Corbel Light" panose="020B0303020204020204" pitchFamily="34" charset="0"/>
              </a:rPr>
              <a:t>Dijkstra</a:t>
            </a:r>
            <a:r>
              <a:rPr lang="it-IT" b="1" dirty="0">
                <a:solidFill>
                  <a:schemeClr val="bg1"/>
                </a:solidFill>
                <a:latin typeface="Corbel Light" panose="020B0303020204020204" pitchFamily="34" charset="0"/>
              </a:rPr>
              <a:t>. Questa semplicità lo rende più accessibile agli sviluppatori e adatto per applicazioni con risorse limitate.</a:t>
            </a:r>
          </a:p>
        </p:txBody>
      </p:sp>
      <p:sp>
        <p:nvSpPr>
          <p:cNvPr id="25" name="CasellaDiTesto 24">
            <a:extLst>
              <a:ext uri="{FF2B5EF4-FFF2-40B4-BE49-F238E27FC236}">
                <a16:creationId xmlns:a16="http://schemas.microsoft.com/office/drawing/2014/main" id="{EAFFAF31-9782-40BC-859C-5530658DF42A}"/>
              </a:ext>
            </a:extLst>
          </p:cNvPr>
          <p:cNvSpPr txBox="1"/>
          <p:nvPr/>
        </p:nvSpPr>
        <p:spPr>
          <a:xfrm>
            <a:off x="2444074" y="4384792"/>
            <a:ext cx="8281986" cy="923330"/>
          </a:xfrm>
          <a:prstGeom prst="rect">
            <a:avLst/>
          </a:prstGeom>
          <a:noFill/>
        </p:spPr>
        <p:txBody>
          <a:bodyPr wrap="square">
            <a:spAutoFit/>
          </a:bodyPr>
          <a:lstStyle/>
          <a:p>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in grado di gestire grafi in cui i pesi degli archi possono cambiare nel tempo. Questo lo rende adatto per applicazioni in cui la topologia della rete è soggetta a variazioni frequenti.</a:t>
            </a:r>
          </a:p>
        </p:txBody>
      </p:sp>
      <p:sp>
        <p:nvSpPr>
          <p:cNvPr id="27" name="CasellaDiTesto 26">
            <a:extLst>
              <a:ext uri="{FF2B5EF4-FFF2-40B4-BE49-F238E27FC236}">
                <a16:creationId xmlns:a16="http://schemas.microsoft.com/office/drawing/2014/main" id="{71BBD740-00F1-4597-9FD3-B251001E006A}"/>
              </a:ext>
            </a:extLst>
          </p:cNvPr>
          <p:cNvSpPr txBox="1"/>
          <p:nvPr/>
        </p:nvSpPr>
        <p:spPr>
          <a:xfrm>
            <a:off x="2444074" y="5930190"/>
            <a:ext cx="8281986" cy="646331"/>
          </a:xfrm>
          <a:prstGeom prst="rect">
            <a:avLst/>
          </a:prstGeom>
          <a:noFill/>
        </p:spPr>
        <p:txBody>
          <a:bodyPr wrap="square">
            <a:spAutoFit/>
          </a:bodyPr>
          <a:lstStyle/>
          <a:p>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considera la capacità degli archi nei calcoli dei cammini minimi, consentendo di evitare o ridurre il traffico su percorsi congestionati</a:t>
            </a:r>
            <a:r>
              <a:rPr lang="it-IT" b="0" i="0" dirty="0">
                <a:solidFill>
                  <a:srgbClr val="FFFFFF"/>
                </a:solidFill>
                <a:effectLst/>
              </a:rPr>
              <a:t>.</a:t>
            </a:r>
            <a:endParaRPr lang="it-IT" dirty="0"/>
          </a:p>
        </p:txBody>
      </p:sp>
    </p:spTree>
    <p:extLst>
      <p:ext uri="{BB962C8B-B14F-4D97-AF65-F5344CB8AC3E}">
        <p14:creationId xmlns:p14="http://schemas.microsoft.com/office/powerpoint/2010/main" val="344020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43627"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01800" y="960503"/>
            <a:ext cx="4140200" cy="4157597"/>
          </a:xfrm>
          <a:prstGeom prst="roundRect">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GESTIONE DI ARCHI NEGATIVI</a:t>
            </a:r>
          </a:p>
          <a:p>
            <a:r>
              <a:rPr lang="en-US" sz="2000" dirty="0">
                <a:solidFill>
                  <a:schemeClr val="bg1"/>
                </a:solidFill>
                <a:latin typeface="Futura XBlkCnIt BT" panose="020B0806020204090204" pitchFamily="34" charset="0"/>
              </a:rPr>
              <a:t>    IMPLEMENTAZIONE SEMPLICE</a:t>
            </a:r>
          </a:p>
          <a:p>
            <a:r>
              <a:rPr lang="en-US" sz="2000" dirty="0">
                <a:solidFill>
                  <a:schemeClr val="bg1"/>
                </a:solidFill>
                <a:latin typeface="Futura XBlkCnIt BT" panose="020B0806020204090204" pitchFamily="34" charset="0"/>
              </a:rPr>
              <a:t>    VERSABILITA A GRAFI CON PESI      </a:t>
            </a:r>
          </a:p>
          <a:p>
            <a:r>
              <a:rPr lang="en-US" sz="2000" dirty="0">
                <a:solidFill>
                  <a:schemeClr val="bg1"/>
                </a:solidFill>
                <a:latin typeface="Futura XBlkCnIt BT" panose="020B0806020204090204" pitchFamily="34" charset="0"/>
              </a:rPr>
              <a:t>    DINAMICI</a:t>
            </a:r>
          </a:p>
          <a:p>
            <a:r>
              <a:rPr lang="en-US" sz="2000" dirty="0">
                <a:solidFill>
                  <a:schemeClr val="bg1"/>
                </a:solidFill>
                <a:latin typeface="Futura XBlkCnIt BT" panose="020B0806020204090204" pitchFamily="34" charset="0"/>
              </a:rPr>
              <a:t>    ROBUSTEZZA CONTRO LA </a:t>
            </a:r>
          </a:p>
          <a:p>
            <a:r>
              <a:rPr lang="en-US" sz="2000" dirty="0">
                <a:solidFill>
                  <a:schemeClr val="bg1"/>
                </a:solidFill>
                <a:latin typeface="Futura XBlkCnIt BT" panose="020B0806020204090204" pitchFamily="34" charset="0"/>
              </a:rPr>
              <a:t>    GESTIONE DI RETE  </a:t>
            </a:r>
            <a:endParaRPr lang="it-IT" sz="2000" dirty="0">
              <a:solidFill>
                <a:schemeClr val="bg1"/>
              </a:solidFill>
              <a:latin typeface="Futura XBlkCnIt BT" panose="020B0806020204090204" pitchFamily="34" charset="0"/>
            </a:endParaRPr>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7245350" y="960503"/>
            <a:ext cx="4140200" cy="4157597"/>
          </a:xfrm>
          <a:prstGeom prst="round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BLACK HOLE</a:t>
            </a:r>
          </a:p>
          <a:p>
            <a:r>
              <a:rPr lang="en-US" sz="2000" dirty="0">
                <a:solidFill>
                  <a:srgbClr val="3B3838"/>
                </a:solidFill>
                <a:latin typeface="Futura XBlkCnIt BT" panose="020B0806020204090204" pitchFamily="34" charset="0"/>
              </a:rPr>
              <a:t>   ROUTING LOOP</a:t>
            </a:r>
          </a:p>
          <a:p>
            <a:r>
              <a:rPr lang="en-US" sz="2000" dirty="0">
                <a:solidFill>
                  <a:srgbClr val="3B3838"/>
                </a:solidFill>
                <a:latin typeface="Futura XBlkCnIt BT" panose="020B0806020204090204" pitchFamily="34" charset="0"/>
              </a:rPr>
              <a:t>   COUNT TO INFINITY</a:t>
            </a:r>
            <a:endParaRPr lang="it-IT" sz="2000" dirty="0">
              <a:solidFill>
                <a:srgbClr val="3B3838"/>
              </a:solidFill>
              <a:latin typeface="Futura XBlkCnIt BT" panose="020B0806020204090204" pitchFamily="34" charset="0"/>
            </a:endParaRPr>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Ovale 3">
            <a:extLst>
              <a:ext uri="{FF2B5EF4-FFF2-40B4-BE49-F238E27FC236}">
                <a16:creationId xmlns:a16="http://schemas.microsoft.com/office/drawing/2014/main" id="{A04D819E-770D-4145-8ABA-8521AF10FAF0}"/>
              </a:ext>
            </a:extLst>
          </p:cNvPr>
          <p:cNvSpPr/>
          <p:nvPr/>
        </p:nvSpPr>
        <p:spPr>
          <a:xfrm>
            <a:off x="3492500" y="5683926"/>
            <a:ext cx="558800" cy="5588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2616200" y="1206500"/>
            <a:ext cx="23114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PRO</a:t>
            </a:r>
            <a:endParaRPr lang="it-IT" dirty="0">
              <a:solidFill>
                <a:schemeClr val="bg1"/>
              </a:solidFill>
              <a:latin typeface="Futura XBlkCnIt BT" panose="020B0806020204090204" pitchFamily="34" charset="0"/>
            </a:endParaRPr>
          </a:p>
        </p:txBody>
      </p:sp>
      <p:sp>
        <p:nvSpPr>
          <p:cNvPr id="11" name="CasellaDiTesto 10">
            <a:extLst>
              <a:ext uri="{FF2B5EF4-FFF2-40B4-BE49-F238E27FC236}">
                <a16:creationId xmlns:a16="http://schemas.microsoft.com/office/drawing/2014/main" id="{A5E4DD28-BBA4-4124-BC55-7EF16F2A1E80}"/>
              </a:ext>
            </a:extLst>
          </p:cNvPr>
          <p:cNvSpPr txBox="1"/>
          <p:nvPr/>
        </p:nvSpPr>
        <p:spPr>
          <a:xfrm>
            <a:off x="8086725" y="1206500"/>
            <a:ext cx="245745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CONTRO</a:t>
            </a:r>
            <a:endParaRPr lang="it-IT" dirty="0">
              <a:solidFill>
                <a:srgbClr val="3B3838"/>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05651" y="2202785"/>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03135" y="2809585"/>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03135" y="342900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003135" y="2512492"/>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9" name="Ovale 18">
            <a:extLst>
              <a:ext uri="{FF2B5EF4-FFF2-40B4-BE49-F238E27FC236}">
                <a16:creationId xmlns:a16="http://schemas.microsoft.com/office/drawing/2014/main" id="{3C7F45BF-8523-4F39-8DC2-354CE2BE59BB}"/>
              </a:ext>
            </a:extLst>
          </p:cNvPr>
          <p:cNvSpPr/>
          <p:nvPr/>
        </p:nvSpPr>
        <p:spPr>
          <a:xfrm>
            <a:off x="7469554" y="2657968"/>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Ovale 19">
            <a:extLst>
              <a:ext uri="{FF2B5EF4-FFF2-40B4-BE49-F238E27FC236}">
                <a16:creationId xmlns:a16="http://schemas.microsoft.com/office/drawing/2014/main" id="{D062301A-D863-44A1-8145-AF6A191233A0}"/>
              </a:ext>
            </a:extLst>
          </p:cNvPr>
          <p:cNvSpPr/>
          <p:nvPr/>
        </p:nvSpPr>
        <p:spPr>
          <a:xfrm>
            <a:off x="7466092" y="2959464"/>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Ovale 20">
            <a:extLst>
              <a:ext uri="{FF2B5EF4-FFF2-40B4-BE49-F238E27FC236}">
                <a16:creationId xmlns:a16="http://schemas.microsoft.com/office/drawing/2014/main" id="{4EAD08A8-8158-4398-82E9-7E59F6E878C0}"/>
              </a:ext>
            </a:extLst>
          </p:cNvPr>
          <p:cNvSpPr/>
          <p:nvPr/>
        </p:nvSpPr>
        <p:spPr>
          <a:xfrm>
            <a:off x="7473016" y="3267101"/>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CasellaDiTesto 16">
            <a:extLst>
              <a:ext uri="{FF2B5EF4-FFF2-40B4-BE49-F238E27FC236}">
                <a16:creationId xmlns:a16="http://schemas.microsoft.com/office/drawing/2014/main" id="{D6B763AD-F00D-48F2-ABC8-8E30376EF5F0}"/>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18" name="CasellaDiTesto 17">
            <a:extLst>
              <a:ext uri="{FF2B5EF4-FFF2-40B4-BE49-F238E27FC236}">
                <a16:creationId xmlns:a16="http://schemas.microsoft.com/office/drawing/2014/main" id="{0B5242C0-9894-4F38-9996-6A12F19CF68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2558531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954"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01800" y="960503"/>
            <a:ext cx="4140200" cy="4157597"/>
          </a:xfrm>
          <a:prstGeom prst="roundRect">
            <a:avLst/>
          </a:prstGeom>
          <a:solidFill>
            <a:srgbClr val="4D4D4D"/>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a:t>
            </a:r>
            <a:r>
              <a:rPr lang="en-US" sz="2000" dirty="0">
                <a:solidFill>
                  <a:srgbClr val="3B3838"/>
                </a:solidFill>
                <a:latin typeface="Futura XBlkCnIt BT" panose="020B0806020204090204" pitchFamily="34" charset="0"/>
              </a:rPr>
              <a:t>GESTIONE DI ARCHI NEGATIVI</a:t>
            </a:r>
          </a:p>
          <a:p>
            <a:r>
              <a:rPr lang="en-US" sz="2000" dirty="0">
                <a:solidFill>
                  <a:srgbClr val="3B3838"/>
                </a:solidFill>
                <a:latin typeface="Futura XBlkCnIt BT" panose="020B0806020204090204" pitchFamily="34" charset="0"/>
              </a:rPr>
              <a:t>    IMPLEMENTAZIONE SEMPLICE</a:t>
            </a:r>
          </a:p>
          <a:p>
            <a:r>
              <a:rPr lang="en-US" sz="2000" dirty="0">
                <a:solidFill>
                  <a:srgbClr val="3B3838"/>
                </a:solidFill>
                <a:latin typeface="Futura XBlkCnIt BT" panose="020B0806020204090204" pitchFamily="34" charset="0"/>
              </a:rPr>
              <a:t>    VERSABILITA A GRAFI CON PESI      </a:t>
            </a:r>
          </a:p>
          <a:p>
            <a:r>
              <a:rPr lang="en-US" sz="2000" dirty="0">
                <a:solidFill>
                  <a:srgbClr val="3B3838"/>
                </a:solidFill>
                <a:latin typeface="Futura XBlkCnIt BT" panose="020B0806020204090204" pitchFamily="34" charset="0"/>
              </a:rPr>
              <a:t>    DINAMICI</a:t>
            </a:r>
          </a:p>
          <a:p>
            <a:r>
              <a:rPr lang="en-US" sz="2000" dirty="0">
                <a:solidFill>
                  <a:srgbClr val="3B3838"/>
                </a:solidFill>
                <a:latin typeface="Futura XBlkCnIt BT" panose="020B0806020204090204" pitchFamily="34" charset="0"/>
              </a:rPr>
              <a:t>    ROBUSTEZZA CONTRO LA </a:t>
            </a:r>
          </a:p>
          <a:p>
            <a:r>
              <a:rPr lang="en-US" sz="2000" dirty="0">
                <a:solidFill>
                  <a:srgbClr val="3B3838"/>
                </a:solidFill>
                <a:latin typeface="Futura XBlkCnIt BT" panose="020B0806020204090204" pitchFamily="34" charset="0"/>
              </a:rPr>
              <a:t>    GESTIONE DI RETE  </a:t>
            </a:r>
            <a:endParaRPr lang="it-IT" sz="2000" dirty="0">
              <a:solidFill>
                <a:srgbClr val="3B3838"/>
              </a:solidFill>
              <a:latin typeface="Futura XBlkCnIt BT" panose="020B0806020204090204" pitchFamily="34" charset="0"/>
            </a:endParaRPr>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7245350" y="960503"/>
            <a:ext cx="4140200" cy="4157597"/>
          </a:xfrm>
          <a:prstGeom prst="round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a:t>
            </a:r>
            <a:r>
              <a:rPr lang="en-US" sz="2000" dirty="0">
                <a:solidFill>
                  <a:schemeClr val="bg1"/>
                </a:solidFill>
                <a:latin typeface="Futura XBlkCnIt BT" panose="020B0806020204090204" pitchFamily="34" charset="0"/>
              </a:rPr>
              <a:t>BLACK HOLE</a:t>
            </a:r>
          </a:p>
          <a:p>
            <a:r>
              <a:rPr lang="en-US" sz="2000" dirty="0">
                <a:solidFill>
                  <a:schemeClr val="bg1"/>
                </a:solidFill>
                <a:latin typeface="Futura XBlkCnIt BT" panose="020B0806020204090204" pitchFamily="34" charset="0"/>
              </a:rPr>
              <a:t>   ROUTING LOOP</a:t>
            </a:r>
          </a:p>
          <a:p>
            <a:r>
              <a:rPr lang="en-US" sz="2000" dirty="0">
                <a:solidFill>
                  <a:schemeClr val="bg1"/>
                </a:solidFill>
                <a:latin typeface="Futura XBlkCnIt BT" panose="020B0806020204090204" pitchFamily="34" charset="0"/>
              </a:rPr>
              <a:t>   COUNT TO INFINITY</a:t>
            </a:r>
            <a:endParaRPr lang="it-IT" sz="2000" dirty="0">
              <a:solidFill>
                <a:schemeClr val="bg1"/>
              </a:solidFill>
              <a:latin typeface="Futura XBlkCnIt BT" panose="020B0806020204090204" pitchFamily="34" charset="0"/>
            </a:endParaRPr>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2616200" y="1206500"/>
            <a:ext cx="231140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PRO</a:t>
            </a:r>
            <a:endParaRPr lang="it-IT" dirty="0">
              <a:solidFill>
                <a:srgbClr val="3B3838"/>
              </a:solidFill>
              <a:latin typeface="Futura XBlkCnIt BT" panose="020B0806020204090204" pitchFamily="34" charset="0"/>
            </a:endParaRPr>
          </a:p>
        </p:txBody>
      </p:sp>
      <p:sp>
        <p:nvSpPr>
          <p:cNvPr id="11" name="CasellaDiTesto 10">
            <a:extLst>
              <a:ext uri="{FF2B5EF4-FFF2-40B4-BE49-F238E27FC236}">
                <a16:creationId xmlns:a16="http://schemas.microsoft.com/office/drawing/2014/main" id="{A5E4DD28-BBA4-4124-BC55-7EF16F2A1E80}"/>
              </a:ext>
            </a:extLst>
          </p:cNvPr>
          <p:cNvSpPr txBox="1"/>
          <p:nvPr/>
        </p:nvSpPr>
        <p:spPr>
          <a:xfrm>
            <a:off x="8086725" y="1206500"/>
            <a:ext cx="245745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CONTRO</a:t>
            </a:r>
            <a:endParaRPr lang="it-IT" dirty="0">
              <a:solidFill>
                <a:schemeClr val="bg1"/>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05651" y="22027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03135" y="28095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03135" y="3429000"/>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003135" y="2512492"/>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9" name="Ovale 18">
            <a:extLst>
              <a:ext uri="{FF2B5EF4-FFF2-40B4-BE49-F238E27FC236}">
                <a16:creationId xmlns:a16="http://schemas.microsoft.com/office/drawing/2014/main" id="{6679B1F1-DF05-47B8-A978-C3FD86B6F00B}"/>
              </a:ext>
            </a:extLst>
          </p:cNvPr>
          <p:cNvSpPr/>
          <p:nvPr/>
        </p:nvSpPr>
        <p:spPr>
          <a:xfrm>
            <a:off x="9036050" y="5689600"/>
            <a:ext cx="558800" cy="55880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0" name="Ovale 19">
            <a:extLst>
              <a:ext uri="{FF2B5EF4-FFF2-40B4-BE49-F238E27FC236}">
                <a16:creationId xmlns:a16="http://schemas.microsoft.com/office/drawing/2014/main" id="{75FB460C-215D-4B87-B7B5-137E89A19CE7}"/>
              </a:ext>
            </a:extLst>
          </p:cNvPr>
          <p:cNvSpPr/>
          <p:nvPr/>
        </p:nvSpPr>
        <p:spPr>
          <a:xfrm>
            <a:off x="7469554" y="2657968"/>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Ovale 20">
            <a:extLst>
              <a:ext uri="{FF2B5EF4-FFF2-40B4-BE49-F238E27FC236}">
                <a16:creationId xmlns:a16="http://schemas.microsoft.com/office/drawing/2014/main" id="{AF589D68-D763-4701-A484-E4B82A792CBB}"/>
              </a:ext>
            </a:extLst>
          </p:cNvPr>
          <p:cNvSpPr/>
          <p:nvPr/>
        </p:nvSpPr>
        <p:spPr>
          <a:xfrm>
            <a:off x="7466092" y="2959464"/>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Ovale 21">
            <a:extLst>
              <a:ext uri="{FF2B5EF4-FFF2-40B4-BE49-F238E27FC236}">
                <a16:creationId xmlns:a16="http://schemas.microsoft.com/office/drawing/2014/main" id="{9629F37D-373C-48A3-BFC5-24F080B719AE}"/>
              </a:ext>
            </a:extLst>
          </p:cNvPr>
          <p:cNvSpPr/>
          <p:nvPr/>
        </p:nvSpPr>
        <p:spPr>
          <a:xfrm>
            <a:off x="7473016" y="3267101"/>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3" name="CasellaDiTesto 22">
            <a:extLst>
              <a:ext uri="{FF2B5EF4-FFF2-40B4-BE49-F238E27FC236}">
                <a16:creationId xmlns:a16="http://schemas.microsoft.com/office/drawing/2014/main" id="{3E3241B2-C850-46A5-9C18-B357C430F51B}"/>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24" name="CasellaDiTesto 23">
            <a:extLst>
              <a:ext uri="{FF2B5EF4-FFF2-40B4-BE49-F238E27FC236}">
                <a16:creationId xmlns:a16="http://schemas.microsoft.com/office/drawing/2014/main" id="{C0F01EB0-87AC-4BB2-9D99-16BCA3FA9138}"/>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2960672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2616200" y="1206500"/>
            <a:ext cx="231140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PRO</a:t>
            </a:r>
            <a:endParaRPr lang="it-IT" dirty="0">
              <a:solidFill>
                <a:srgbClr val="3B3838"/>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05651" y="22027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03135" y="28095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03135" y="3429000"/>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003135" y="2512492"/>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6" name="Rettangolo 5">
            <a:extLst>
              <a:ext uri="{FF2B5EF4-FFF2-40B4-BE49-F238E27FC236}">
                <a16:creationId xmlns:a16="http://schemas.microsoft.com/office/drawing/2014/main" id="{B3223671-C2AB-4FB4-9972-66089A04DE9D}"/>
              </a:ext>
            </a:extLst>
          </p:cNvPr>
          <p:cNvSpPr/>
          <p:nvPr/>
        </p:nvSpPr>
        <p:spPr>
          <a:xfrm>
            <a:off x="43627"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CasellaDiTesto 7">
            <a:extLst>
              <a:ext uri="{FF2B5EF4-FFF2-40B4-BE49-F238E27FC236}">
                <a16:creationId xmlns:a16="http://schemas.microsoft.com/office/drawing/2014/main" id="{0FC66079-7913-4A34-9FB9-0C7E8FDDFB89}"/>
              </a:ext>
            </a:extLst>
          </p:cNvPr>
          <p:cNvSpPr txBox="1"/>
          <p:nvPr/>
        </p:nvSpPr>
        <p:spPr>
          <a:xfrm>
            <a:off x="-1718964" y="437283"/>
            <a:ext cx="1333658"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contesto</a:t>
            </a:r>
            <a:endParaRPr lang="it-IT" sz="1000" dirty="0">
              <a:solidFill>
                <a:srgbClr val="3C6E71"/>
              </a:solidFill>
              <a:latin typeface="Bebas Neue" panose="020B0606020202050201" pitchFamily="34" charset="0"/>
            </a:endParaRPr>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01800" y="960503"/>
            <a:ext cx="4140200" cy="4157597"/>
          </a:xfrm>
          <a:prstGeom prst="roundRect">
            <a:avLst/>
          </a:prstGeom>
          <a:solidFill>
            <a:srgbClr val="4D4D4D"/>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a:t>
            </a:r>
            <a:r>
              <a:rPr lang="en-US" sz="2000" dirty="0">
                <a:solidFill>
                  <a:srgbClr val="3B3838"/>
                </a:solidFill>
                <a:latin typeface="Futura XBlkCnIt BT" panose="020B0806020204090204" pitchFamily="34" charset="0"/>
              </a:rPr>
              <a:t>GESTIONE DI ARCHI NEGATIVI</a:t>
            </a:r>
          </a:p>
          <a:p>
            <a:r>
              <a:rPr lang="en-US" sz="2000" dirty="0">
                <a:solidFill>
                  <a:srgbClr val="3B3838"/>
                </a:solidFill>
                <a:latin typeface="Futura XBlkCnIt BT" panose="020B0806020204090204" pitchFamily="34" charset="0"/>
              </a:rPr>
              <a:t>    IMPLEMENTAZIONE SEMPLICE</a:t>
            </a:r>
          </a:p>
          <a:p>
            <a:r>
              <a:rPr lang="en-US" sz="2000" dirty="0">
                <a:solidFill>
                  <a:srgbClr val="3B3838"/>
                </a:solidFill>
                <a:latin typeface="Futura XBlkCnIt BT" panose="020B0806020204090204" pitchFamily="34" charset="0"/>
              </a:rPr>
              <a:t>    VERSABILITA A GRAFI CON PESI      </a:t>
            </a:r>
          </a:p>
          <a:p>
            <a:r>
              <a:rPr lang="en-US" sz="2000" dirty="0">
                <a:solidFill>
                  <a:srgbClr val="3B3838"/>
                </a:solidFill>
                <a:latin typeface="Futura XBlkCnIt BT" panose="020B0806020204090204" pitchFamily="34" charset="0"/>
              </a:rPr>
              <a:t>    DINAMICI</a:t>
            </a:r>
          </a:p>
          <a:p>
            <a:r>
              <a:rPr lang="en-US" sz="2000" dirty="0">
                <a:solidFill>
                  <a:srgbClr val="3B3838"/>
                </a:solidFill>
                <a:latin typeface="Futura XBlkCnIt BT" panose="020B0806020204090204" pitchFamily="34" charset="0"/>
              </a:rPr>
              <a:t>    ROBUSTEZZA CONTRO LA </a:t>
            </a:r>
          </a:p>
          <a:p>
            <a:r>
              <a:rPr lang="en-US" sz="2000" dirty="0">
                <a:solidFill>
                  <a:srgbClr val="3B3838"/>
                </a:solidFill>
                <a:latin typeface="Futura XBlkCnIt BT" panose="020B0806020204090204" pitchFamily="34" charset="0"/>
              </a:rPr>
              <a:t>    GESTIONE DI RETE  </a:t>
            </a:r>
            <a:endParaRPr lang="it-IT" sz="2000" dirty="0">
              <a:solidFill>
                <a:srgbClr val="3B3838"/>
              </a:solidFill>
              <a:latin typeface="Futura XBlkCnIt BT" panose="020B0806020204090204" pitchFamily="34" charset="0"/>
            </a:endParaRPr>
          </a:p>
        </p:txBody>
      </p:sp>
      <p:sp>
        <p:nvSpPr>
          <p:cNvPr id="24" name="Ovale 23">
            <a:extLst>
              <a:ext uri="{FF2B5EF4-FFF2-40B4-BE49-F238E27FC236}">
                <a16:creationId xmlns:a16="http://schemas.microsoft.com/office/drawing/2014/main" id="{EEB87C5E-84BF-458D-AA19-E856B38AFFAF}"/>
              </a:ext>
            </a:extLst>
          </p:cNvPr>
          <p:cNvSpPr/>
          <p:nvPr/>
        </p:nvSpPr>
        <p:spPr>
          <a:xfrm>
            <a:off x="-2935705" y="-5293895"/>
            <a:ext cx="19009894" cy="1790299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8" name="Connettore diritto 17">
            <a:extLst>
              <a:ext uri="{FF2B5EF4-FFF2-40B4-BE49-F238E27FC236}">
                <a16:creationId xmlns:a16="http://schemas.microsoft.com/office/drawing/2014/main" id="{1122DF33-04FC-4C5B-BF87-9A33CCCF8AD7}"/>
              </a:ext>
            </a:extLst>
          </p:cNvPr>
          <p:cNvCxnSpPr>
            <a:cxnSpLocks/>
          </p:cNvCxnSpPr>
          <p:nvPr/>
        </p:nvCxnSpPr>
        <p:spPr>
          <a:xfrm>
            <a:off x="-266700" y="0"/>
            <a:ext cx="14325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nettore diritto 22">
            <a:extLst>
              <a:ext uri="{FF2B5EF4-FFF2-40B4-BE49-F238E27FC236}">
                <a16:creationId xmlns:a16="http://schemas.microsoft.com/office/drawing/2014/main" id="{A7C25279-E789-4730-8823-EB6CB010BEF9}"/>
              </a:ext>
            </a:extLst>
          </p:cNvPr>
          <p:cNvCxnSpPr/>
          <p:nvPr/>
        </p:nvCxnSpPr>
        <p:spPr>
          <a:xfrm>
            <a:off x="0" y="6858000"/>
            <a:ext cx="13643429"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asellaDiTesto 10">
            <a:extLst>
              <a:ext uri="{FF2B5EF4-FFF2-40B4-BE49-F238E27FC236}">
                <a16:creationId xmlns:a16="http://schemas.microsoft.com/office/drawing/2014/main" id="{A5E4DD28-BBA4-4124-BC55-7EF16F2A1E80}"/>
              </a:ext>
            </a:extLst>
          </p:cNvPr>
          <p:cNvSpPr txBox="1"/>
          <p:nvPr/>
        </p:nvSpPr>
        <p:spPr>
          <a:xfrm>
            <a:off x="2616200" y="-51053"/>
            <a:ext cx="6890870" cy="1862048"/>
          </a:xfrm>
          <a:prstGeom prst="rect">
            <a:avLst/>
          </a:prstGeom>
          <a:noFill/>
        </p:spPr>
        <p:txBody>
          <a:bodyPr wrap="square" rtlCol="0">
            <a:spAutoFit/>
          </a:bodyPr>
          <a:lstStyle/>
          <a:p>
            <a:pPr algn="ctr"/>
            <a:r>
              <a:rPr lang="en-US" sz="11500" dirty="0">
                <a:solidFill>
                  <a:schemeClr val="bg1"/>
                </a:solidFill>
                <a:latin typeface="Futura XBlkCnIt BT" panose="020B0806020204090204" pitchFamily="34" charset="0"/>
              </a:rPr>
              <a:t>CONTRO</a:t>
            </a:r>
            <a:endParaRPr lang="it-IT" sz="11500" dirty="0">
              <a:solidFill>
                <a:schemeClr val="bg1"/>
              </a:solidFill>
              <a:latin typeface="Futura XBlkCnIt BT" panose="020B0806020204090204" pitchFamily="34" charset="0"/>
            </a:endParaRPr>
          </a:p>
        </p:txBody>
      </p:sp>
      <p:sp>
        <p:nvSpPr>
          <p:cNvPr id="21" name="Ovale 20">
            <a:extLst>
              <a:ext uri="{FF2B5EF4-FFF2-40B4-BE49-F238E27FC236}">
                <a16:creationId xmlns:a16="http://schemas.microsoft.com/office/drawing/2014/main" id="{AF589D68-D763-4701-A484-E4B82A792CBB}"/>
              </a:ext>
            </a:extLst>
          </p:cNvPr>
          <p:cNvSpPr/>
          <p:nvPr/>
        </p:nvSpPr>
        <p:spPr>
          <a:xfrm>
            <a:off x="7466092" y="2959464"/>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Ovale 21">
            <a:extLst>
              <a:ext uri="{FF2B5EF4-FFF2-40B4-BE49-F238E27FC236}">
                <a16:creationId xmlns:a16="http://schemas.microsoft.com/office/drawing/2014/main" id="{9629F37D-373C-48A3-BFC5-24F080B719AE}"/>
              </a:ext>
            </a:extLst>
          </p:cNvPr>
          <p:cNvSpPr/>
          <p:nvPr/>
        </p:nvSpPr>
        <p:spPr>
          <a:xfrm>
            <a:off x="7473016" y="3267101"/>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1907623" y="1668165"/>
            <a:ext cx="11185100" cy="4157597"/>
          </a:xfrm>
          <a:prstGeom prst="round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a:t>
            </a:r>
            <a:r>
              <a:rPr lang="en-US" sz="2000" dirty="0">
                <a:solidFill>
                  <a:schemeClr val="bg1"/>
                </a:solidFill>
                <a:latin typeface="Futura XBlkCnIt BT" panose="020B0806020204090204" pitchFamily="34" charset="0"/>
              </a:rPr>
              <a:t>BLACK HOLE</a:t>
            </a:r>
          </a:p>
          <a:p>
            <a:r>
              <a:rPr lang="en-US" b="1" dirty="0">
                <a:solidFill>
                  <a:schemeClr val="bg1"/>
                </a:solidFill>
                <a:latin typeface="Corbel Light" panose="020B0303020204020204" pitchFamily="34" charset="0"/>
              </a:rPr>
              <a:t>         </a:t>
            </a:r>
            <a:r>
              <a:rPr lang="it-IT" b="1" dirty="0">
                <a:solidFill>
                  <a:schemeClr val="bg1"/>
                </a:solidFill>
                <a:latin typeface="Corbel Light" panose="020B0303020204020204" pitchFamily="34" charset="0"/>
              </a:rPr>
              <a:t>I quando i pacchetti per una destinazione sono inviati a un router che li scarta, </a:t>
            </a:r>
          </a:p>
          <a:p>
            <a:r>
              <a:rPr lang="it-IT" b="1" dirty="0">
                <a:solidFill>
                  <a:schemeClr val="bg1"/>
                </a:solidFill>
                <a:latin typeface="Corbel Light" panose="020B0303020204020204" pitchFamily="34" charset="0"/>
              </a:rPr>
              <a:t>        non disponendo di una </a:t>
            </a:r>
            <a:r>
              <a:rPr lang="it-IT" b="1" dirty="0" err="1">
                <a:solidFill>
                  <a:schemeClr val="bg1"/>
                </a:solidFill>
                <a:latin typeface="Corbel Light" panose="020B0303020204020204" pitchFamily="34" charset="0"/>
              </a:rPr>
              <a:t>route</a:t>
            </a:r>
            <a:r>
              <a:rPr lang="it-IT" b="1" dirty="0">
                <a:solidFill>
                  <a:schemeClr val="bg1"/>
                </a:solidFill>
                <a:latin typeface="Corbel Light" panose="020B0303020204020204" pitchFamily="34" charset="0"/>
              </a:rPr>
              <a:t> per la destinazione desiderata.</a:t>
            </a:r>
            <a:endParaRPr lang="en-US" b="1" dirty="0">
              <a:solidFill>
                <a:schemeClr val="bg1"/>
              </a:solidFill>
              <a:latin typeface="Corbel Light" panose="020B030302020402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   ROUTING LOOP</a:t>
            </a:r>
          </a:p>
          <a:p>
            <a:r>
              <a:rPr lang="it-IT" b="1" dirty="0">
                <a:solidFill>
                  <a:schemeClr val="bg1"/>
                </a:solidFill>
                <a:latin typeface="Corbel Light" panose="020B0303020204020204" pitchFamily="34" charset="0"/>
              </a:rPr>
              <a:t>       Il routing loop è una situazione in cui i pacchetti di dati vengono instradati ciclicamente </a:t>
            </a:r>
          </a:p>
          <a:p>
            <a:r>
              <a:rPr lang="it-IT" b="1" dirty="0">
                <a:solidFill>
                  <a:schemeClr val="bg1"/>
                </a:solidFill>
                <a:latin typeface="Corbel Light" panose="020B0303020204020204" pitchFamily="34" charset="0"/>
              </a:rPr>
              <a:t>       tra due o più nodi della rete senza mai raggiungere la destinazione finale, causando un </a:t>
            </a:r>
          </a:p>
          <a:p>
            <a:r>
              <a:rPr lang="it-IT" b="1" dirty="0">
                <a:solidFill>
                  <a:schemeClr val="bg1"/>
                </a:solidFill>
                <a:latin typeface="Corbel Light" panose="020B0303020204020204" pitchFamily="34" charset="0"/>
              </a:rPr>
              <a:t>       consumo inutile di risorse di rete e ritardi nella consegna dei pacchetti.</a:t>
            </a: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   COUNT TO INFINITY</a:t>
            </a:r>
          </a:p>
          <a:p>
            <a:r>
              <a:rPr lang="it-IT" b="1" dirty="0">
                <a:solidFill>
                  <a:schemeClr val="bg1"/>
                </a:solidFill>
                <a:latin typeface="Corbel Light" panose="020B0303020204020204" pitchFamily="34" charset="0"/>
              </a:rPr>
              <a:t>      Nel caso in cui avvenga la rottura di due link , si viene a creare una situazione in cui non</a:t>
            </a:r>
          </a:p>
          <a:p>
            <a:r>
              <a:rPr lang="it-IT" b="1" dirty="0">
                <a:solidFill>
                  <a:schemeClr val="bg1"/>
                </a:solidFill>
                <a:latin typeface="Corbel Light" panose="020B0303020204020204" pitchFamily="34" charset="0"/>
              </a:rPr>
              <a:t>      avverrà mai la convergenza e quindi il </a:t>
            </a:r>
            <a:r>
              <a:rPr lang="it-IT" b="1" dirty="0" err="1">
                <a:solidFill>
                  <a:schemeClr val="bg1"/>
                </a:solidFill>
                <a:latin typeface="Corbel Light" panose="020B0303020204020204" pitchFamily="34" charset="0"/>
              </a:rPr>
              <a:t>bouncing</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effect</a:t>
            </a:r>
            <a:r>
              <a:rPr lang="it-IT" b="1" dirty="0">
                <a:solidFill>
                  <a:schemeClr val="bg1"/>
                </a:solidFill>
                <a:latin typeface="Corbel Light" panose="020B0303020204020204" pitchFamily="34" charset="0"/>
              </a:rPr>
              <a:t> (loop infinito).</a:t>
            </a:r>
          </a:p>
        </p:txBody>
      </p:sp>
      <p:sp>
        <p:nvSpPr>
          <p:cNvPr id="47" name="Ovale 46">
            <a:extLst>
              <a:ext uri="{FF2B5EF4-FFF2-40B4-BE49-F238E27FC236}">
                <a16:creationId xmlns:a16="http://schemas.microsoft.com/office/drawing/2014/main" id="{22D59ED0-1C07-441F-A39E-BFCAD3C91A07}"/>
              </a:ext>
            </a:extLst>
          </p:cNvPr>
          <p:cNvSpPr/>
          <p:nvPr/>
        </p:nvSpPr>
        <p:spPr>
          <a:xfrm>
            <a:off x="2096755" y="2129047"/>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9" name="Ovale 48">
            <a:extLst>
              <a:ext uri="{FF2B5EF4-FFF2-40B4-BE49-F238E27FC236}">
                <a16:creationId xmlns:a16="http://schemas.microsoft.com/office/drawing/2014/main" id="{DD0DB0B1-74D1-4E9A-82C4-854BD82FD7DD}"/>
              </a:ext>
            </a:extLst>
          </p:cNvPr>
          <p:cNvSpPr/>
          <p:nvPr/>
        </p:nvSpPr>
        <p:spPr>
          <a:xfrm>
            <a:off x="2096755" y="4694961"/>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 name="Ovale 49">
            <a:extLst>
              <a:ext uri="{FF2B5EF4-FFF2-40B4-BE49-F238E27FC236}">
                <a16:creationId xmlns:a16="http://schemas.microsoft.com/office/drawing/2014/main" id="{7748219C-9D33-4BC4-A3CE-612983AAE832}"/>
              </a:ext>
            </a:extLst>
          </p:cNvPr>
          <p:cNvSpPr/>
          <p:nvPr/>
        </p:nvSpPr>
        <p:spPr>
          <a:xfrm>
            <a:off x="2096755" y="3328757"/>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846799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140" y="-16815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Rettangolo con angoli arrotondati 1">
            <a:extLst>
              <a:ext uri="{FF2B5EF4-FFF2-40B4-BE49-F238E27FC236}">
                <a16:creationId xmlns:a16="http://schemas.microsoft.com/office/drawing/2014/main" id="{8544AB36-8BEC-44B4-A8D0-5846C7CDB054}"/>
              </a:ext>
            </a:extLst>
          </p:cNvPr>
          <p:cNvSpPr/>
          <p:nvPr/>
        </p:nvSpPr>
        <p:spPr>
          <a:xfrm>
            <a:off x="1701800" y="960503"/>
            <a:ext cx="4140200" cy="4157597"/>
          </a:xfrm>
          <a:prstGeom prst="roundRect">
            <a:avLst/>
          </a:prstGeom>
          <a:solidFill>
            <a:srgbClr val="4D4D4D"/>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a:t>
            </a:r>
            <a:r>
              <a:rPr lang="en-US" sz="2000" dirty="0">
                <a:solidFill>
                  <a:srgbClr val="3B3838"/>
                </a:solidFill>
                <a:latin typeface="Futura XBlkCnIt BT" panose="020B0806020204090204" pitchFamily="34" charset="0"/>
              </a:rPr>
              <a:t>GESTIONE DI ARCHI NEGATIVI</a:t>
            </a:r>
          </a:p>
          <a:p>
            <a:r>
              <a:rPr lang="en-US" sz="2000" dirty="0">
                <a:solidFill>
                  <a:srgbClr val="3B3838"/>
                </a:solidFill>
                <a:latin typeface="Futura XBlkCnIt BT" panose="020B0806020204090204" pitchFamily="34" charset="0"/>
              </a:rPr>
              <a:t>    IMPLEMENTAZIONE SEMPLICE</a:t>
            </a:r>
          </a:p>
          <a:p>
            <a:r>
              <a:rPr lang="en-US" sz="2000" dirty="0">
                <a:solidFill>
                  <a:srgbClr val="3B3838"/>
                </a:solidFill>
                <a:latin typeface="Futura XBlkCnIt BT" panose="020B0806020204090204" pitchFamily="34" charset="0"/>
              </a:rPr>
              <a:t>    VERSABILITA A GRAFI CON PESI      </a:t>
            </a:r>
          </a:p>
          <a:p>
            <a:r>
              <a:rPr lang="en-US" sz="2000" dirty="0">
                <a:solidFill>
                  <a:srgbClr val="3B3838"/>
                </a:solidFill>
                <a:latin typeface="Futura XBlkCnIt BT" panose="020B0806020204090204" pitchFamily="34" charset="0"/>
              </a:rPr>
              <a:t>    DINAMICI</a:t>
            </a:r>
          </a:p>
          <a:p>
            <a:r>
              <a:rPr lang="en-US" sz="2000" dirty="0">
                <a:solidFill>
                  <a:srgbClr val="3B3838"/>
                </a:solidFill>
                <a:latin typeface="Futura XBlkCnIt BT" panose="020B0806020204090204" pitchFamily="34" charset="0"/>
              </a:rPr>
              <a:t>    ROBUSTEZZA CONTRO LA </a:t>
            </a:r>
          </a:p>
          <a:p>
            <a:r>
              <a:rPr lang="en-US" sz="2000" dirty="0">
                <a:solidFill>
                  <a:srgbClr val="3B3838"/>
                </a:solidFill>
                <a:latin typeface="Futura XBlkCnIt BT" panose="020B0806020204090204" pitchFamily="34" charset="0"/>
              </a:rPr>
              <a:t>    GESTIONE DI RETE  </a:t>
            </a:r>
            <a:endParaRPr lang="it-IT" sz="2000" dirty="0">
              <a:solidFill>
                <a:srgbClr val="3B3838"/>
              </a:solidFill>
              <a:latin typeface="Futura XBlkCnIt BT" panose="020B0806020204090204" pitchFamily="34" charset="0"/>
            </a:endParaRPr>
          </a:p>
        </p:txBody>
      </p:sp>
      <p:sp>
        <p:nvSpPr>
          <p:cNvPr id="7" name="Rettangolo con angoli arrotondati 6">
            <a:extLst>
              <a:ext uri="{FF2B5EF4-FFF2-40B4-BE49-F238E27FC236}">
                <a16:creationId xmlns:a16="http://schemas.microsoft.com/office/drawing/2014/main" id="{BEBC2D89-0625-4133-81D8-13AF809EF9BA}"/>
              </a:ext>
            </a:extLst>
          </p:cNvPr>
          <p:cNvSpPr/>
          <p:nvPr/>
        </p:nvSpPr>
        <p:spPr>
          <a:xfrm>
            <a:off x="7245350" y="960503"/>
            <a:ext cx="4140200" cy="4157597"/>
          </a:xfrm>
          <a:prstGeom prst="round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a:t>
            </a:r>
            <a:r>
              <a:rPr lang="en-US" sz="2000" dirty="0">
                <a:solidFill>
                  <a:schemeClr val="bg1"/>
                </a:solidFill>
                <a:latin typeface="Futura XBlkCnIt BT" panose="020B0806020204090204" pitchFamily="34" charset="0"/>
              </a:rPr>
              <a:t>BLACK HOLE</a:t>
            </a:r>
          </a:p>
          <a:p>
            <a:r>
              <a:rPr lang="en-US" sz="2000" dirty="0">
                <a:solidFill>
                  <a:schemeClr val="bg1"/>
                </a:solidFill>
                <a:latin typeface="Futura XBlkCnIt BT" panose="020B0806020204090204" pitchFamily="34" charset="0"/>
              </a:rPr>
              <a:t>   ROUTING LOOP</a:t>
            </a:r>
          </a:p>
          <a:p>
            <a:r>
              <a:rPr lang="en-US" sz="2000" dirty="0">
                <a:solidFill>
                  <a:schemeClr val="bg1"/>
                </a:solidFill>
                <a:latin typeface="Futura XBlkCnIt BT" panose="020B0806020204090204" pitchFamily="34" charset="0"/>
              </a:rPr>
              <a:t>   COUNT TO INFINITY</a:t>
            </a:r>
            <a:endParaRPr lang="it-IT" sz="2000" dirty="0">
              <a:solidFill>
                <a:schemeClr val="bg1"/>
              </a:solidFill>
              <a:latin typeface="Futura XBlkCnIt BT" panose="020B0806020204090204" pitchFamily="34" charset="0"/>
            </a:endParaRPr>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CasellaDiTesto 9">
            <a:extLst>
              <a:ext uri="{FF2B5EF4-FFF2-40B4-BE49-F238E27FC236}">
                <a16:creationId xmlns:a16="http://schemas.microsoft.com/office/drawing/2014/main" id="{488EF1D5-7F0F-49E7-BF76-CAE61DA88087}"/>
              </a:ext>
            </a:extLst>
          </p:cNvPr>
          <p:cNvSpPr txBox="1"/>
          <p:nvPr/>
        </p:nvSpPr>
        <p:spPr>
          <a:xfrm>
            <a:off x="2616200" y="1206500"/>
            <a:ext cx="231140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PRO</a:t>
            </a:r>
            <a:endParaRPr lang="it-IT" dirty="0">
              <a:solidFill>
                <a:srgbClr val="3B3838"/>
              </a:solidFill>
              <a:latin typeface="Futura XBlkCnIt BT" panose="020B0806020204090204" pitchFamily="34" charset="0"/>
            </a:endParaRPr>
          </a:p>
        </p:txBody>
      </p:sp>
      <p:sp>
        <p:nvSpPr>
          <p:cNvPr id="11" name="CasellaDiTesto 10">
            <a:extLst>
              <a:ext uri="{FF2B5EF4-FFF2-40B4-BE49-F238E27FC236}">
                <a16:creationId xmlns:a16="http://schemas.microsoft.com/office/drawing/2014/main" id="{A5E4DD28-BBA4-4124-BC55-7EF16F2A1E80}"/>
              </a:ext>
            </a:extLst>
          </p:cNvPr>
          <p:cNvSpPr txBox="1"/>
          <p:nvPr/>
        </p:nvSpPr>
        <p:spPr>
          <a:xfrm>
            <a:off x="8086725" y="1206500"/>
            <a:ext cx="245745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CONTRO</a:t>
            </a:r>
            <a:endParaRPr lang="it-IT" dirty="0">
              <a:solidFill>
                <a:schemeClr val="bg1"/>
              </a:solidFill>
              <a:latin typeface="Futura XBlkCnIt BT" panose="020B0806020204090204" pitchFamily="34" charset="0"/>
            </a:endParaRPr>
          </a:p>
        </p:txBody>
      </p:sp>
      <p:sp>
        <p:nvSpPr>
          <p:cNvPr id="12" name="Rettangolo 11">
            <a:extLst>
              <a:ext uri="{FF2B5EF4-FFF2-40B4-BE49-F238E27FC236}">
                <a16:creationId xmlns:a16="http://schemas.microsoft.com/office/drawing/2014/main" id="{0AE4208A-3D58-4C41-9650-9229E9BC4F38}"/>
              </a:ext>
            </a:extLst>
          </p:cNvPr>
          <p:cNvSpPr/>
          <p:nvPr/>
        </p:nvSpPr>
        <p:spPr>
          <a:xfrm>
            <a:off x="2005651" y="22027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3" name="Rettangolo 12">
            <a:extLst>
              <a:ext uri="{FF2B5EF4-FFF2-40B4-BE49-F238E27FC236}">
                <a16:creationId xmlns:a16="http://schemas.microsoft.com/office/drawing/2014/main" id="{3CD243C1-0747-4213-8FF7-949F59B10DE2}"/>
              </a:ext>
            </a:extLst>
          </p:cNvPr>
          <p:cNvSpPr/>
          <p:nvPr/>
        </p:nvSpPr>
        <p:spPr>
          <a:xfrm>
            <a:off x="2003135" y="28095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4" name="Rettangolo 13">
            <a:extLst>
              <a:ext uri="{FF2B5EF4-FFF2-40B4-BE49-F238E27FC236}">
                <a16:creationId xmlns:a16="http://schemas.microsoft.com/office/drawing/2014/main" id="{05E655B4-FB15-4FE2-99BB-7A9226EE3981}"/>
              </a:ext>
            </a:extLst>
          </p:cNvPr>
          <p:cNvSpPr/>
          <p:nvPr/>
        </p:nvSpPr>
        <p:spPr>
          <a:xfrm>
            <a:off x="2003135" y="3429000"/>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5" name="Rettangolo 14">
            <a:extLst>
              <a:ext uri="{FF2B5EF4-FFF2-40B4-BE49-F238E27FC236}">
                <a16:creationId xmlns:a16="http://schemas.microsoft.com/office/drawing/2014/main" id="{3E9933D0-E5C6-4BC3-BA4B-D74157BB28CD}"/>
              </a:ext>
            </a:extLst>
          </p:cNvPr>
          <p:cNvSpPr/>
          <p:nvPr/>
        </p:nvSpPr>
        <p:spPr>
          <a:xfrm>
            <a:off x="2003135" y="2512492"/>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19" name="Ovale 18">
            <a:extLst>
              <a:ext uri="{FF2B5EF4-FFF2-40B4-BE49-F238E27FC236}">
                <a16:creationId xmlns:a16="http://schemas.microsoft.com/office/drawing/2014/main" id="{6679B1F1-DF05-47B8-A978-C3FD86B6F00B}"/>
              </a:ext>
            </a:extLst>
          </p:cNvPr>
          <p:cNvSpPr/>
          <p:nvPr/>
        </p:nvSpPr>
        <p:spPr>
          <a:xfrm>
            <a:off x="9036050" y="5689600"/>
            <a:ext cx="558800" cy="55880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0" name="Ovale 19">
            <a:extLst>
              <a:ext uri="{FF2B5EF4-FFF2-40B4-BE49-F238E27FC236}">
                <a16:creationId xmlns:a16="http://schemas.microsoft.com/office/drawing/2014/main" id="{75FB460C-215D-4B87-B7B5-137E89A19CE7}"/>
              </a:ext>
            </a:extLst>
          </p:cNvPr>
          <p:cNvSpPr/>
          <p:nvPr/>
        </p:nvSpPr>
        <p:spPr>
          <a:xfrm>
            <a:off x="7469554" y="2657968"/>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1" name="Ovale 20">
            <a:extLst>
              <a:ext uri="{FF2B5EF4-FFF2-40B4-BE49-F238E27FC236}">
                <a16:creationId xmlns:a16="http://schemas.microsoft.com/office/drawing/2014/main" id="{AF589D68-D763-4701-A484-E4B82A792CBB}"/>
              </a:ext>
            </a:extLst>
          </p:cNvPr>
          <p:cNvSpPr/>
          <p:nvPr/>
        </p:nvSpPr>
        <p:spPr>
          <a:xfrm>
            <a:off x="7466092" y="2959464"/>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2" name="Ovale 21">
            <a:extLst>
              <a:ext uri="{FF2B5EF4-FFF2-40B4-BE49-F238E27FC236}">
                <a16:creationId xmlns:a16="http://schemas.microsoft.com/office/drawing/2014/main" id="{9629F37D-373C-48A3-BFC5-24F080B719AE}"/>
              </a:ext>
            </a:extLst>
          </p:cNvPr>
          <p:cNvSpPr/>
          <p:nvPr/>
        </p:nvSpPr>
        <p:spPr>
          <a:xfrm>
            <a:off x="7473016" y="3267101"/>
            <a:ext cx="152400" cy="15161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 name="Ovale 40">
            <a:extLst>
              <a:ext uri="{FF2B5EF4-FFF2-40B4-BE49-F238E27FC236}">
                <a16:creationId xmlns:a16="http://schemas.microsoft.com/office/drawing/2014/main" id="{3C7FB57C-F7B9-4874-A5A9-E36EF030136E}"/>
              </a:ext>
            </a:extLst>
          </p:cNvPr>
          <p:cNvSpPr/>
          <p:nvPr/>
        </p:nvSpPr>
        <p:spPr>
          <a:xfrm>
            <a:off x="16284485" y="5689600"/>
            <a:ext cx="558800" cy="5588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2" name="Rettangolo con angoli arrotondati 41">
            <a:extLst>
              <a:ext uri="{FF2B5EF4-FFF2-40B4-BE49-F238E27FC236}">
                <a16:creationId xmlns:a16="http://schemas.microsoft.com/office/drawing/2014/main" id="{1F696971-B467-4635-AF0B-3CBD09BD7C0D}"/>
              </a:ext>
            </a:extLst>
          </p:cNvPr>
          <p:cNvSpPr/>
          <p:nvPr/>
        </p:nvSpPr>
        <p:spPr>
          <a:xfrm>
            <a:off x="14481850" y="979887"/>
            <a:ext cx="4140200" cy="415759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43" name="CasellaDiTesto 42">
            <a:extLst>
              <a:ext uri="{FF2B5EF4-FFF2-40B4-BE49-F238E27FC236}">
                <a16:creationId xmlns:a16="http://schemas.microsoft.com/office/drawing/2014/main" id="{4D99D448-9FC8-40AF-A8E1-2ACF97A73A7F}"/>
              </a:ext>
            </a:extLst>
          </p:cNvPr>
          <p:cNvSpPr txBox="1"/>
          <p:nvPr/>
        </p:nvSpPr>
        <p:spPr>
          <a:xfrm>
            <a:off x="14862850" y="1225884"/>
            <a:ext cx="33782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SOLUZIONI</a:t>
            </a:r>
            <a:endParaRPr lang="it-IT" dirty="0">
              <a:solidFill>
                <a:schemeClr val="bg1"/>
              </a:solidFill>
              <a:latin typeface="Futura XBlkCnIt BT" panose="020B0806020204090204" pitchFamily="34" charset="0"/>
            </a:endParaRPr>
          </a:p>
        </p:txBody>
      </p:sp>
      <p:sp>
        <p:nvSpPr>
          <p:cNvPr id="44" name="CasellaDiTesto 43">
            <a:extLst>
              <a:ext uri="{FF2B5EF4-FFF2-40B4-BE49-F238E27FC236}">
                <a16:creationId xmlns:a16="http://schemas.microsoft.com/office/drawing/2014/main" id="{B7E0A585-D5A0-4977-8608-E78C153C5742}"/>
              </a:ext>
            </a:extLst>
          </p:cNvPr>
          <p:cNvSpPr txBox="1"/>
          <p:nvPr/>
        </p:nvSpPr>
        <p:spPr>
          <a:xfrm>
            <a:off x="15010714" y="2367645"/>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NUMERO MASSIMO HOP COUNT</a:t>
            </a:r>
          </a:p>
        </p:txBody>
      </p:sp>
      <p:sp>
        <p:nvSpPr>
          <p:cNvPr id="45" name="Rettangolo 44">
            <a:extLst>
              <a:ext uri="{FF2B5EF4-FFF2-40B4-BE49-F238E27FC236}">
                <a16:creationId xmlns:a16="http://schemas.microsoft.com/office/drawing/2014/main" id="{14756A34-FBEF-4F01-935F-712FC51D1310}"/>
              </a:ext>
            </a:extLst>
          </p:cNvPr>
          <p:cNvSpPr/>
          <p:nvPr/>
        </p:nvSpPr>
        <p:spPr>
          <a:xfrm>
            <a:off x="14733702" y="2804794"/>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6" name="Rettangolo 45">
            <a:extLst>
              <a:ext uri="{FF2B5EF4-FFF2-40B4-BE49-F238E27FC236}">
                <a16:creationId xmlns:a16="http://schemas.microsoft.com/office/drawing/2014/main" id="{F308FE96-8257-43E6-BCFE-9623C8204957}"/>
              </a:ext>
            </a:extLst>
          </p:cNvPr>
          <p:cNvSpPr/>
          <p:nvPr/>
        </p:nvSpPr>
        <p:spPr>
          <a:xfrm>
            <a:off x="14736997" y="372721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7" name="Rettangolo 46">
            <a:extLst>
              <a:ext uri="{FF2B5EF4-FFF2-40B4-BE49-F238E27FC236}">
                <a16:creationId xmlns:a16="http://schemas.microsoft.com/office/drawing/2014/main" id="{69CC1D89-751C-46F8-A1A5-CCC79D81928C}"/>
              </a:ext>
            </a:extLst>
          </p:cNvPr>
          <p:cNvSpPr/>
          <p:nvPr/>
        </p:nvSpPr>
        <p:spPr>
          <a:xfrm>
            <a:off x="14733702" y="4036917"/>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8" name="Rettangolo 47">
            <a:extLst>
              <a:ext uri="{FF2B5EF4-FFF2-40B4-BE49-F238E27FC236}">
                <a16:creationId xmlns:a16="http://schemas.microsoft.com/office/drawing/2014/main" id="{7618EDD2-6C63-49F6-AD57-CF25A14AECD7}"/>
              </a:ext>
            </a:extLst>
          </p:cNvPr>
          <p:cNvSpPr/>
          <p:nvPr/>
        </p:nvSpPr>
        <p:spPr>
          <a:xfrm>
            <a:off x="14733702" y="3117174"/>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9" name="Rettangolo 48">
            <a:extLst>
              <a:ext uri="{FF2B5EF4-FFF2-40B4-BE49-F238E27FC236}">
                <a16:creationId xmlns:a16="http://schemas.microsoft.com/office/drawing/2014/main" id="{1321CF0B-3F7E-4B08-BD5D-14786A254404}"/>
              </a:ext>
            </a:extLst>
          </p:cNvPr>
          <p:cNvSpPr/>
          <p:nvPr/>
        </p:nvSpPr>
        <p:spPr>
          <a:xfrm>
            <a:off x="14733702" y="3417503"/>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0" name="Rettangolo 49">
            <a:extLst>
              <a:ext uri="{FF2B5EF4-FFF2-40B4-BE49-F238E27FC236}">
                <a16:creationId xmlns:a16="http://schemas.microsoft.com/office/drawing/2014/main" id="{685BA7F0-C980-4C7E-B663-A66106AF0DC0}"/>
              </a:ext>
            </a:extLst>
          </p:cNvPr>
          <p:cNvSpPr/>
          <p:nvPr/>
        </p:nvSpPr>
        <p:spPr>
          <a:xfrm>
            <a:off x="14733702" y="2487718"/>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1" name="CasellaDiTesto 50">
            <a:extLst>
              <a:ext uri="{FF2B5EF4-FFF2-40B4-BE49-F238E27FC236}">
                <a16:creationId xmlns:a16="http://schemas.microsoft.com/office/drawing/2014/main" id="{367927C9-D9DE-4C89-A88B-53D0031D14A5}"/>
              </a:ext>
            </a:extLst>
          </p:cNvPr>
          <p:cNvSpPr txBox="1"/>
          <p:nvPr/>
        </p:nvSpPr>
        <p:spPr>
          <a:xfrm>
            <a:off x="15009066" y="2369759"/>
            <a:ext cx="3479800" cy="70788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SPLIT HORIZON</a:t>
            </a:r>
          </a:p>
        </p:txBody>
      </p:sp>
      <p:sp>
        <p:nvSpPr>
          <p:cNvPr id="52" name="CasellaDiTesto 51">
            <a:extLst>
              <a:ext uri="{FF2B5EF4-FFF2-40B4-BE49-F238E27FC236}">
                <a16:creationId xmlns:a16="http://schemas.microsoft.com/office/drawing/2014/main" id="{B9B044B7-A932-4791-976B-329173A7D241}"/>
              </a:ext>
            </a:extLst>
          </p:cNvPr>
          <p:cNvSpPr txBox="1"/>
          <p:nvPr/>
        </p:nvSpPr>
        <p:spPr>
          <a:xfrm>
            <a:off x="15010714" y="2367645"/>
            <a:ext cx="3479800" cy="1015663"/>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TRIGGERED UPDATES</a:t>
            </a:r>
          </a:p>
        </p:txBody>
      </p:sp>
      <p:sp>
        <p:nvSpPr>
          <p:cNvPr id="53" name="CasellaDiTesto 52">
            <a:extLst>
              <a:ext uri="{FF2B5EF4-FFF2-40B4-BE49-F238E27FC236}">
                <a16:creationId xmlns:a16="http://schemas.microsoft.com/office/drawing/2014/main" id="{7E4128C5-3B86-48D0-9428-B8BCE84268CF}"/>
              </a:ext>
            </a:extLst>
          </p:cNvPr>
          <p:cNvSpPr txBox="1"/>
          <p:nvPr/>
        </p:nvSpPr>
        <p:spPr>
          <a:xfrm>
            <a:off x="15010714" y="2367645"/>
            <a:ext cx="3479800" cy="1323439"/>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ROUTE POISONING</a:t>
            </a:r>
          </a:p>
        </p:txBody>
      </p:sp>
      <p:sp>
        <p:nvSpPr>
          <p:cNvPr id="54" name="CasellaDiTesto 53">
            <a:extLst>
              <a:ext uri="{FF2B5EF4-FFF2-40B4-BE49-F238E27FC236}">
                <a16:creationId xmlns:a16="http://schemas.microsoft.com/office/drawing/2014/main" id="{E81FD7ED-D7E9-4AF6-8F1F-3D0D5D57B464}"/>
              </a:ext>
            </a:extLst>
          </p:cNvPr>
          <p:cNvSpPr txBox="1"/>
          <p:nvPr/>
        </p:nvSpPr>
        <p:spPr>
          <a:xfrm>
            <a:off x="15010714" y="2367645"/>
            <a:ext cx="3479800" cy="163121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HOLD DOWN TIMER</a:t>
            </a:r>
          </a:p>
        </p:txBody>
      </p:sp>
      <p:sp>
        <p:nvSpPr>
          <p:cNvPr id="55" name="CasellaDiTesto 54">
            <a:extLst>
              <a:ext uri="{FF2B5EF4-FFF2-40B4-BE49-F238E27FC236}">
                <a16:creationId xmlns:a16="http://schemas.microsoft.com/office/drawing/2014/main" id="{4484657A-9A72-4EEE-BC45-6C252AB64397}"/>
              </a:ext>
            </a:extLst>
          </p:cNvPr>
          <p:cNvSpPr txBox="1"/>
          <p:nvPr/>
        </p:nvSpPr>
        <p:spPr>
          <a:xfrm>
            <a:off x="15010714" y="2367645"/>
            <a:ext cx="3479800" cy="1938992"/>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POISON REVERSE</a:t>
            </a:r>
            <a:endParaRPr lang="it-IT" sz="2000" dirty="0">
              <a:solidFill>
                <a:schemeClr val="bg1"/>
              </a:solidFill>
              <a:latin typeface="Futura XBlkCnIt BT" panose="020B0806020204090204" pitchFamily="34" charset="0"/>
            </a:endParaRPr>
          </a:p>
        </p:txBody>
      </p:sp>
      <p:sp>
        <p:nvSpPr>
          <p:cNvPr id="56" name="CasellaDiTesto 55">
            <a:extLst>
              <a:ext uri="{FF2B5EF4-FFF2-40B4-BE49-F238E27FC236}">
                <a16:creationId xmlns:a16="http://schemas.microsoft.com/office/drawing/2014/main" id="{9891A087-B807-4567-B512-B5090413E936}"/>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57" name="CasellaDiTesto 56">
            <a:extLst>
              <a:ext uri="{FF2B5EF4-FFF2-40B4-BE49-F238E27FC236}">
                <a16:creationId xmlns:a16="http://schemas.microsoft.com/office/drawing/2014/main" id="{0FB7F32F-97E6-4952-8A8A-B5ACDF84F9DA}"/>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2813706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46"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Ovale 18">
            <a:extLst>
              <a:ext uri="{FF2B5EF4-FFF2-40B4-BE49-F238E27FC236}">
                <a16:creationId xmlns:a16="http://schemas.microsoft.com/office/drawing/2014/main" id="{6679B1F1-DF05-47B8-A978-C3FD86B6F00B}"/>
              </a:ext>
            </a:extLst>
          </p:cNvPr>
          <p:cNvSpPr/>
          <p:nvPr/>
        </p:nvSpPr>
        <p:spPr>
          <a:xfrm>
            <a:off x="-3751036" y="5689600"/>
            <a:ext cx="558800" cy="55880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7" name="Rettangolo con angoli arrotondati 16">
            <a:extLst>
              <a:ext uri="{FF2B5EF4-FFF2-40B4-BE49-F238E27FC236}">
                <a16:creationId xmlns:a16="http://schemas.microsoft.com/office/drawing/2014/main" id="{4B48A101-41E4-48FF-A8F6-47AF9D0A698D}"/>
              </a:ext>
            </a:extLst>
          </p:cNvPr>
          <p:cNvSpPr/>
          <p:nvPr/>
        </p:nvSpPr>
        <p:spPr>
          <a:xfrm>
            <a:off x="4451350" y="960503"/>
            <a:ext cx="4140200" cy="415759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27" name="CasellaDiTesto 26">
            <a:extLst>
              <a:ext uri="{FF2B5EF4-FFF2-40B4-BE49-F238E27FC236}">
                <a16:creationId xmlns:a16="http://schemas.microsoft.com/office/drawing/2014/main" id="{FB2035FA-C939-4045-95E4-AA64FD64EE38}"/>
              </a:ext>
            </a:extLst>
          </p:cNvPr>
          <p:cNvSpPr txBox="1"/>
          <p:nvPr/>
        </p:nvSpPr>
        <p:spPr>
          <a:xfrm>
            <a:off x="4832350" y="1206500"/>
            <a:ext cx="33782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SOLUZIONI</a:t>
            </a:r>
            <a:endParaRPr lang="it-IT" dirty="0">
              <a:solidFill>
                <a:schemeClr val="bg1"/>
              </a:solidFill>
              <a:latin typeface="Futura XBlkCnIt BT" panose="020B0806020204090204" pitchFamily="34" charset="0"/>
            </a:endParaRPr>
          </a:p>
        </p:txBody>
      </p:sp>
      <p:sp>
        <p:nvSpPr>
          <p:cNvPr id="4" name="CasellaDiTesto 3">
            <a:extLst>
              <a:ext uri="{FF2B5EF4-FFF2-40B4-BE49-F238E27FC236}">
                <a16:creationId xmlns:a16="http://schemas.microsoft.com/office/drawing/2014/main" id="{E5996119-A80D-4700-A761-9585E3EC1EBA}"/>
              </a:ext>
            </a:extLst>
          </p:cNvPr>
          <p:cNvSpPr txBox="1"/>
          <p:nvPr/>
        </p:nvSpPr>
        <p:spPr>
          <a:xfrm>
            <a:off x="4980214" y="2348261"/>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NUMERO MASSIMO HOP COUNT</a:t>
            </a:r>
          </a:p>
        </p:txBody>
      </p:sp>
      <p:sp>
        <p:nvSpPr>
          <p:cNvPr id="28" name="Rettangolo 27">
            <a:extLst>
              <a:ext uri="{FF2B5EF4-FFF2-40B4-BE49-F238E27FC236}">
                <a16:creationId xmlns:a16="http://schemas.microsoft.com/office/drawing/2014/main" id="{1413E2CF-CAAD-4F13-935C-2F0C67EC1A34}"/>
              </a:ext>
            </a:extLst>
          </p:cNvPr>
          <p:cNvSpPr/>
          <p:nvPr/>
        </p:nvSpPr>
        <p:spPr>
          <a:xfrm>
            <a:off x="4703202" y="278541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29" name="Rettangolo 28">
            <a:extLst>
              <a:ext uri="{FF2B5EF4-FFF2-40B4-BE49-F238E27FC236}">
                <a16:creationId xmlns:a16="http://schemas.microsoft.com/office/drawing/2014/main" id="{A967A3D2-27FE-4468-8002-B0926FA4B8F5}"/>
              </a:ext>
            </a:extLst>
          </p:cNvPr>
          <p:cNvSpPr/>
          <p:nvPr/>
        </p:nvSpPr>
        <p:spPr>
          <a:xfrm>
            <a:off x="4706497" y="370782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0" name="Rettangolo 29">
            <a:extLst>
              <a:ext uri="{FF2B5EF4-FFF2-40B4-BE49-F238E27FC236}">
                <a16:creationId xmlns:a16="http://schemas.microsoft.com/office/drawing/2014/main" id="{233AE13B-1827-4368-B383-E3460D340EB0}"/>
              </a:ext>
            </a:extLst>
          </p:cNvPr>
          <p:cNvSpPr/>
          <p:nvPr/>
        </p:nvSpPr>
        <p:spPr>
          <a:xfrm>
            <a:off x="4703202" y="4017533"/>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1" name="Rettangolo 30">
            <a:extLst>
              <a:ext uri="{FF2B5EF4-FFF2-40B4-BE49-F238E27FC236}">
                <a16:creationId xmlns:a16="http://schemas.microsoft.com/office/drawing/2014/main" id="{F2881848-EA0D-4455-80A5-E1A22FCCE4D4}"/>
              </a:ext>
            </a:extLst>
          </p:cNvPr>
          <p:cNvSpPr/>
          <p:nvPr/>
        </p:nvSpPr>
        <p:spPr>
          <a:xfrm>
            <a:off x="4703202" y="309779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2" name="Rettangolo 31">
            <a:extLst>
              <a:ext uri="{FF2B5EF4-FFF2-40B4-BE49-F238E27FC236}">
                <a16:creationId xmlns:a16="http://schemas.microsoft.com/office/drawing/2014/main" id="{E76A8889-E73D-4A49-9D28-8658934AF18C}"/>
              </a:ext>
            </a:extLst>
          </p:cNvPr>
          <p:cNvSpPr/>
          <p:nvPr/>
        </p:nvSpPr>
        <p:spPr>
          <a:xfrm>
            <a:off x="4703202" y="3398119"/>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3" name="Rettangolo 32">
            <a:extLst>
              <a:ext uri="{FF2B5EF4-FFF2-40B4-BE49-F238E27FC236}">
                <a16:creationId xmlns:a16="http://schemas.microsoft.com/office/drawing/2014/main" id="{5E5E1A49-3367-4BC0-AE53-F5B110994361}"/>
              </a:ext>
            </a:extLst>
          </p:cNvPr>
          <p:cNvSpPr/>
          <p:nvPr/>
        </p:nvSpPr>
        <p:spPr>
          <a:xfrm>
            <a:off x="4703202" y="2468334"/>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4" name="Rettangolo con angoli arrotondati 33">
            <a:extLst>
              <a:ext uri="{FF2B5EF4-FFF2-40B4-BE49-F238E27FC236}">
                <a16:creationId xmlns:a16="http://schemas.microsoft.com/office/drawing/2014/main" id="{4B05AF8F-C25C-4296-8914-6F024A7912D4}"/>
              </a:ext>
            </a:extLst>
          </p:cNvPr>
          <p:cNvSpPr/>
          <p:nvPr/>
        </p:nvSpPr>
        <p:spPr>
          <a:xfrm>
            <a:off x="-11085286" y="960503"/>
            <a:ext cx="4140200" cy="4157597"/>
          </a:xfrm>
          <a:prstGeom prst="roundRect">
            <a:avLst/>
          </a:prstGeom>
          <a:solidFill>
            <a:srgbClr val="4D4D4D"/>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sz="2000" dirty="0">
                <a:solidFill>
                  <a:schemeClr val="bg1"/>
                </a:solidFill>
                <a:latin typeface="Futura XBlkCnIt BT" panose="020B0806020204090204" pitchFamily="34" charset="0"/>
              </a:rPr>
              <a:t>    </a:t>
            </a:r>
            <a:r>
              <a:rPr lang="en-US" sz="2000" dirty="0">
                <a:solidFill>
                  <a:srgbClr val="3B3838"/>
                </a:solidFill>
                <a:latin typeface="Futura XBlkCnIt BT" panose="020B0806020204090204" pitchFamily="34" charset="0"/>
              </a:rPr>
              <a:t>GESTIONE DI ARCHI NEGATIVI</a:t>
            </a:r>
          </a:p>
          <a:p>
            <a:r>
              <a:rPr lang="en-US" sz="2000" dirty="0">
                <a:solidFill>
                  <a:srgbClr val="3B3838"/>
                </a:solidFill>
                <a:latin typeface="Futura XBlkCnIt BT" panose="020B0806020204090204" pitchFamily="34" charset="0"/>
              </a:rPr>
              <a:t>    IMPLEMENTAZIONE SEMPLICE</a:t>
            </a:r>
          </a:p>
          <a:p>
            <a:r>
              <a:rPr lang="en-US" sz="2000" dirty="0">
                <a:solidFill>
                  <a:srgbClr val="3B3838"/>
                </a:solidFill>
                <a:latin typeface="Futura XBlkCnIt BT" panose="020B0806020204090204" pitchFamily="34" charset="0"/>
              </a:rPr>
              <a:t>    VERSABILITA A GRAFI CON PESI      </a:t>
            </a:r>
          </a:p>
          <a:p>
            <a:r>
              <a:rPr lang="en-US" sz="2000" dirty="0">
                <a:solidFill>
                  <a:srgbClr val="3B3838"/>
                </a:solidFill>
                <a:latin typeface="Futura XBlkCnIt BT" panose="020B0806020204090204" pitchFamily="34" charset="0"/>
              </a:rPr>
              <a:t>    DINAMICI</a:t>
            </a:r>
          </a:p>
          <a:p>
            <a:r>
              <a:rPr lang="en-US" sz="2000" dirty="0">
                <a:solidFill>
                  <a:srgbClr val="3B3838"/>
                </a:solidFill>
                <a:latin typeface="Futura XBlkCnIt BT" panose="020B0806020204090204" pitchFamily="34" charset="0"/>
              </a:rPr>
              <a:t>    ROBUSTEZZA CONTRO LA </a:t>
            </a:r>
          </a:p>
          <a:p>
            <a:r>
              <a:rPr lang="en-US" sz="2000" dirty="0">
                <a:solidFill>
                  <a:srgbClr val="3B3838"/>
                </a:solidFill>
                <a:latin typeface="Futura XBlkCnIt BT" panose="020B0806020204090204" pitchFamily="34" charset="0"/>
              </a:rPr>
              <a:t>    GESTIONE DI RETE  </a:t>
            </a:r>
            <a:endParaRPr lang="it-IT" sz="2000" dirty="0">
              <a:solidFill>
                <a:srgbClr val="3B3838"/>
              </a:solidFill>
              <a:latin typeface="Futura XBlkCnIt BT" panose="020B0806020204090204" pitchFamily="34" charset="0"/>
            </a:endParaRPr>
          </a:p>
        </p:txBody>
      </p:sp>
      <p:sp>
        <p:nvSpPr>
          <p:cNvPr id="36" name="CasellaDiTesto 35">
            <a:extLst>
              <a:ext uri="{FF2B5EF4-FFF2-40B4-BE49-F238E27FC236}">
                <a16:creationId xmlns:a16="http://schemas.microsoft.com/office/drawing/2014/main" id="{D4C4044C-0CDA-4DDF-939D-1FC91A79AAFF}"/>
              </a:ext>
            </a:extLst>
          </p:cNvPr>
          <p:cNvSpPr txBox="1"/>
          <p:nvPr/>
        </p:nvSpPr>
        <p:spPr>
          <a:xfrm>
            <a:off x="-10170886" y="1206500"/>
            <a:ext cx="231140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PRO</a:t>
            </a:r>
            <a:endParaRPr lang="it-IT" dirty="0">
              <a:solidFill>
                <a:srgbClr val="3B3838"/>
              </a:solidFill>
              <a:latin typeface="Futura XBlkCnIt BT" panose="020B0806020204090204" pitchFamily="34" charset="0"/>
            </a:endParaRPr>
          </a:p>
        </p:txBody>
      </p:sp>
      <p:sp>
        <p:nvSpPr>
          <p:cNvPr id="38" name="Rettangolo 37">
            <a:extLst>
              <a:ext uri="{FF2B5EF4-FFF2-40B4-BE49-F238E27FC236}">
                <a16:creationId xmlns:a16="http://schemas.microsoft.com/office/drawing/2014/main" id="{E3689CA9-7F44-486A-87BF-B975D27CB17E}"/>
              </a:ext>
            </a:extLst>
          </p:cNvPr>
          <p:cNvSpPr/>
          <p:nvPr/>
        </p:nvSpPr>
        <p:spPr>
          <a:xfrm>
            <a:off x="-10781435" y="22027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9" name="Rettangolo 38">
            <a:extLst>
              <a:ext uri="{FF2B5EF4-FFF2-40B4-BE49-F238E27FC236}">
                <a16:creationId xmlns:a16="http://schemas.microsoft.com/office/drawing/2014/main" id="{669896BC-79D5-445E-B25C-230FF29E4B41}"/>
              </a:ext>
            </a:extLst>
          </p:cNvPr>
          <p:cNvSpPr/>
          <p:nvPr/>
        </p:nvSpPr>
        <p:spPr>
          <a:xfrm>
            <a:off x="-10783951" y="2809585"/>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0" name="Rettangolo 39">
            <a:extLst>
              <a:ext uri="{FF2B5EF4-FFF2-40B4-BE49-F238E27FC236}">
                <a16:creationId xmlns:a16="http://schemas.microsoft.com/office/drawing/2014/main" id="{20467248-CFC8-4F7C-979F-7A9D05B608D0}"/>
              </a:ext>
            </a:extLst>
          </p:cNvPr>
          <p:cNvSpPr/>
          <p:nvPr/>
        </p:nvSpPr>
        <p:spPr>
          <a:xfrm>
            <a:off x="-10783951" y="3429000"/>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1" name="Rettangolo 40">
            <a:extLst>
              <a:ext uri="{FF2B5EF4-FFF2-40B4-BE49-F238E27FC236}">
                <a16:creationId xmlns:a16="http://schemas.microsoft.com/office/drawing/2014/main" id="{CFB7854E-926F-443D-A36D-33114C7516DE}"/>
              </a:ext>
            </a:extLst>
          </p:cNvPr>
          <p:cNvSpPr/>
          <p:nvPr/>
        </p:nvSpPr>
        <p:spPr>
          <a:xfrm>
            <a:off x="-10783951" y="2512492"/>
            <a:ext cx="145476" cy="145476"/>
          </a:xfrm>
          <a:prstGeom prst="rect">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5" name="Ovale 44">
            <a:extLst>
              <a:ext uri="{FF2B5EF4-FFF2-40B4-BE49-F238E27FC236}">
                <a16:creationId xmlns:a16="http://schemas.microsoft.com/office/drawing/2014/main" id="{C8CB0A68-1634-4494-BF84-D17CA542FE7C}"/>
              </a:ext>
            </a:extLst>
          </p:cNvPr>
          <p:cNvSpPr/>
          <p:nvPr/>
        </p:nvSpPr>
        <p:spPr>
          <a:xfrm>
            <a:off x="6316066" y="5689600"/>
            <a:ext cx="558800" cy="5588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6" name="CasellaDiTesto 45">
            <a:extLst>
              <a:ext uri="{FF2B5EF4-FFF2-40B4-BE49-F238E27FC236}">
                <a16:creationId xmlns:a16="http://schemas.microsoft.com/office/drawing/2014/main" id="{CB086D84-5420-4063-B526-B574911509CC}"/>
              </a:ext>
            </a:extLst>
          </p:cNvPr>
          <p:cNvSpPr txBox="1"/>
          <p:nvPr/>
        </p:nvSpPr>
        <p:spPr>
          <a:xfrm>
            <a:off x="4978566" y="2350375"/>
            <a:ext cx="3479800" cy="70788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SPLIT HORIZON</a:t>
            </a:r>
          </a:p>
        </p:txBody>
      </p:sp>
      <p:sp>
        <p:nvSpPr>
          <p:cNvPr id="47" name="CasellaDiTesto 46">
            <a:extLst>
              <a:ext uri="{FF2B5EF4-FFF2-40B4-BE49-F238E27FC236}">
                <a16:creationId xmlns:a16="http://schemas.microsoft.com/office/drawing/2014/main" id="{B3FAC10B-CF4E-4CB1-ABE3-A1C22DF81385}"/>
              </a:ext>
            </a:extLst>
          </p:cNvPr>
          <p:cNvSpPr txBox="1"/>
          <p:nvPr/>
        </p:nvSpPr>
        <p:spPr>
          <a:xfrm>
            <a:off x="4980214" y="2348261"/>
            <a:ext cx="3479800" cy="1015663"/>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TRIGGERED UPDATES</a:t>
            </a:r>
          </a:p>
        </p:txBody>
      </p:sp>
      <p:sp>
        <p:nvSpPr>
          <p:cNvPr id="48" name="CasellaDiTesto 47">
            <a:extLst>
              <a:ext uri="{FF2B5EF4-FFF2-40B4-BE49-F238E27FC236}">
                <a16:creationId xmlns:a16="http://schemas.microsoft.com/office/drawing/2014/main" id="{93B4C9F6-4FFC-4A09-9D39-175F6808D472}"/>
              </a:ext>
            </a:extLst>
          </p:cNvPr>
          <p:cNvSpPr txBox="1"/>
          <p:nvPr/>
        </p:nvSpPr>
        <p:spPr>
          <a:xfrm>
            <a:off x="4980214" y="2348261"/>
            <a:ext cx="3479800" cy="1323439"/>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ROUTE POISONING</a:t>
            </a:r>
          </a:p>
        </p:txBody>
      </p:sp>
      <p:sp>
        <p:nvSpPr>
          <p:cNvPr id="49" name="CasellaDiTesto 48">
            <a:extLst>
              <a:ext uri="{FF2B5EF4-FFF2-40B4-BE49-F238E27FC236}">
                <a16:creationId xmlns:a16="http://schemas.microsoft.com/office/drawing/2014/main" id="{03FF9F17-4439-43C6-9ED1-BDC80139F37A}"/>
              </a:ext>
            </a:extLst>
          </p:cNvPr>
          <p:cNvSpPr txBox="1"/>
          <p:nvPr/>
        </p:nvSpPr>
        <p:spPr>
          <a:xfrm>
            <a:off x="4980214" y="2348261"/>
            <a:ext cx="3479800" cy="163121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HOLD DOWN TIMER</a:t>
            </a:r>
          </a:p>
        </p:txBody>
      </p:sp>
      <p:sp>
        <p:nvSpPr>
          <p:cNvPr id="50" name="CasellaDiTesto 49">
            <a:extLst>
              <a:ext uri="{FF2B5EF4-FFF2-40B4-BE49-F238E27FC236}">
                <a16:creationId xmlns:a16="http://schemas.microsoft.com/office/drawing/2014/main" id="{118E7927-E616-43EE-A427-D8DB9CE38042}"/>
              </a:ext>
            </a:extLst>
          </p:cNvPr>
          <p:cNvSpPr txBox="1"/>
          <p:nvPr/>
        </p:nvSpPr>
        <p:spPr>
          <a:xfrm>
            <a:off x="4980214" y="2348261"/>
            <a:ext cx="3479800" cy="1938992"/>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POISON REVERSE</a:t>
            </a:r>
            <a:endParaRPr lang="it-IT" sz="2000" dirty="0">
              <a:solidFill>
                <a:schemeClr val="bg1"/>
              </a:solidFill>
              <a:latin typeface="Futura XBlkCnIt BT" panose="020B0806020204090204" pitchFamily="34" charset="0"/>
            </a:endParaRPr>
          </a:p>
        </p:txBody>
      </p:sp>
      <p:sp>
        <p:nvSpPr>
          <p:cNvPr id="52" name="Rettangolo con angoli arrotondati 51">
            <a:extLst>
              <a:ext uri="{FF2B5EF4-FFF2-40B4-BE49-F238E27FC236}">
                <a16:creationId xmlns:a16="http://schemas.microsoft.com/office/drawing/2014/main" id="{2C31746B-B38F-4AF1-BFFC-283C1DFC53A9}"/>
              </a:ext>
            </a:extLst>
          </p:cNvPr>
          <p:cNvSpPr/>
          <p:nvPr/>
        </p:nvSpPr>
        <p:spPr>
          <a:xfrm>
            <a:off x="-5537270" y="960503"/>
            <a:ext cx="4140200" cy="4157597"/>
          </a:xfrm>
          <a:prstGeom prst="round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3B3838"/>
                </a:solidFill>
                <a:latin typeface="Futura XBlkCnIt BT" panose="020B0806020204090204" pitchFamily="34" charset="0"/>
              </a:rPr>
              <a:t>   BLACK HOLE</a:t>
            </a:r>
          </a:p>
          <a:p>
            <a:r>
              <a:rPr lang="en-US" sz="2000" dirty="0">
                <a:solidFill>
                  <a:srgbClr val="3B3838"/>
                </a:solidFill>
                <a:latin typeface="Futura XBlkCnIt BT" panose="020B0806020204090204" pitchFamily="34" charset="0"/>
              </a:rPr>
              <a:t>   ROUTING LOOP</a:t>
            </a:r>
          </a:p>
          <a:p>
            <a:r>
              <a:rPr lang="en-US" sz="2000" dirty="0">
                <a:solidFill>
                  <a:srgbClr val="3B3838"/>
                </a:solidFill>
                <a:latin typeface="Futura XBlkCnIt BT" panose="020B0806020204090204" pitchFamily="34" charset="0"/>
              </a:rPr>
              <a:t>   COUNT TO INFINITY</a:t>
            </a:r>
            <a:endParaRPr lang="it-IT" sz="2000" dirty="0">
              <a:solidFill>
                <a:srgbClr val="3B3838"/>
              </a:solidFill>
              <a:latin typeface="Futura XBlkCnIt BT" panose="020B0806020204090204" pitchFamily="34" charset="0"/>
            </a:endParaRPr>
          </a:p>
        </p:txBody>
      </p:sp>
      <p:sp>
        <p:nvSpPr>
          <p:cNvPr id="53" name="CasellaDiTesto 52">
            <a:extLst>
              <a:ext uri="{FF2B5EF4-FFF2-40B4-BE49-F238E27FC236}">
                <a16:creationId xmlns:a16="http://schemas.microsoft.com/office/drawing/2014/main" id="{583A3C27-7A8F-465B-9462-D67DF3501660}"/>
              </a:ext>
            </a:extLst>
          </p:cNvPr>
          <p:cNvSpPr txBox="1"/>
          <p:nvPr/>
        </p:nvSpPr>
        <p:spPr>
          <a:xfrm>
            <a:off x="-4695895" y="1206500"/>
            <a:ext cx="2457450" cy="923330"/>
          </a:xfrm>
          <a:prstGeom prst="rect">
            <a:avLst/>
          </a:prstGeom>
          <a:noFill/>
        </p:spPr>
        <p:txBody>
          <a:bodyPr wrap="square" rtlCol="0">
            <a:spAutoFit/>
          </a:bodyPr>
          <a:lstStyle/>
          <a:p>
            <a:pPr algn="ctr"/>
            <a:r>
              <a:rPr lang="en-US" sz="5400" dirty="0">
                <a:solidFill>
                  <a:srgbClr val="3B3838"/>
                </a:solidFill>
                <a:latin typeface="Futura XBlkCnIt BT" panose="020B0806020204090204" pitchFamily="34" charset="0"/>
              </a:rPr>
              <a:t>CONTRO</a:t>
            </a:r>
            <a:endParaRPr lang="it-IT" dirty="0">
              <a:solidFill>
                <a:srgbClr val="3B3838"/>
              </a:solidFill>
              <a:latin typeface="Futura XBlkCnIt BT" panose="020B0806020204090204" pitchFamily="34" charset="0"/>
            </a:endParaRPr>
          </a:p>
        </p:txBody>
      </p:sp>
      <p:sp>
        <p:nvSpPr>
          <p:cNvPr id="54" name="Ovale 53">
            <a:extLst>
              <a:ext uri="{FF2B5EF4-FFF2-40B4-BE49-F238E27FC236}">
                <a16:creationId xmlns:a16="http://schemas.microsoft.com/office/drawing/2014/main" id="{F447C0E1-ED43-4100-912E-5BCBE09EBD48}"/>
              </a:ext>
            </a:extLst>
          </p:cNvPr>
          <p:cNvSpPr/>
          <p:nvPr/>
        </p:nvSpPr>
        <p:spPr>
          <a:xfrm>
            <a:off x="-5313066" y="2657968"/>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5" name="Ovale 54">
            <a:extLst>
              <a:ext uri="{FF2B5EF4-FFF2-40B4-BE49-F238E27FC236}">
                <a16:creationId xmlns:a16="http://schemas.microsoft.com/office/drawing/2014/main" id="{795E156C-70F0-4E8F-99EB-FD1D93E9C761}"/>
              </a:ext>
            </a:extLst>
          </p:cNvPr>
          <p:cNvSpPr/>
          <p:nvPr/>
        </p:nvSpPr>
        <p:spPr>
          <a:xfrm>
            <a:off x="-5316528" y="2959464"/>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Ovale 55">
            <a:extLst>
              <a:ext uri="{FF2B5EF4-FFF2-40B4-BE49-F238E27FC236}">
                <a16:creationId xmlns:a16="http://schemas.microsoft.com/office/drawing/2014/main" id="{883A4682-FEA2-4026-877E-925994A2E284}"/>
              </a:ext>
            </a:extLst>
          </p:cNvPr>
          <p:cNvSpPr/>
          <p:nvPr/>
        </p:nvSpPr>
        <p:spPr>
          <a:xfrm>
            <a:off x="-5309604" y="3267101"/>
            <a:ext cx="152400" cy="151617"/>
          </a:xfrm>
          <a:prstGeom prst="ellipse">
            <a:avLst/>
          </a:prstGeom>
          <a:solidFill>
            <a:srgbClr val="3B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7" name="CasellaDiTesto 56">
            <a:extLst>
              <a:ext uri="{FF2B5EF4-FFF2-40B4-BE49-F238E27FC236}">
                <a16:creationId xmlns:a16="http://schemas.microsoft.com/office/drawing/2014/main" id="{029CAB70-669F-46C6-B138-748C881C8CA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58" name="CasellaDiTesto 57">
            <a:extLst>
              <a:ext uri="{FF2B5EF4-FFF2-40B4-BE49-F238E27FC236}">
                <a16:creationId xmlns:a16="http://schemas.microsoft.com/office/drawing/2014/main" id="{5203F196-3B0A-485C-ABB8-E22018E95689}"/>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Tree>
    <p:extLst>
      <p:ext uri="{BB962C8B-B14F-4D97-AF65-F5344CB8AC3E}">
        <p14:creationId xmlns:p14="http://schemas.microsoft.com/office/powerpoint/2010/main" val="27006316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43627"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Rettangolo con angoli arrotondati 16">
            <a:extLst>
              <a:ext uri="{FF2B5EF4-FFF2-40B4-BE49-F238E27FC236}">
                <a16:creationId xmlns:a16="http://schemas.microsoft.com/office/drawing/2014/main" id="{4B48A101-41E4-48FF-A8F6-47AF9D0A698D}"/>
              </a:ext>
            </a:extLst>
          </p:cNvPr>
          <p:cNvSpPr/>
          <p:nvPr/>
        </p:nvSpPr>
        <p:spPr>
          <a:xfrm>
            <a:off x="4451350" y="960503"/>
            <a:ext cx="4140200" cy="415759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58" name="Rettangolo 57">
            <a:extLst>
              <a:ext uri="{FF2B5EF4-FFF2-40B4-BE49-F238E27FC236}">
                <a16:creationId xmlns:a16="http://schemas.microsoft.com/office/drawing/2014/main" id="{82BD6910-8C5A-4C47-8035-501AAB5BB223}"/>
              </a:ext>
            </a:extLst>
          </p:cNvPr>
          <p:cNvSpPr/>
          <p:nvPr/>
        </p:nvSpPr>
        <p:spPr>
          <a:xfrm>
            <a:off x="0" y="-164123"/>
            <a:ext cx="13044854" cy="7022123"/>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noFill/>
            </a:endParaRPr>
          </a:p>
        </p:txBody>
      </p:sp>
      <p:sp>
        <p:nvSpPr>
          <p:cNvPr id="66" name="Ovale 65">
            <a:extLst>
              <a:ext uri="{FF2B5EF4-FFF2-40B4-BE49-F238E27FC236}">
                <a16:creationId xmlns:a16="http://schemas.microsoft.com/office/drawing/2014/main" id="{C04AA4C9-100B-4560-A5E9-EAC08C4DBEEA}"/>
              </a:ext>
            </a:extLst>
          </p:cNvPr>
          <p:cNvSpPr/>
          <p:nvPr/>
        </p:nvSpPr>
        <p:spPr>
          <a:xfrm>
            <a:off x="-1494971" y="-5079999"/>
            <a:ext cx="16952685" cy="168656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6" name="CasellaDiTesto 45">
            <a:extLst>
              <a:ext uri="{FF2B5EF4-FFF2-40B4-BE49-F238E27FC236}">
                <a16:creationId xmlns:a16="http://schemas.microsoft.com/office/drawing/2014/main" id="{5E974982-4C71-40B0-B9AB-D4300BC98D12}"/>
              </a:ext>
            </a:extLst>
          </p:cNvPr>
          <p:cNvSpPr txBox="1"/>
          <p:nvPr/>
        </p:nvSpPr>
        <p:spPr>
          <a:xfrm>
            <a:off x="997251" y="1447543"/>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NUMERO MASSIMO HOP COUNT</a:t>
            </a:r>
          </a:p>
        </p:txBody>
      </p:sp>
      <p:sp>
        <p:nvSpPr>
          <p:cNvPr id="47" name="Rettangolo 46">
            <a:extLst>
              <a:ext uri="{FF2B5EF4-FFF2-40B4-BE49-F238E27FC236}">
                <a16:creationId xmlns:a16="http://schemas.microsoft.com/office/drawing/2014/main" id="{2FF95CA1-BE91-4C21-BE74-1AD99B53EF70}"/>
              </a:ext>
            </a:extLst>
          </p:cNvPr>
          <p:cNvSpPr/>
          <p:nvPr/>
        </p:nvSpPr>
        <p:spPr>
          <a:xfrm>
            <a:off x="733059" y="5316471"/>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solidFill>
                <a:schemeClr val="bg1"/>
              </a:solidFill>
            </a:endParaRPr>
          </a:p>
        </p:txBody>
      </p:sp>
      <p:sp>
        <p:nvSpPr>
          <p:cNvPr id="49" name="Rettangolo 48">
            <a:extLst>
              <a:ext uri="{FF2B5EF4-FFF2-40B4-BE49-F238E27FC236}">
                <a16:creationId xmlns:a16="http://schemas.microsoft.com/office/drawing/2014/main" id="{58CB7C6F-3BB7-42E1-9750-BD36305F52AA}"/>
              </a:ext>
            </a:extLst>
          </p:cNvPr>
          <p:cNvSpPr/>
          <p:nvPr/>
        </p:nvSpPr>
        <p:spPr>
          <a:xfrm>
            <a:off x="733059" y="369697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2" name="Rettangolo 51">
            <a:extLst>
              <a:ext uri="{FF2B5EF4-FFF2-40B4-BE49-F238E27FC236}">
                <a16:creationId xmlns:a16="http://schemas.microsoft.com/office/drawing/2014/main" id="{8E6565A7-156D-459A-8D32-5037E7FAFE86}"/>
              </a:ext>
            </a:extLst>
          </p:cNvPr>
          <p:cNvSpPr/>
          <p:nvPr/>
        </p:nvSpPr>
        <p:spPr>
          <a:xfrm>
            <a:off x="733059" y="157486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3" name="CasellaDiTesto 52">
            <a:extLst>
              <a:ext uri="{FF2B5EF4-FFF2-40B4-BE49-F238E27FC236}">
                <a16:creationId xmlns:a16="http://schemas.microsoft.com/office/drawing/2014/main" id="{EF2E2EAD-C0AC-48AD-9BBC-2BB26262CD0D}"/>
              </a:ext>
            </a:extLst>
          </p:cNvPr>
          <p:cNvSpPr txBox="1"/>
          <p:nvPr/>
        </p:nvSpPr>
        <p:spPr>
          <a:xfrm>
            <a:off x="975674" y="3586669"/>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SPLIT HORIZON</a:t>
            </a:r>
          </a:p>
        </p:txBody>
      </p:sp>
      <p:sp>
        <p:nvSpPr>
          <p:cNvPr id="54" name="CasellaDiTesto 53">
            <a:extLst>
              <a:ext uri="{FF2B5EF4-FFF2-40B4-BE49-F238E27FC236}">
                <a16:creationId xmlns:a16="http://schemas.microsoft.com/office/drawing/2014/main" id="{A80E0912-39B5-4EF9-ACB8-6C70A55086C2}"/>
              </a:ext>
            </a:extLst>
          </p:cNvPr>
          <p:cNvSpPr txBox="1"/>
          <p:nvPr/>
        </p:nvSpPr>
        <p:spPr>
          <a:xfrm>
            <a:off x="989725" y="5207184"/>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TRIGGERED UPDATES</a:t>
            </a:r>
          </a:p>
        </p:txBody>
      </p:sp>
      <p:sp>
        <p:nvSpPr>
          <p:cNvPr id="60" name="CasellaDiTesto 59">
            <a:extLst>
              <a:ext uri="{FF2B5EF4-FFF2-40B4-BE49-F238E27FC236}">
                <a16:creationId xmlns:a16="http://schemas.microsoft.com/office/drawing/2014/main" id="{E251DE40-57CD-4901-9CDA-CB9CFD79EFC8}"/>
              </a:ext>
            </a:extLst>
          </p:cNvPr>
          <p:cNvSpPr txBox="1"/>
          <p:nvPr/>
        </p:nvSpPr>
        <p:spPr>
          <a:xfrm>
            <a:off x="939615" y="1845223"/>
            <a:ext cx="5638393" cy="1477328"/>
          </a:xfrm>
          <a:prstGeom prst="rect">
            <a:avLst/>
          </a:prstGeom>
          <a:noFill/>
        </p:spPr>
        <p:txBody>
          <a:bodyPr wrap="square">
            <a:spAutoFit/>
          </a:bodyPr>
          <a:lstStyle/>
          <a:p>
            <a:r>
              <a:rPr lang="it-IT" b="1" dirty="0">
                <a:solidFill>
                  <a:schemeClr val="bg1"/>
                </a:solidFill>
                <a:latin typeface="Corbel Light" panose="020B0303020204020204" pitchFamily="34" charset="0"/>
              </a:rPr>
              <a:t>Per mitigare il problema del '</a:t>
            </a:r>
            <a:r>
              <a:rPr lang="it-IT" b="1" dirty="0" err="1">
                <a:solidFill>
                  <a:schemeClr val="bg1"/>
                </a:solidFill>
                <a:latin typeface="Corbel Light" panose="020B0303020204020204" pitchFamily="34" charset="0"/>
              </a:rPr>
              <a:t>count</a:t>
            </a:r>
            <a:r>
              <a:rPr lang="it-IT" b="1" dirty="0">
                <a:solidFill>
                  <a:schemeClr val="bg1"/>
                </a:solidFill>
                <a:latin typeface="Corbel Light" panose="020B0303020204020204" pitchFamily="34" charset="0"/>
              </a:rPr>
              <a:t>-to-</a:t>
            </a:r>
            <a:r>
              <a:rPr lang="it-IT" b="1" dirty="0" err="1">
                <a:solidFill>
                  <a:schemeClr val="bg1"/>
                </a:solidFill>
                <a:latin typeface="Corbel Light" panose="020B0303020204020204" pitchFamily="34" charset="0"/>
              </a:rPr>
              <a:t>infinity</a:t>
            </a:r>
            <a:r>
              <a:rPr lang="it-IT" b="1" dirty="0">
                <a:solidFill>
                  <a:schemeClr val="bg1"/>
                </a:solidFill>
                <a:latin typeface="Corbel Light" panose="020B0303020204020204" pitchFamily="34" charset="0"/>
              </a:rPr>
              <a:t>', si </a:t>
            </a:r>
          </a:p>
          <a:p>
            <a:r>
              <a:rPr lang="it-IT" b="1" dirty="0">
                <a:solidFill>
                  <a:schemeClr val="bg1"/>
                </a:solidFill>
                <a:latin typeface="Corbel Light" panose="020B0303020204020204" pitchFamily="34" charset="0"/>
              </a:rPr>
              <a:t>stabilisce un limite massimo al numero di 'hop </a:t>
            </a:r>
            <a:r>
              <a:rPr lang="it-IT" b="1" dirty="0" err="1">
                <a:solidFill>
                  <a:schemeClr val="bg1"/>
                </a:solidFill>
                <a:latin typeface="Corbel Light" panose="020B0303020204020204" pitchFamily="34" charset="0"/>
              </a:rPr>
              <a:t>count</a:t>
            </a:r>
            <a:r>
              <a:rPr lang="it-IT" b="1" dirty="0">
                <a:solidFill>
                  <a:schemeClr val="bg1"/>
                </a:solidFill>
                <a:latin typeface="Corbel Light" panose="020B0303020204020204" pitchFamily="34" charset="0"/>
              </a:rPr>
              <a:t>' (salti).</a:t>
            </a:r>
          </a:p>
          <a:p>
            <a:r>
              <a:rPr lang="it-IT" b="1" dirty="0">
                <a:solidFill>
                  <a:schemeClr val="bg1"/>
                </a:solidFill>
                <a:latin typeface="Corbel Light" panose="020B0303020204020204" pitchFamily="34" charset="0"/>
              </a:rPr>
              <a:t>Se il numero di salti supera questo limite, il pacchetto viene</a:t>
            </a:r>
          </a:p>
          <a:p>
            <a:r>
              <a:rPr lang="it-IT" b="1" dirty="0">
                <a:solidFill>
                  <a:schemeClr val="bg1"/>
                </a:solidFill>
                <a:latin typeface="Corbel Light" panose="020B0303020204020204" pitchFamily="34" charset="0"/>
              </a:rPr>
              <a:t>automaticamente scartato per evitare la circolazione infinita</a:t>
            </a:r>
          </a:p>
          <a:p>
            <a:r>
              <a:rPr lang="it-IT" b="1" dirty="0">
                <a:solidFill>
                  <a:schemeClr val="bg1"/>
                </a:solidFill>
                <a:latin typeface="Corbel Light" panose="020B0303020204020204" pitchFamily="34" charset="0"/>
              </a:rPr>
              <a:t>nella rete.</a:t>
            </a:r>
          </a:p>
        </p:txBody>
      </p:sp>
      <p:sp>
        <p:nvSpPr>
          <p:cNvPr id="61" name="CasellaDiTesto 60">
            <a:extLst>
              <a:ext uri="{FF2B5EF4-FFF2-40B4-BE49-F238E27FC236}">
                <a16:creationId xmlns:a16="http://schemas.microsoft.com/office/drawing/2014/main" id="{0DB204F9-3E3E-4794-B762-A845B5C09F51}"/>
              </a:ext>
            </a:extLst>
          </p:cNvPr>
          <p:cNvSpPr txBox="1"/>
          <p:nvPr/>
        </p:nvSpPr>
        <p:spPr>
          <a:xfrm>
            <a:off x="943724" y="3957492"/>
            <a:ext cx="5343332" cy="923330"/>
          </a:xfrm>
          <a:prstGeom prst="rect">
            <a:avLst/>
          </a:prstGeom>
          <a:noFill/>
        </p:spPr>
        <p:txBody>
          <a:bodyPr wrap="square">
            <a:spAutoFit/>
          </a:bodyPr>
          <a:lstStyle/>
          <a:p>
            <a:r>
              <a:rPr lang="it-IT" b="1" dirty="0">
                <a:solidFill>
                  <a:schemeClr val="bg1"/>
                </a:solidFill>
                <a:latin typeface="Corbel Light" panose="020B0303020204020204" pitchFamily="34" charset="0"/>
              </a:rPr>
              <a:t>Applica una variante al </a:t>
            </a:r>
            <a:r>
              <a:rPr lang="it-IT" b="1" dirty="0" err="1">
                <a:solidFill>
                  <a:schemeClr val="bg1"/>
                </a:solidFill>
                <a:latin typeface="Corbel Light" panose="020B0303020204020204" pitchFamily="34" charset="0"/>
              </a:rPr>
              <a:t>distance</a:t>
            </a:r>
            <a:r>
              <a:rPr lang="it-IT" b="1" dirty="0">
                <a:solidFill>
                  <a:schemeClr val="bg1"/>
                </a:solidFill>
                <a:latin typeface="Corbel Light" panose="020B0303020204020204" pitchFamily="34" charset="0"/>
              </a:rPr>
              <a:t> </a:t>
            </a:r>
            <a:r>
              <a:rPr lang="it-IT" b="1" dirty="0" err="1">
                <a:solidFill>
                  <a:schemeClr val="bg1"/>
                </a:solidFill>
                <a:latin typeface="Corbel Light" panose="020B0303020204020204" pitchFamily="34" charset="0"/>
              </a:rPr>
              <a:t>vector</a:t>
            </a:r>
            <a:r>
              <a:rPr lang="it-IT" b="1" dirty="0">
                <a:solidFill>
                  <a:schemeClr val="bg1"/>
                </a:solidFill>
                <a:latin typeface="Corbel Light" panose="020B0303020204020204" pitchFamily="34" charset="0"/>
              </a:rPr>
              <a:t> a seconda del</a:t>
            </a:r>
          </a:p>
          <a:p>
            <a:r>
              <a:rPr lang="it-IT" b="1" dirty="0">
                <a:solidFill>
                  <a:schemeClr val="bg1"/>
                </a:solidFill>
                <a:latin typeface="Corbel Light" panose="020B0303020204020204" pitchFamily="34" charset="0"/>
              </a:rPr>
              <a:t>destinatario, eliminando spedizioni ‘simmetricamente’</a:t>
            </a:r>
          </a:p>
          <a:p>
            <a:r>
              <a:rPr lang="it-IT" b="1" dirty="0">
                <a:solidFill>
                  <a:schemeClr val="bg1"/>
                </a:solidFill>
                <a:latin typeface="Corbel Light" panose="020B0303020204020204" pitchFamily="34" charset="0"/>
              </a:rPr>
              <a:t>inutili.</a:t>
            </a:r>
          </a:p>
        </p:txBody>
      </p:sp>
      <p:sp>
        <p:nvSpPr>
          <p:cNvPr id="62" name="CasellaDiTesto 61">
            <a:extLst>
              <a:ext uri="{FF2B5EF4-FFF2-40B4-BE49-F238E27FC236}">
                <a16:creationId xmlns:a16="http://schemas.microsoft.com/office/drawing/2014/main" id="{B4A6EBC0-641E-49E7-90C8-114F9315FD78}"/>
              </a:ext>
            </a:extLst>
          </p:cNvPr>
          <p:cNvSpPr txBox="1"/>
          <p:nvPr/>
        </p:nvSpPr>
        <p:spPr>
          <a:xfrm>
            <a:off x="949441" y="5725328"/>
            <a:ext cx="5324730" cy="923330"/>
          </a:xfrm>
          <a:prstGeom prst="rect">
            <a:avLst/>
          </a:prstGeom>
          <a:noFill/>
        </p:spPr>
        <p:txBody>
          <a:bodyPr wrap="square">
            <a:spAutoFit/>
          </a:bodyPr>
          <a:lstStyle/>
          <a:p>
            <a:r>
              <a:rPr lang="it-IT" b="1" dirty="0">
                <a:solidFill>
                  <a:schemeClr val="bg1"/>
                </a:solidFill>
                <a:latin typeface="Corbel Light" panose="020B0303020204020204" pitchFamily="34" charset="0"/>
              </a:rPr>
              <a:t>Invia messaggi immediatamente al momento in cui si </a:t>
            </a:r>
          </a:p>
          <a:p>
            <a:r>
              <a:rPr lang="it-IT" b="1" dirty="0">
                <a:solidFill>
                  <a:schemeClr val="bg1"/>
                </a:solidFill>
                <a:latin typeface="Corbel Light" panose="020B0303020204020204" pitchFamily="34" charset="0"/>
              </a:rPr>
              <a:t>verificano dei cambiamenti nella topologia della rete che</a:t>
            </a:r>
          </a:p>
          <a:p>
            <a:r>
              <a:rPr lang="it-IT" b="1" dirty="0">
                <a:solidFill>
                  <a:schemeClr val="bg1"/>
                </a:solidFill>
                <a:latin typeface="Corbel Light" panose="020B0303020204020204" pitchFamily="34" charset="0"/>
              </a:rPr>
              <a:t>rendono la convergenza della rete più veloce. </a:t>
            </a:r>
          </a:p>
        </p:txBody>
      </p:sp>
      <p:sp>
        <p:nvSpPr>
          <p:cNvPr id="50" name="Rettangolo 49">
            <a:extLst>
              <a:ext uri="{FF2B5EF4-FFF2-40B4-BE49-F238E27FC236}">
                <a16:creationId xmlns:a16="http://schemas.microsoft.com/office/drawing/2014/main" id="{6C845900-2012-4880-80A6-F2955DCBA673}"/>
              </a:ext>
            </a:extLst>
          </p:cNvPr>
          <p:cNvSpPr/>
          <p:nvPr/>
        </p:nvSpPr>
        <p:spPr>
          <a:xfrm>
            <a:off x="6694297" y="1492004"/>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5" name="CasellaDiTesto 54">
            <a:extLst>
              <a:ext uri="{FF2B5EF4-FFF2-40B4-BE49-F238E27FC236}">
                <a16:creationId xmlns:a16="http://schemas.microsoft.com/office/drawing/2014/main" id="{D5F36F8B-4BEF-4969-A291-3EBAD75B7EA9}"/>
              </a:ext>
            </a:extLst>
          </p:cNvPr>
          <p:cNvSpPr txBox="1"/>
          <p:nvPr/>
        </p:nvSpPr>
        <p:spPr>
          <a:xfrm>
            <a:off x="6883400" y="1374805"/>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ROUTE POISONING</a:t>
            </a:r>
          </a:p>
        </p:txBody>
      </p:sp>
      <p:sp>
        <p:nvSpPr>
          <p:cNvPr id="63" name="CasellaDiTesto 62">
            <a:extLst>
              <a:ext uri="{FF2B5EF4-FFF2-40B4-BE49-F238E27FC236}">
                <a16:creationId xmlns:a16="http://schemas.microsoft.com/office/drawing/2014/main" id="{E4BB24C8-207F-40CF-9117-AC1E2F095FE3}"/>
              </a:ext>
            </a:extLst>
          </p:cNvPr>
          <p:cNvSpPr txBox="1"/>
          <p:nvPr/>
        </p:nvSpPr>
        <p:spPr>
          <a:xfrm>
            <a:off x="6868903" y="1769127"/>
            <a:ext cx="8592456" cy="1477328"/>
          </a:xfrm>
          <a:prstGeom prst="rect">
            <a:avLst/>
          </a:prstGeom>
          <a:noFill/>
        </p:spPr>
        <p:txBody>
          <a:bodyPr wrap="square">
            <a:spAutoFit/>
          </a:bodyPr>
          <a:lstStyle/>
          <a:p>
            <a:r>
              <a:rPr lang="it-IT" b="1" dirty="0">
                <a:solidFill>
                  <a:schemeClr val="bg1"/>
                </a:solidFill>
                <a:latin typeface="Corbel Light" panose="020B0303020204020204" pitchFamily="34" charset="0"/>
              </a:rPr>
              <a:t>Per mitigare il problema del '</a:t>
            </a:r>
            <a:r>
              <a:rPr lang="it-IT" b="1" dirty="0" err="1">
                <a:solidFill>
                  <a:schemeClr val="bg1"/>
                </a:solidFill>
                <a:latin typeface="Corbel Light" panose="020B0303020204020204" pitchFamily="34" charset="0"/>
              </a:rPr>
              <a:t>count</a:t>
            </a:r>
            <a:r>
              <a:rPr lang="it-IT" b="1" dirty="0">
                <a:solidFill>
                  <a:schemeClr val="bg1"/>
                </a:solidFill>
                <a:latin typeface="Corbel Light" panose="020B0303020204020204" pitchFamily="34" charset="0"/>
              </a:rPr>
              <a:t>-to-</a:t>
            </a:r>
            <a:r>
              <a:rPr lang="it-IT" b="1" dirty="0" err="1">
                <a:solidFill>
                  <a:schemeClr val="bg1"/>
                </a:solidFill>
                <a:latin typeface="Corbel Light" panose="020B0303020204020204" pitchFamily="34" charset="0"/>
              </a:rPr>
              <a:t>infinity</a:t>
            </a:r>
            <a:r>
              <a:rPr lang="it-IT" b="1" dirty="0">
                <a:solidFill>
                  <a:schemeClr val="bg1"/>
                </a:solidFill>
                <a:latin typeface="Corbel Light" panose="020B0303020204020204" pitchFamily="34" charset="0"/>
              </a:rPr>
              <a:t>', si </a:t>
            </a:r>
          </a:p>
          <a:p>
            <a:r>
              <a:rPr lang="it-IT" b="1" dirty="0">
                <a:solidFill>
                  <a:schemeClr val="bg1"/>
                </a:solidFill>
                <a:latin typeface="Corbel Light" panose="020B0303020204020204" pitchFamily="34" charset="0"/>
              </a:rPr>
              <a:t>stabilisce un limite massimo al numero di 'hop </a:t>
            </a:r>
            <a:r>
              <a:rPr lang="it-IT" b="1" dirty="0" err="1">
                <a:solidFill>
                  <a:schemeClr val="bg1"/>
                </a:solidFill>
                <a:latin typeface="Corbel Light" panose="020B0303020204020204" pitchFamily="34" charset="0"/>
              </a:rPr>
              <a:t>count</a:t>
            </a:r>
            <a:r>
              <a:rPr lang="it-IT" b="1" dirty="0">
                <a:solidFill>
                  <a:schemeClr val="bg1"/>
                </a:solidFill>
                <a:latin typeface="Corbel Light" panose="020B0303020204020204" pitchFamily="34" charset="0"/>
              </a:rPr>
              <a:t>’ </a:t>
            </a:r>
          </a:p>
          <a:p>
            <a:r>
              <a:rPr lang="it-IT" b="1" dirty="0">
                <a:solidFill>
                  <a:schemeClr val="bg1"/>
                </a:solidFill>
                <a:latin typeface="Corbel Light" panose="020B0303020204020204" pitchFamily="34" charset="0"/>
              </a:rPr>
              <a:t>(salti). Se il numero di salti supera questo limite, il </a:t>
            </a:r>
          </a:p>
          <a:p>
            <a:r>
              <a:rPr lang="it-IT" b="1" dirty="0">
                <a:solidFill>
                  <a:schemeClr val="bg1"/>
                </a:solidFill>
                <a:latin typeface="Corbel Light" panose="020B0303020204020204" pitchFamily="34" charset="0"/>
              </a:rPr>
              <a:t>pacchetto viene automaticamente scartato per evitare </a:t>
            </a:r>
          </a:p>
          <a:p>
            <a:r>
              <a:rPr lang="it-IT" b="1" dirty="0">
                <a:solidFill>
                  <a:schemeClr val="bg1"/>
                </a:solidFill>
                <a:latin typeface="Corbel Light" panose="020B0303020204020204" pitchFamily="34" charset="0"/>
              </a:rPr>
              <a:t>la circolazione </a:t>
            </a:r>
            <a:r>
              <a:rPr lang="it-IT" b="1" dirty="0" err="1">
                <a:solidFill>
                  <a:schemeClr val="bg1"/>
                </a:solidFill>
                <a:latin typeface="Corbel Light" panose="020B0303020204020204" pitchFamily="34" charset="0"/>
              </a:rPr>
              <a:t>infinitanella</a:t>
            </a:r>
            <a:r>
              <a:rPr lang="it-IT" b="1" dirty="0">
                <a:solidFill>
                  <a:schemeClr val="bg1"/>
                </a:solidFill>
                <a:latin typeface="Corbel Light" panose="020B0303020204020204" pitchFamily="34" charset="0"/>
              </a:rPr>
              <a:t> rete.</a:t>
            </a:r>
          </a:p>
        </p:txBody>
      </p:sp>
      <p:sp>
        <p:nvSpPr>
          <p:cNvPr id="65" name="CasellaDiTesto 64">
            <a:extLst>
              <a:ext uri="{FF2B5EF4-FFF2-40B4-BE49-F238E27FC236}">
                <a16:creationId xmlns:a16="http://schemas.microsoft.com/office/drawing/2014/main" id="{8559E62B-BBBF-4DDF-9642-7544C3B397BA}"/>
              </a:ext>
            </a:extLst>
          </p:cNvPr>
          <p:cNvSpPr txBox="1"/>
          <p:nvPr/>
        </p:nvSpPr>
        <p:spPr>
          <a:xfrm>
            <a:off x="6941641" y="5770943"/>
            <a:ext cx="9118600" cy="923330"/>
          </a:xfrm>
          <a:prstGeom prst="rect">
            <a:avLst/>
          </a:prstGeom>
          <a:noFill/>
        </p:spPr>
        <p:txBody>
          <a:bodyPr wrap="square">
            <a:spAutoFit/>
          </a:bodyPr>
          <a:lstStyle/>
          <a:p>
            <a:r>
              <a:rPr lang="it-IT" b="1" dirty="0">
                <a:solidFill>
                  <a:schemeClr val="bg1"/>
                </a:solidFill>
                <a:latin typeface="Corbel Light" panose="020B0303020204020204" pitchFamily="34" charset="0"/>
              </a:rPr>
              <a:t>Evoluzione del metodo di split </a:t>
            </a:r>
            <a:r>
              <a:rPr lang="it-IT" b="1" dirty="0" err="1">
                <a:solidFill>
                  <a:schemeClr val="bg1"/>
                </a:solidFill>
                <a:latin typeface="Corbel Light" panose="020B0303020204020204" pitchFamily="34" charset="0"/>
              </a:rPr>
              <a:t>horizon</a:t>
            </a:r>
            <a:r>
              <a:rPr lang="it-IT" b="1" dirty="0">
                <a:solidFill>
                  <a:schemeClr val="bg1"/>
                </a:solidFill>
                <a:latin typeface="Corbel Light" panose="020B0303020204020204" pitchFamily="34" charset="0"/>
              </a:rPr>
              <a:t>, dove i nodi </a:t>
            </a:r>
          </a:p>
          <a:p>
            <a:r>
              <a:rPr lang="it-IT" b="1" dirty="0">
                <a:solidFill>
                  <a:schemeClr val="bg1"/>
                </a:solidFill>
                <a:latin typeface="Corbel Light" panose="020B0303020204020204" pitchFamily="34" charset="0"/>
              </a:rPr>
              <a:t>Segnalano le rotte come irraggiungibili tramite distanza</a:t>
            </a:r>
          </a:p>
          <a:p>
            <a:r>
              <a:rPr lang="it-IT" b="1" dirty="0">
                <a:solidFill>
                  <a:schemeClr val="bg1"/>
                </a:solidFill>
                <a:latin typeface="Corbel Light" panose="020B0303020204020204" pitchFamily="34" charset="0"/>
              </a:rPr>
              <a:t>infinita, riducendo il tempo di convergenza di rete.</a:t>
            </a:r>
          </a:p>
        </p:txBody>
      </p:sp>
      <p:sp>
        <p:nvSpPr>
          <p:cNvPr id="48" name="Rettangolo 47">
            <a:extLst>
              <a:ext uri="{FF2B5EF4-FFF2-40B4-BE49-F238E27FC236}">
                <a16:creationId xmlns:a16="http://schemas.microsoft.com/office/drawing/2014/main" id="{F2878C94-C7BA-4FF3-8ED4-0FAAE0F610E5}"/>
              </a:ext>
            </a:extLst>
          </p:cNvPr>
          <p:cNvSpPr/>
          <p:nvPr/>
        </p:nvSpPr>
        <p:spPr>
          <a:xfrm>
            <a:off x="6694297" y="553400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1" name="Rettangolo 50">
            <a:extLst>
              <a:ext uri="{FF2B5EF4-FFF2-40B4-BE49-F238E27FC236}">
                <a16:creationId xmlns:a16="http://schemas.microsoft.com/office/drawing/2014/main" id="{81E815E2-33E1-46CF-9100-551F67DC56CF}"/>
              </a:ext>
            </a:extLst>
          </p:cNvPr>
          <p:cNvSpPr/>
          <p:nvPr/>
        </p:nvSpPr>
        <p:spPr>
          <a:xfrm>
            <a:off x="6694297" y="3428162"/>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6" name="CasellaDiTesto 55">
            <a:extLst>
              <a:ext uri="{FF2B5EF4-FFF2-40B4-BE49-F238E27FC236}">
                <a16:creationId xmlns:a16="http://schemas.microsoft.com/office/drawing/2014/main" id="{0C31D9E2-0214-4CB7-8D72-F34CA73B3BCB}"/>
              </a:ext>
            </a:extLst>
          </p:cNvPr>
          <p:cNvSpPr txBox="1"/>
          <p:nvPr/>
        </p:nvSpPr>
        <p:spPr>
          <a:xfrm>
            <a:off x="6883400" y="3296685"/>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HOLD DOWN TIMER</a:t>
            </a:r>
          </a:p>
        </p:txBody>
      </p:sp>
      <p:sp>
        <p:nvSpPr>
          <p:cNvPr id="57" name="CasellaDiTesto 56">
            <a:extLst>
              <a:ext uri="{FF2B5EF4-FFF2-40B4-BE49-F238E27FC236}">
                <a16:creationId xmlns:a16="http://schemas.microsoft.com/office/drawing/2014/main" id="{D8F87BC1-4EF8-4EF8-A27C-84CF000C986E}"/>
              </a:ext>
            </a:extLst>
          </p:cNvPr>
          <p:cNvSpPr txBox="1"/>
          <p:nvPr/>
        </p:nvSpPr>
        <p:spPr>
          <a:xfrm>
            <a:off x="6903668" y="5442417"/>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POISON REVERSE</a:t>
            </a:r>
            <a:endParaRPr lang="it-IT" sz="2000" dirty="0">
              <a:solidFill>
                <a:schemeClr val="bg1"/>
              </a:solidFill>
              <a:latin typeface="Futura XBlkCnIt BT" panose="020B0806020204090204" pitchFamily="34" charset="0"/>
            </a:endParaRPr>
          </a:p>
        </p:txBody>
      </p:sp>
      <p:sp>
        <p:nvSpPr>
          <p:cNvPr id="64" name="CasellaDiTesto 63">
            <a:extLst>
              <a:ext uri="{FF2B5EF4-FFF2-40B4-BE49-F238E27FC236}">
                <a16:creationId xmlns:a16="http://schemas.microsoft.com/office/drawing/2014/main" id="{52B19DDB-A37C-40CC-9AEC-BB55E4450A7E}"/>
              </a:ext>
            </a:extLst>
          </p:cNvPr>
          <p:cNvSpPr txBox="1"/>
          <p:nvPr/>
        </p:nvSpPr>
        <p:spPr>
          <a:xfrm>
            <a:off x="6941641" y="3686858"/>
            <a:ext cx="5465291" cy="1754326"/>
          </a:xfrm>
          <a:prstGeom prst="rect">
            <a:avLst/>
          </a:prstGeom>
          <a:noFill/>
        </p:spPr>
        <p:txBody>
          <a:bodyPr wrap="square">
            <a:spAutoFit/>
          </a:bodyPr>
          <a:lstStyle/>
          <a:p>
            <a:r>
              <a:rPr lang="it-IT" b="1" dirty="0">
                <a:solidFill>
                  <a:schemeClr val="bg1"/>
                </a:solidFill>
                <a:latin typeface="Corbel Light" panose="020B0303020204020204" pitchFamily="34" charset="0"/>
              </a:rPr>
              <a:t>Il "</a:t>
            </a:r>
            <a:r>
              <a:rPr lang="it-IT" b="1" dirty="0" err="1">
                <a:solidFill>
                  <a:schemeClr val="bg1"/>
                </a:solidFill>
                <a:latin typeface="Corbel Light" panose="020B0303020204020204" pitchFamily="34" charset="0"/>
              </a:rPr>
              <a:t>hold</a:t>
            </a:r>
            <a:r>
              <a:rPr lang="it-IT" b="1" dirty="0">
                <a:solidFill>
                  <a:schemeClr val="bg1"/>
                </a:solidFill>
                <a:latin typeface="Corbel Light" panose="020B0303020204020204" pitchFamily="34" charset="0"/>
              </a:rPr>
              <a:t> down timer" è un contatore attivato quando una rete diventa irraggiungibile, prevenendo l'aggiornamento delle tabelle di routing fino a quando non scade. Se un aggiornamento migliore arriva prima della scadenza, il router aggiorna la tabella, altrimenti considera la rete irraggiungibile.</a:t>
            </a:r>
          </a:p>
        </p:txBody>
      </p:sp>
      <p:sp>
        <p:nvSpPr>
          <p:cNvPr id="69" name="CasellaDiTesto 68">
            <a:extLst>
              <a:ext uri="{FF2B5EF4-FFF2-40B4-BE49-F238E27FC236}">
                <a16:creationId xmlns:a16="http://schemas.microsoft.com/office/drawing/2014/main" id="{928AFD4F-FFFE-4C1E-A86C-3DD28214ABDC}"/>
              </a:ext>
            </a:extLst>
          </p:cNvPr>
          <p:cNvSpPr txBox="1"/>
          <p:nvPr/>
        </p:nvSpPr>
        <p:spPr>
          <a:xfrm>
            <a:off x="3143591" y="-260345"/>
            <a:ext cx="6755718" cy="1862048"/>
          </a:xfrm>
          <a:prstGeom prst="rect">
            <a:avLst/>
          </a:prstGeom>
          <a:noFill/>
        </p:spPr>
        <p:txBody>
          <a:bodyPr wrap="square" rtlCol="0">
            <a:spAutoFit/>
          </a:bodyPr>
          <a:lstStyle/>
          <a:p>
            <a:pPr algn="ctr"/>
            <a:r>
              <a:rPr lang="en-US" sz="11500" dirty="0">
                <a:solidFill>
                  <a:schemeClr val="bg1"/>
                </a:solidFill>
                <a:latin typeface="Futura XBlkCnIt BT" panose="020B0806020204090204" pitchFamily="34" charset="0"/>
              </a:rPr>
              <a:t>SOLUZIONI</a:t>
            </a:r>
            <a:endParaRPr lang="it-IT" sz="11500" dirty="0">
              <a:solidFill>
                <a:schemeClr val="bg1"/>
              </a:solidFill>
              <a:latin typeface="Futura XBlkCnIt BT" panose="020B0806020204090204" pitchFamily="34" charset="0"/>
            </a:endParaRPr>
          </a:p>
        </p:txBody>
      </p:sp>
    </p:spTree>
    <p:extLst>
      <p:ext uri="{BB962C8B-B14F-4D97-AF65-F5344CB8AC3E}">
        <p14:creationId xmlns:p14="http://schemas.microsoft.com/office/powerpoint/2010/main" val="1634681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46"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Rettangolo con angoli arrotondati 16">
            <a:extLst>
              <a:ext uri="{FF2B5EF4-FFF2-40B4-BE49-F238E27FC236}">
                <a16:creationId xmlns:a16="http://schemas.microsoft.com/office/drawing/2014/main" id="{4B48A101-41E4-48FF-A8F6-47AF9D0A698D}"/>
              </a:ext>
            </a:extLst>
          </p:cNvPr>
          <p:cNvSpPr/>
          <p:nvPr/>
        </p:nvSpPr>
        <p:spPr>
          <a:xfrm>
            <a:off x="4451350" y="960503"/>
            <a:ext cx="4140200" cy="415759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27" name="CasellaDiTesto 26">
            <a:extLst>
              <a:ext uri="{FF2B5EF4-FFF2-40B4-BE49-F238E27FC236}">
                <a16:creationId xmlns:a16="http://schemas.microsoft.com/office/drawing/2014/main" id="{FB2035FA-C939-4045-95E4-AA64FD64EE38}"/>
              </a:ext>
            </a:extLst>
          </p:cNvPr>
          <p:cNvSpPr txBox="1"/>
          <p:nvPr/>
        </p:nvSpPr>
        <p:spPr>
          <a:xfrm>
            <a:off x="4832350" y="1206500"/>
            <a:ext cx="33782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SOLUZIONI</a:t>
            </a:r>
            <a:endParaRPr lang="it-IT" dirty="0">
              <a:solidFill>
                <a:schemeClr val="bg1"/>
              </a:solidFill>
              <a:latin typeface="Futura XBlkCnIt BT" panose="020B0806020204090204" pitchFamily="34" charset="0"/>
            </a:endParaRPr>
          </a:p>
        </p:txBody>
      </p:sp>
      <p:sp>
        <p:nvSpPr>
          <p:cNvPr id="4" name="CasellaDiTesto 3">
            <a:extLst>
              <a:ext uri="{FF2B5EF4-FFF2-40B4-BE49-F238E27FC236}">
                <a16:creationId xmlns:a16="http://schemas.microsoft.com/office/drawing/2014/main" id="{E5996119-A80D-4700-A761-9585E3EC1EBA}"/>
              </a:ext>
            </a:extLst>
          </p:cNvPr>
          <p:cNvSpPr txBox="1"/>
          <p:nvPr/>
        </p:nvSpPr>
        <p:spPr>
          <a:xfrm>
            <a:off x="4980214" y="2348261"/>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NUMERO MASSIMO HOP COUNT</a:t>
            </a:r>
          </a:p>
        </p:txBody>
      </p:sp>
      <p:sp>
        <p:nvSpPr>
          <p:cNvPr id="28" name="Rettangolo 27">
            <a:extLst>
              <a:ext uri="{FF2B5EF4-FFF2-40B4-BE49-F238E27FC236}">
                <a16:creationId xmlns:a16="http://schemas.microsoft.com/office/drawing/2014/main" id="{1413E2CF-CAAD-4F13-935C-2F0C67EC1A34}"/>
              </a:ext>
            </a:extLst>
          </p:cNvPr>
          <p:cNvSpPr/>
          <p:nvPr/>
        </p:nvSpPr>
        <p:spPr>
          <a:xfrm>
            <a:off x="4703202" y="278541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29" name="Rettangolo 28">
            <a:extLst>
              <a:ext uri="{FF2B5EF4-FFF2-40B4-BE49-F238E27FC236}">
                <a16:creationId xmlns:a16="http://schemas.microsoft.com/office/drawing/2014/main" id="{A967A3D2-27FE-4468-8002-B0926FA4B8F5}"/>
              </a:ext>
            </a:extLst>
          </p:cNvPr>
          <p:cNvSpPr/>
          <p:nvPr/>
        </p:nvSpPr>
        <p:spPr>
          <a:xfrm>
            <a:off x="4706497" y="370782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0" name="Rettangolo 29">
            <a:extLst>
              <a:ext uri="{FF2B5EF4-FFF2-40B4-BE49-F238E27FC236}">
                <a16:creationId xmlns:a16="http://schemas.microsoft.com/office/drawing/2014/main" id="{233AE13B-1827-4368-B383-E3460D340EB0}"/>
              </a:ext>
            </a:extLst>
          </p:cNvPr>
          <p:cNvSpPr/>
          <p:nvPr/>
        </p:nvSpPr>
        <p:spPr>
          <a:xfrm>
            <a:off x="4703202" y="4017533"/>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1" name="Rettangolo 30">
            <a:extLst>
              <a:ext uri="{FF2B5EF4-FFF2-40B4-BE49-F238E27FC236}">
                <a16:creationId xmlns:a16="http://schemas.microsoft.com/office/drawing/2014/main" id="{F2881848-EA0D-4455-80A5-E1A22FCCE4D4}"/>
              </a:ext>
            </a:extLst>
          </p:cNvPr>
          <p:cNvSpPr/>
          <p:nvPr/>
        </p:nvSpPr>
        <p:spPr>
          <a:xfrm>
            <a:off x="4703202" y="309779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2" name="Rettangolo 31">
            <a:extLst>
              <a:ext uri="{FF2B5EF4-FFF2-40B4-BE49-F238E27FC236}">
                <a16:creationId xmlns:a16="http://schemas.microsoft.com/office/drawing/2014/main" id="{E76A8889-E73D-4A49-9D28-8658934AF18C}"/>
              </a:ext>
            </a:extLst>
          </p:cNvPr>
          <p:cNvSpPr/>
          <p:nvPr/>
        </p:nvSpPr>
        <p:spPr>
          <a:xfrm>
            <a:off x="4703202" y="3398119"/>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33" name="Rettangolo 32">
            <a:extLst>
              <a:ext uri="{FF2B5EF4-FFF2-40B4-BE49-F238E27FC236}">
                <a16:creationId xmlns:a16="http://schemas.microsoft.com/office/drawing/2014/main" id="{5E5E1A49-3367-4BC0-AE53-F5B110994361}"/>
              </a:ext>
            </a:extLst>
          </p:cNvPr>
          <p:cNvSpPr/>
          <p:nvPr/>
        </p:nvSpPr>
        <p:spPr>
          <a:xfrm>
            <a:off x="4703202" y="2468334"/>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45" name="Ovale 44">
            <a:extLst>
              <a:ext uri="{FF2B5EF4-FFF2-40B4-BE49-F238E27FC236}">
                <a16:creationId xmlns:a16="http://schemas.microsoft.com/office/drawing/2014/main" id="{C8CB0A68-1634-4494-BF84-D17CA542FE7C}"/>
              </a:ext>
            </a:extLst>
          </p:cNvPr>
          <p:cNvSpPr/>
          <p:nvPr/>
        </p:nvSpPr>
        <p:spPr>
          <a:xfrm>
            <a:off x="6316066" y="5689600"/>
            <a:ext cx="558800" cy="5588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6" name="CasellaDiTesto 45">
            <a:extLst>
              <a:ext uri="{FF2B5EF4-FFF2-40B4-BE49-F238E27FC236}">
                <a16:creationId xmlns:a16="http://schemas.microsoft.com/office/drawing/2014/main" id="{CB086D84-5420-4063-B526-B574911509CC}"/>
              </a:ext>
            </a:extLst>
          </p:cNvPr>
          <p:cNvSpPr txBox="1"/>
          <p:nvPr/>
        </p:nvSpPr>
        <p:spPr>
          <a:xfrm>
            <a:off x="4978566" y="2350375"/>
            <a:ext cx="3479800" cy="70788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SPLIT HORIZON</a:t>
            </a:r>
          </a:p>
        </p:txBody>
      </p:sp>
      <p:sp>
        <p:nvSpPr>
          <p:cNvPr id="47" name="CasellaDiTesto 46">
            <a:extLst>
              <a:ext uri="{FF2B5EF4-FFF2-40B4-BE49-F238E27FC236}">
                <a16:creationId xmlns:a16="http://schemas.microsoft.com/office/drawing/2014/main" id="{B3FAC10B-CF4E-4CB1-ABE3-A1C22DF81385}"/>
              </a:ext>
            </a:extLst>
          </p:cNvPr>
          <p:cNvSpPr txBox="1"/>
          <p:nvPr/>
        </p:nvSpPr>
        <p:spPr>
          <a:xfrm>
            <a:off x="4980214" y="2348261"/>
            <a:ext cx="3479800" cy="1015663"/>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TRIGGERED UPDATES</a:t>
            </a:r>
          </a:p>
        </p:txBody>
      </p:sp>
      <p:sp>
        <p:nvSpPr>
          <p:cNvPr id="48" name="CasellaDiTesto 47">
            <a:extLst>
              <a:ext uri="{FF2B5EF4-FFF2-40B4-BE49-F238E27FC236}">
                <a16:creationId xmlns:a16="http://schemas.microsoft.com/office/drawing/2014/main" id="{93B4C9F6-4FFC-4A09-9D39-175F6808D472}"/>
              </a:ext>
            </a:extLst>
          </p:cNvPr>
          <p:cNvSpPr txBox="1"/>
          <p:nvPr/>
        </p:nvSpPr>
        <p:spPr>
          <a:xfrm>
            <a:off x="4980214" y="2348261"/>
            <a:ext cx="3479800" cy="1323439"/>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ROUTE POISONING</a:t>
            </a:r>
          </a:p>
        </p:txBody>
      </p:sp>
      <p:sp>
        <p:nvSpPr>
          <p:cNvPr id="49" name="CasellaDiTesto 48">
            <a:extLst>
              <a:ext uri="{FF2B5EF4-FFF2-40B4-BE49-F238E27FC236}">
                <a16:creationId xmlns:a16="http://schemas.microsoft.com/office/drawing/2014/main" id="{03FF9F17-4439-43C6-9ED1-BDC80139F37A}"/>
              </a:ext>
            </a:extLst>
          </p:cNvPr>
          <p:cNvSpPr txBox="1"/>
          <p:nvPr/>
        </p:nvSpPr>
        <p:spPr>
          <a:xfrm>
            <a:off x="4980214" y="2348261"/>
            <a:ext cx="3479800" cy="163121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HOLD DOWN TIMER</a:t>
            </a:r>
          </a:p>
        </p:txBody>
      </p:sp>
      <p:sp>
        <p:nvSpPr>
          <p:cNvPr id="50" name="CasellaDiTesto 49">
            <a:extLst>
              <a:ext uri="{FF2B5EF4-FFF2-40B4-BE49-F238E27FC236}">
                <a16:creationId xmlns:a16="http://schemas.microsoft.com/office/drawing/2014/main" id="{118E7927-E616-43EE-A427-D8DB9CE38042}"/>
              </a:ext>
            </a:extLst>
          </p:cNvPr>
          <p:cNvSpPr txBox="1"/>
          <p:nvPr/>
        </p:nvSpPr>
        <p:spPr>
          <a:xfrm>
            <a:off x="4980214" y="2348261"/>
            <a:ext cx="3479800" cy="1938992"/>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POISON REVERSE</a:t>
            </a:r>
            <a:endParaRPr lang="it-IT" sz="2000" dirty="0">
              <a:solidFill>
                <a:schemeClr val="bg1"/>
              </a:solidFill>
              <a:latin typeface="Futura XBlkCnIt BT" panose="020B0806020204090204" pitchFamily="34" charset="0"/>
            </a:endParaRPr>
          </a:p>
        </p:txBody>
      </p:sp>
      <p:sp>
        <p:nvSpPr>
          <p:cNvPr id="51" name="CasellaDiTesto 50">
            <a:extLst>
              <a:ext uri="{FF2B5EF4-FFF2-40B4-BE49-F238E27FC236}">
                <a16:creationId xmlns:a16="http://schemas.microsoft.com/office/drawing/2014/main" id="{23246DF2-83DE-4342-A012-24723EC218A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52" name="CasellaDiTesto 51">
            <a:extLst>
              <a:ext uri="{FF2B5EF4-FFF2-40B4-BE49-F238E27FC236}">
                <a16:creationId xmlns:a16="http://schemas.microsoft.com/office/drawing/2014/main" id="{26269837-DA39-4E8E-AEAB-07C11195D4EE}"/>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21" name="Ovale 20">
            <a:extLst>
              <a:ext uri="{FF2B5EF4-FFF2-40B4-BE49-F238E27FC236}">
                <a16:creationId xmlns:a16="http://schemas.microsoft.com/office/drawing/2014/main" id="{54FB35FE-E510-4F7F-A8D8-F0B626708FF7}"/>
              </a:ext>
            </a:extLst>
          </p:cNvPr>
          <p:cNvSpPr/>
          <p:nvPr/>
        </p:nvSpPr>
        <p:spPr>
          <a:xfrm>
            <a:off x="14668371" y="5689600"/>
            <a:ext cx="558800" cy="5588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Tree>
    <p:extLst>
      <p:ext uri="{BB962C8B-B14F-4D97-AF65-F5344CB8AC3E}">
        <p14:creationId xmlns:p14="http://schemas.microsoft.com/office/powerpoint/2010/main" val="4228882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46"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Rettangolo con angoli arrotondati 16">
            <a:extLst>
              <a:ext uri="{FF2B5EF4-FFF2-40B4-BE49-F238E27FC236}">
                <a16:creationId xmlns:a16="http://schemas.microsoft.com/office/drawing/2014/main" id="{4B48A101-41E4-48FF-A8F6-47AF9D0A698D}"/>
              </a:ext>
            </a:extLst>
          </p:cNvPr>
          <p:cNvSpPr/>
          <p:nvPr/>
        </p:nvSpPr>
        <p:spPr>
          <a:xfrm>
            <a:off x="4451350" y="960503"/>
            <a:ext cx="4140200" cy="4157597"/>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27" name="CasellaDiTesto 26">
            <a:extLst>
              <a:ext uri="{FF2B5EF4-FFF2-40B4-BE49-F238E27FC236}">
                <a16:creationId xmlns:a16="http://schemas.microsoft.com/office/drawing/2014/main" id="{FB2035FA-C939-4045-95E4-AA64FD64EE38}"/>
              </a:ext>
            </a:extLst>
          </p:cNvPr>
          <p:cNvSpPr txBox="1"/>
          <p:nvPr/>
        </p:nvSpPr>
        <p:spPr>
          <a:xfrm>
            <a:off x="4515924" y="2577636"/>
            <a:ext cx="4011052"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CONCLUSIONI</a:t>
            </a:r>
            <a:endParaRPr lang="it-IT" dirty="0">
              <a:solidFill>
                <a:schemeClr val="bg1"/>
              </a:solidFill>
              <a:latin typeface="Futura XBlkCnIt BT" panose="020B0806020204090204" pitchFamily="34" charset="0"/>
            </a:endParaRPr>
          </a:p>
        </p:txBody>
      </p:sp>
      <p:sp>
        <p:nvSpPr>
          <p:cNvPr id="45" name="Ovale 44">
            <a:extLst>
              <a:ext uri="{FF2B5EF4-FFF2-40B4-BE49-F238E27FC236}">
                <a16:creationId xmlns:a16="http://schemas.microsoft.com/office/drawing/2014/main" id="{C8CB0A68-1634-4494-BF84-D17CA542FE7C}"/>
              </a:ext>
            </a:extLst>
          </p:cNvPr>
          <p:cNvSpPr/>
          <p:nvPr/>
        </p:nvSpPr>
        <p:spPr>
          <a:xfrm>
            <a:off x="6316066" y="5689600"/>
            <a:ext cx="558800" cy="5588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1" name="CasellaDiTesto 50">
            <a:extLst>
              <a:ext uri="{FF2B5EF4-FFF2-40B4-BE49-F238E27FC236}">
                <a16:creationId xmlns:a16="http://schemas.microsoft.com/office/drawing/2014/main" id="{23246DF2-83DE-4342-A012-24723EC218A5}"/>
              </a:ext>
            </a:extLst>
          </p:cNvPr>
          <p:cNvSpPr txBox="1"/>
          <p:nvPr/>
        </p:nvSpPr>
        <p:spPr>
          <a:xfrm>
            <a:off x="1887154" y="409987"/>
            <a:ext cx="3387971" cy="523220"/>
          </a:xfrm>
          <a:prstGeom prst="rect">
            <a:avLst/>
          </a:prstGeom>
          <a:noFill/>
        </p:spPr>
        <p:txBody>
          <a:bodyPr wrap="square" rtlCol="0">
            <a:spAutoFit/>
          </a:bodyPr>
          <a:lstStyle/>
          <a:p>
            <a:r>
              <a:rPr lang="en-US" sz="2800" dirty="0">
                <a:solidFill>
                  <a:srgbClr val="3C6E71">
                    <a:alpha val="64000"/>
                  </a:srgbClr>
                </a:solidFill>
                <a:effectLst/>
                <a:latin typeface="Bebas Neue" panose="020B0606020202050201" pitchFamily="34" charset="0"/>
              </a:rPr>
              <a:t>BELLMAN-FORD</a:t>
            </a:r>
            <a:endParaRPr lang="it-IT" sz="2800" dirty="0">
              <a:solidFill>
                <a:srgbClr val="3C6E71">
                  <a:alpha val="64000"/>
                </a:srgbClr>
              </a:solidFill>
              <a:effectLst/>
              <a:latin typeface="Bebas Neue" panose="020B0606020202050201" pitchFamily="34" charset="0"/>
            </a:endParaRPr>
          </a:p>
        </p:txBody>
      </p:sp>
      <p:sp>
        <p:nvSpPr>
          <p:cNvPr id="52" name="CasellaDiTesto 51">
            <a:extLst>
              <a:ext uri="{FF2B5EF4-FFF2-40B4-BE49-F238E27FC236}">
                <a16:creationId xmlns:a16="http://schemas.microsoft.com/office/drawing/2014/main" id="{26269837-DA39-4E8E-AEAB-07C11195D4EE}"/>
              </a:ext>
            </a:extLst>
          </p:cNvPr>
          <p:cNvSpPr txBox="1"/>
          <p:nvPr/>
        </p:nvSpPr>
        <p:spPr>
          <a:xfrm>
            <a:off x="587506" y="409987"/>
            <a:ext cx="1447033" cy="523220"/>
          </a:xfrm>
          <a:prstGeom prst="rect">
            <a:avLst/>
          </a:prstGeom>
          <a:noFill/>
        </p:spPr>
        <p:txBody>
          <a:bodyPr wrap="square" rtlCol="0">
            <a:spAutoFit/>
          </a:bodyPr>
          <a:lstStyle/>
          <a:p>
            <a:r>
              <a:rPr lang="it-IT" sz="2800" dirty="0">
                <a:solidFill>
                  <a:srgbClr val="3C6E71"/>
                </a:solidFill>
                <a:latin typeface="Bebas Neue" panose="020B0606020202050201" pitchFamily="34" charset="0"/>
              </a:rPr>
              <a:t>ALGORITMO</a:t>
            </a:r>
            <a:endParaRPr lang="it-IT" sz="1000" dirty="0">
              <a:solidFill>
                <a:srgbClr val="3C6E71"/>
              </a:solidFill>
              <a:latin typeface="Bebas Neue" panose="020B0606020202050201" pitchFamily="34" charset="0"/>
            </a:endParaRPr>
          </a:p>
        </p:txBody>
      </p:sp>
      <p:sp>
        <p:nvSpPr>
          <p:cNvPr id="43" name="Rettangolo con angoli arrotondati 42">
            <a:extLst>
              <a:ext uri="{FF2B5EF4-FFF2-40B4-BE49-F238E27FC236}">
                <a16:creationId xmlns:a16="http://schemas.microsoft.com/office/drawing/2014/main" id="{32D1B815-0A7D-406F-836B-7470DF5DB707}"/>
              </a:ext>
            </a:extLst>
          </p:cNvPr>
          <p:cNvSpPr/>
          <p:nvPr/>
        </p:nvSpPr>
        <p:spPr>
          <a:xfrm>
            <a:off x="4451350" y="-5071973"/>
            <a:ext cx="4140200" cy="4157597"/>
          </a:xfrm>
          <a:prstGeom prst="round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44" name="CasellaDiTesto 43">
            <a:extLst>
              <a:ext uri="{FF2B5EF4-FFF2-40B4-BE49-F238E27FC236}">
                <a16:creationId xmlns:a16="http://schemas.microsoft.com/office/drawing/2014/main" id="{26E80CAF-868B-4AD7-9F50-989A2AC1A86A}"/>
              </a:ext>
            </a:extLst>
          </p:cNvPr>
          <p:cNvSpPr txBox="1"/>
          <p:nvPr/>
        </p:nvSpPr>
        <p:spPr>
          <a:xfrm>
            <a:off x="4832350" y="-4825976"/>
            <a:ext cx="3378200"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SOLUZIONI</a:t>
            </a:r>
            <a:endParaRPr lang="it-IT" dirty="0">
              <a:solidFill>
                <a:schemeClr val="bg1"/>
              </a:solidFill>
              <a:latin typeface="Futura XBlkCnIt BT" panose="020B0806020204090204" pitchFamily="34" charset="0"/>
            </a:endParaRPr>
          </a:p>
        </p:txBody>
      </p:sp>
      <p:sp>
        <p:nvSpPr>
          <p:cNvPr id="53" name="CasellaDiTesto 52">
            <a:extLst>
              <a:ext uri="{FF2B5EF4-FFF2-40B4-BE49-F238E27FC236}">
                <a16:creationId xmlns:a16="http://schemas.microsoft.com/office/drawing/2014/main" id="{D88A5005-90D8-4C28-90EE-2FC1BEA0670B}"/>
              </a:ext>
            </a:extLst>
          </p:cNvPr>
          <p:cNvSpPr txBox="1"/>
          <p:nvPr/>
        </p:nvSpPr>
        <p:spPr>
          <a:xfrm>
            <a:off x="4980214" y="-3684215"/>
            <a:ext cx="3479800" cy="400110"/>
          </a:xfrm>
          <a:prstGeom prst="rect">
            <a:avLst/>
          </a:prstGeom>
          <a:noFill/>
        </p:spPr>
        <p:txBody>
          <a:bodyPr wrap="square" rtlCol="0">
            <a:spAutoFit/>
          </a:bodyPr>
          <a:lstStyle/>
          <a:p>
            <a:r>
              <a:rPr lang="en-US" sz="2000" dirty="0">
                <a:solidFill>
                  <a:schemeClr val="bg1"/>
                </a:solidFill>
                <a:latin typeface="Futura XBlkCnIt BT" panose="020B0806020204090204" pitchFamily="34" charset="0"/>
              </a:rPr>
              <a:t>NUMERO MASSIMO HOP COUNT</a:t>
            </a:r>
          </a:p>
        </p:txBody>
      </p:sp>
      <p:sp>
        <p:nvSpPr>
          <p:cNvPr id="54" name="Rettangolo 53">
            <a:extLst>
              <a:ext uri="{FF2B5EF4-FFF2-40B4-BE49-F238E27FC236}">
                <a16:creationId xmlns:a16="http://schemas.microsoft.com/office/drawing/2014/main" id="{94C7151D-10CF-4016-BABB-2C8767432393}"/>
              </a:ext>
            </a:extLst>
          </p:cNvPr>
          <p:cNvSpPr/>
          <p:nvPr/>
        </p:nvSpPr>
        <p:spPr>
          <a:xfrm>
            <a:off x="4703202" y="-324706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5" name="Rettangolo 54">
            <a:extLst>
              <a:ext uri="{FF2B5EF4-FFF2-40B4-BE49-F238E27FC236}">
                <a16:creationId xmlns:a16="http://schemas.microsoft.com/office/drawing/2014/main" id="{293FBB07-4C1B-4338-BBDA-240C61D195E7}"/>
              </a:ext>
            </a:extLst>
          </p:cNvPr>
          <p:cNvSpPr/>
          <p:nvPr/>
        </p:nvSpPr>
        <p:spPr>
          <a:xfrm>
            <a:off x="4706497" y="-2324650"/>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6" name="Rettangolo 55">
            <a:extLst>
              <a:ext uri="{FF2B5EF4-FFF2-40B4-BE49-F238E27FC236}">
                <a16:creationId xmlns:a16="http://schemas.microsoft.com/office/drawing/2014/main" id="{AEBE9135-8B7F-4820-9EAE-4FDD41D5EA2C}"/>
              </a:ext>
            </a:extLst>
          </p:cNvPr>
          <p:cNvSpPr/>
          <p:nvPr/>
        </p:nvSpPr>
        <p:spPr>
          <a:xfrm>
            <a:off x="4703202" y="-2014943"/>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7" name="Rettangolo 56">
            <a:extLst>
              <a:ext uri="{FF2B5EF4-FFF2-40B4-BE49-F238E27FC236}">
                <a16:creationId xmlns:a16="http://schemas.microsoft.com/office/drawing/2014/main" id="{9D26DD6B-FAE7-45AB-AB9D-8C6FD0253EB5}"/>
              </a:ext>
            </a:extLst>
          </p:cNvPr>
          <p:cNvSpPr/>
          <p:nvPr/>
        </p:nvSpPr>
        <p:spPr>
          <a:xfrm>
            <a:off x="4703202" y="-2934686"/>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8" name="Rettangolo 57">
            <a:extLst>
              <a:ext uri="{FF2B5EF4-FFF2-40B4-BE49-F238E27FC236}">
                <a16:creationId xmlns:a16="http://schemas.microsoft.com/office/drawing/2014/main" id="{A832E3F7-D818-4019-9778-80C513033D59}"/>
              </a:ext>
            </a:extLst>
          </p:cNvPr>
          <p:cNvSpPr/>
          <p:nvPr/>
        </p:nvSpPr>
        <p:spPr>
          <a:xfrm>
            <a:off x="4703202" y="-2634357"/>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59" name="Rettangolo 58">
            <a:extLst>
              <a:ext uri="{FF2B5EF4-FFF2-40B4-BE49-F238E27FC236}">
                <a16:creationId xmlns:a16="http://schemas.microsoft.com/office/drawing/2014/main" id="{41073BB5-4D67-429B-BD8A-70ECD0055269}"/>
              </a:ext>
            </a:extLst>
          </p:cNvPr>
          <p:cNvSpPr/>
          <p:nvPr/>
        </p:nvSpPr>
        <p:spPr>
          <a:xfrm>
            <a:off x="4703202" y="-3564142"/>
            <a:ext cx="145476" cy="145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bg1"/>
              </a:solidFill>
            </a:endParaRPr>
          </a:p>
        </p:txBody>
      </p:sp>
      <p:sp>
        <p:nvSpPr>
          <p:cNvPr id="60" name="Ovale 59">
            <a:extLst>
              <a:ext uri="{FF2B5EF4-FFF2-40B4-BE49-F238E27FC236}">
                <a16:creationId xmlns:a16="http://schemas.microsoft.com/office/drawing/2014/main" id="{21396535-6E9C-4406-817C-98428AF8D683}"/>
              </a:ext>
            </a:extLst>
          </p:cNvPr>
          <p:cNvSpPr/>
          <p:nvPr/>
        </p:nvSpPr>
        <p:spPr>
          <a:xfrm>
            <a:off x="-694233" y="5683926"/>
            <a:ext cx="558800" cy="55880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1" name="CasellaDiTesto 60">
            <a:extLst>
              <a:ext uri="{FF2B5EF4-FFF2-40B4-BE49-F238E27FC236}">
                <a16:creationId xmlns:a16="http://schemas.microsoft.com/office/drawing/2014/main" id="{2FD8DEAF-AB6E-46E7-A811-A522DD783A66}"/>
              </a:ext>
            </a:extLst>
          </p:cNvPr>
          <p:cNvSpPr txBox="1"/>
          <p:nvPr/>
        </p:nvSpPr>
        <p:spPr>
          <a:xfrm>
            <a:off x="4978566" y="-3682101"/>
            <a:ext cx="3479800" cy="70788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SPLIT HORIZON</a:t>
            </a:r>
          </a:p>
        </p:txBody>
      </p:sp>
      <p:sp>
        <p:nvSpPr>
          <p:cNvPr id="62" name="CasellaDiTesto 61">
            <a:extLst>
              <a:ext uri="{FF2B5EF4-FFF2-40B4-BE49-F238E27FC236}">
                <a16:creationId xmlns:a16="http://schemas.microsoft.com/office/drawing/2014/main" id="{C078C797-2CEF-45F4-B62A-738EF55AF839}"/>
              </a:ext>
            </a:extLst>
          </p:cNvPr>
          <p:cNvSpPr txBox="1"/>
          <p:nvPr/>
        </p:nvSpPr>
        <p:spPr>
          <a:xfrm>
            <a:off x="4980214" y="-3684215"/>
            <a:ext cx="3479800" cy="1015663"/>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TRIGGERED UPDATES</a:t>
            </a:r>
          </a:p>
        </p:txBody>
      </p:sp>
      <p:sp>
        <p:nvSpPr>
          <p:cNvPr id="63" name="CasellaDiTesto 62">
            <a:extLst>
              <a:ext uri="{FF2B5EF4-FFF2-40B4-BE49-F238E27FC236}">
                <a16:creationId xmlns:a16="http://schemas.microsoft.com/office/drawing/2014/main" id="{65612CA4-C8D5-418E-B80B-DAF232D7EE4E}"/>
              </a:ext>
            </a:extLst>
          </p:cNvPr>
          <p:cNvSpPr txBox="1"/>
          <p:nvPr/>
        </p:nvSpPr>
        <p:spPr>
          <a:xfrm>
            <a:off x="4980214" y="-3684215"/>
            <a:ext cx="3479800" cy="1323439"/>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ROUTE POISONING</a:t>
            </a:r>
          </a:p>
        </p:txBody>
      </p:sp>
      <p:sp>
        <p:nvSpPr>
          <p:cNvPr id="64" name="CasellaDiTesto 63">
            <a:extLst>
              <a:ext uri="{FF2B5EF4-FFF2-40B4-BE49-F238E27FC236}">
                <a16:creationId xmlns:a16="http://schemas.microsoft.com/office/drawing/2014/main" id="{A747D2F1-35BB-42E6-9005-BCAC22BB99DA}"/>
              </a:ext>
            </a:extLst>
          </p:cNvPr>
          <p:cNvSpPr txBox="1"/>
          <p:nvPr/>
        </p:nvSpPr>
        <p:spPr>
          <a:xfrm>
            <a:off x="4980214" y="-3684215"/>
            <a:ext cx="3479800" cy="1631216"/>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HOLD DOWN TIMER</a:t>
            </a:r>
          </a:p>
        </p:txBody>
      </p:sp>
      <p:sp>
        <p:nvSpPr>
          <p:cNvPr id="65" name="CasellaDiTesto 64">
            <a:extLst>
              <a:ext uri="{FF2B5EF4-FFF2-40B4-BE49-F238E27FC236}">
                <a16:creationId xmlns:a16="http://schemas.microsoft.com/office/drawing/2014/main" id="{F5235E3A-4B77-45C3-927D-843F29403403}"/>
              </a:ext>
            </a:extLst>
          </p:cNvPr>
          <p:cNvSpPr txBox="1"/>
          <p:nvPr/>
        </p:nvSpPr>
        <p:spPr>
          <a:xfrm>
            <a:off x="4980214" y="-3684215"/>
            <a:ext cx="3479800" cy="1938992"/>
          </a:xfrm>
          <a:prstGeom prst="rect">
            <a:avLst/>
          </a:prstGeom>
          <a:noFill/>
        </p:spPr>
        <p:txBody>
          <a:bodyPr wrap="square" rtlCol="0">
            <a:spAutoFit/>
          </a:bodyPr>
          <a:lstStyle/>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endParaRPr lang="en-US" sz="2000" dirty="0">
              <a:solidFill>
                <a:schemeClr val="bg1"/>
              </a:solidFill>
              <a:latin typeface="Futura XBlkCnIt BT" panose="020B0806020204090204" pitchFamily="34" charset="0"/>
            </a:endParaRPr>
          </a:p>
          <a:p>
            <a:r>
              <a:rPr lang="en-US" sz="2000" dirty="0">
                <a:solidFill>
                  <a:schemeClr val="bg1"/>
                </a:solidFill>
                <a:latin typeface="Futura XBlkCnIt BT" panose="020B0806020204090204" pitchFamily="34" charset="0"/>
              </a:rPr>
              <a:t>POISON REVERSE</a:t>
            </a:r>
            <a:endParaRPr lang="it-IT" sz="2000" dirty="0">
              <a:solidFill>
                <a:schemeClr val="bg1"/>
              </a:solidFill>
              <a:latin typeface="Futura XBlkCnIt BT" panose="020B0806020204090204" pitchFamily="34" charset="0"/>
            </a:endParaRPr>
          </a:p>
        </p:txBody>
      </p:sp>
      <p:sp>
        <p:nvSpPr>
          <p:cNvPr id="66" name="CasellaDiTesto 65">
            <a:extLst>
              <a:ext uri="{FF2B5EF4-FFF2-40B4-BE49-F238E27FC236}">
                <a16:creationId xmlns:a16="http://schemas.microsoft.com/office/drawing/2014/main" id="{4CC88EAB-99E1-4BB7-9DF4-8323A6C4309D}"/>
              </a:ext>
            </a:extLst>
          </p:cNvPr>
          <p:cNvSpPr txBox="1"/>
          <p:nvPr/>
        </p:nvSpPr>
        <p:spPr>
          <a:xfrm>
            <a:off x="2386323" y="7255629"/>
            <a:ext cx="8977086" cy="3139321"/>
          </a:xfrm>
          <a:prstGeom prst="rect">
            <a:avLst/>
          </a:prstGeom>
          <a:noFill/>
        </p:spPr>
        <p:txBody>
          <a:bodyPr wrap="square">
            <a:spAutoFit/>
          </a:bodyPr>
          <a:lstStyle/>
          <a:p>
            <a:r>
              <a:rPr lang="it-IT" b="1" dirty="0">
                <a:solidFill>
                  <a:schemeClr val="bg1"/>
                </a:solidFill>
                <a:latin typeface="Corbel Light" panose="020B0303020204020204" pitchFamily="34" charset="0"/>
              </a:rPr>
              <a:t>L'algoritmo di </a:t>
            </a:r>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ampiamente utilizzato nel campo dell'informatica e dell'ingegneria per risolvere problemi di routing e di ricerca del percorso più breve all'interno di reti o grafi ponderati. </a:t>
            </a:r>
          </a:p>
          <a:p>
            <a:r>
              <a:rPr lang="it-IT" b="1" dirty="0">
                <a:solidFill>
                  <a:schemeClr val="bg1"/>
                </a:solidFill>
                <a:latin typeface="Corbel Light" panose="020B0303020204020204" pitchFamily="34" charset="0"/>
              </a:rPr>
              <a:t>La sua popolarità deriva dalla sua semplicità concettuale e dalla sua efficacia nell'affrontare una vasta gamma di scenari. Con l'aiuto di questo algoritmo, è possibile trovare rapidamente il percorso ottimale da un nodo di partenza a tutti gli altri nodi in un grafo, anche in presenza di archi con pesi negativi.</a:t>
            </a:r>
          </a:p>
          <a:p>
            <a:r>
              <a:rPr lang="it-IT" b="1" dirty="0">
                <a:solidFill>
                  <a:schemeClr val="bg1"/>
                </a:solidFill>
                <a:latin typeface="Corbel Light" panose="020B0303020204020204" pitchFamily="34" charset="0"/>
              </a:rPr>
              <a:t>Questa versatilità lo rende uno strumento prezioso per molte applicazioni pratiche, tra cui reti di computer, logistica, telecomunicazioni e altro ancora. In breve, l'algoritmo di </a:t>
            </a:r>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una risorsa fondamentale per risolvere problemi di routing e ricerca del percorso più breve, contribuendo così a ottimizzare processi e migliorare l'efficienza in una varietà di contesti.</a:t>
            </a:r>
          </a:p>
        </p:txBody>
      </p:sp>
    </p:spTree>
    <p:extLst>
      <p:ext uri="{BB962C8B-B14F-4D97-AF65-F5344CB8AC3E}">
        <p14:creationId xmlns:p14="http://schemas.microsoft.com/office/powerpoint/2010/main" val="84012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B3223671-C2AB-4FB4-9972-66089A04DE9D}"/>
              </a:ext>
            </a:extLst>
          </p:cNvPr>
          <p:cNvSpPr/>
          <p:nvPr/>
        </p:nvSpPr>
        <p:spPr>
          <a:xfrm>
            <a:off x="10746" y="-164123"/>
            <a:ext cx="13046808" cy="7022123"/>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con angoli arrotondati 2">
            <a:extLst>
              <a:ext uri="{FF2B5EF4-FFF2-40B4-BE49-F238E27FC236}">
                <a16:creationId xmlns:a16="http://schemas.microsoft.com/office/drawing/2014/main" id="{BF9FDE86-5CEB-48A6-8796-6CA8DA4F0CC0}"/>
              </a:ext>
            </a:extLst>
          </p:cNvPr>
          <p:cNvSpPr/>
          <p:nvPr/>
        </p:nvSpPr>
        <p:spPr>
          <a:xfrm>
            <a:off x="1828800" y="5689600"/>
            <a:ext cx="9385300" cy="553126"/>
          </a:xfrm>
          <a:prstGeom prst="roundRect">
            <a:avLst>
              <a:gd name="adj" fmla="val 5000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Rettangolo con angoli arrotondati 16">
            <a:extLst>
              <a:ext uri="{FF2B5EF4-FFF2-40B4-BE49-F238E27FC236}">
                <a16:creationId xmlns:a16="http://schemas.microsoft.com/office/drawing/2014/main" id="{4B48A101-41E4-48FF-A8F6-47AF9D0A698D}"/>
              </a:ext>
            </a:extLst>
          </p:cNvPr>
          <p:cNvSpPr/>
          <p:nvPr/>
        </p:nvSpPr>
        <p:spPr>
          <a:xfrm>
            <a:off x="4451350" y="960503"/>
            <a:ext cx="4140200" cy="4157597"/>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it-IT" sz="2000" dirty="0">
              <a:solidFill>
                <a:schemeClr val="bg1"/>
              </a:solidFill>
              <a:latin typeface="Futura XBlkCnIt BT" panose="020B0806020204090204" pitchFamily="34" charset="0"/>
            </a:endParaRPr>
          </a:p>
        </p:txBody>
      </p:sp>
      <p:sp>
        <p:nvSpPr>
          <p:cNvPr id="45" name="Ovale 44">
            <a:extLst>
              <a:ext uri="{FF2B5EF4-FFF2-40B4-BE49-F238E27FC236}">
                <a16:creationId xmlns:a16="http://schemas.microsoft.com/office/drawing/2014/main" id="{C8CB0A68-1634-4494-BF84-D17CA542FE7C}"/>
              </a:ext>
            </a:extLst>
          </p:cNvPr>
          <p:cNvSpPr/>
          <p:nvPr/>
        </p:nvSpPr>
        <p:spPr>
          <a:xfrm>
            <a:off x="-2068738" y="-4946315"/>
            <a:ext cx="17950422" cy="18277304"/>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7" name="CasellaDiTesto 26">
            <a:extLst>
              <a:ext uri="{FF2B5EF4-FFF2-40B4-BE49-F238E27FC236}">
                <a16:creationId xmlns:a16="http://schemas.microsoft.com/office/drawing/2014/main" id="{FB2035FA-C939-4045-95E4-AA64FD64EE38}"/>
              </a:ext>
            </a:extLst>
          </p:cNvPr>
          <p:cNvSpPr txBox="1"/>
          <p:nvPr/>
        </p:nvSpPr>
        <p:spPr>
          <a:xfrm>
            <a:off x="4580498" y="859275"/>
            <a:ext cx="4011052" cy="923330"/>
          </a:xfrm>
          <a:prstGeom prst="rect">
            <a:avLst/>
          </a:prstGeom>
          <a:noFill/>
        </p:spPr>
        <p:txBody>
          <a:bodyPr wrap="square" rtlCol="0">
            <a:spAutoFit/>
          </a:bodyPr>
          <a:lstStyle/>
          <a:p>
            <a:pPr algn="ctr"/>
            <a:r>
              <a:rPr lang="en-US" sz="5400" dirty="0">
                <a:solidFill>
                  <a:schemeClr val="bg1"/>
                </a:solidFill>
                <a:latin typeface="Futura XBlkCnIt BT" panose="020B0806020204090204" pitchFamily="34" charset="0"/>
              </a:rPr>
              <a:t>CONCLUSIONI</a:t>
            </a:r>
            <a:endParaRPr lang="it-IT" dirty="0">
              <a:solidFill>
                <a:schemeClr val="bg1"/>
              </a:solidFill>
              <a:latin typeface="Futura XBlkCnIt BT" panose="020B0806020204090204" pitchFamily="34" charset="0"/>
            </a:endParaRPr>
          </a:p>
        </p:txBody>
      </p:sp>
      <p:sp>
        <p:nvSpPr>
          <p:cNvPr id="26" name="CasellaDiTesto 25">
            <a:extLst>
              <a:ext uri="{FF2B5EF4-FFF2-40B4-BE49-F238E27FC236}">
                <a16:creationId xmlns:a16="http://schemas.microsoft.com/office/drawing/2014/main" id="{0B3CB05D-AEC2-4852-AD71-D63C93512129}"/>
              </a:ext>
            </a:extLst>
          </p:cNvPr>
          <p:cNvSpPr txBox="1"/>
          <p:nvPr/>
        </p:nvSpPr>
        <p:spPr>
          <a:xfrm>
            <a:off x="2417930" y="2397879"/>
            <a:ext cx="8977086" cy="3139321"/>
          </a:xfrm>
          <a:prstGeom prst="rect">
            <a:avLst/>
          </a:prstGeom>
          <a:noFill/>
        </p:spPr>
        <p:txBody>
          <a:bodyPr wrap="square">
            <a:spAutoFit/>
          </a:bodyPr>
          <a:lstStyle/>
          <a:p>
            <a:r>
              <a:rPr lang="it-IT" b="1" dirty="0">
                <a:solidFill>
                  <a:schemeClr val="bg1"/>
                </a:solidFill>
                <a:latin typeface="Corbel Light" panose="020B0303020204020204" pitchFamily="34" charset="0"/>
              </a:rPr>
              <a:t>L'algoritmo di </a:t>
            </a:r>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ampiamente utilizzato nel campo dell'informatica e dell'ingegneria per risolvere problemi di routing e di ricerca del percorso più breve all'interno di reti o grafi ponderati. </a:t>
            </a:r>
          </a:p>
          <a:p>
            <a:r>
              <a:rPr lang="it-IT" b="1" dirty="0">
                <a:solidFill>
                  <a:schemeClr val="bg1"/>
                </a:solidFill>
                <a:latin typeface="Corbel Light" panose="020B0303020204020204" pitchFamily="34" charset="0"/>
              </a:rPr>
              <a:t>La sua popolarità deriva dalla sua semplicità concettuale e dalla sua efficacia nell'affrontare una vasta gamma di scenari. Con l'aiuto di questo algoritmo, è possibile trovare rapidamente il percorso ottimale da un nodo di partenza a tutti gli altri nodi in un grafo, anche in presenza di archi con pesi negativi.</a:t>
            </a:r>
          </a:p>
          <a:p>
            <a:r>
              <a:rPr lang="it-IT" b="1" dirty="0">
                <a:solidFill>
                  <a:schemeClr val="bg1"/>
                </a:solidFill>
                <a:latin typeface="Corbel Light" panose="020B0303020204020204" pitchFamily="34" charset="0"/>
              </a:rPr>
              <a:t>Questa versatilità lo rende uno strumento prezioso per molte applicazioni pratiche, tra cui reti di computer, logistica, telecomunicazioni e altro ancora. In breve, l'algoritmo di </a:t>
            </a:r>
            <a:r>
              <a:rPr lang="it-IT" b="1" dirty="0" err="1">
                <a:solidFill>
                  <a:schemeClr val="bg1"/>
                </a:solidFill>
                <a:latin typeface="Corbel Light" panose="020B0303020204020204" pitchFamily="34" charset="0"/>
              </a:rPr>
              <a:t>Bellman</a:t>
            </a:r>
            <a:r>
              <a:rPr lang="it-IT" b="1" dirty="0">
                <a:solidFill>
                  <a:schemeClr val="bg1"/>
                </a:solidFill>
                <a:latin typeface="Corbel Light" panose="020B0303020204020204" pitchFamily="34" charset="0"/>
              </a:rPr>
              <a:t>-Ford è una risorsa fondamentale per risolvere problemi di routing e ricerca del percorso più breve, contribuendo così a ottimizzare processi e migliorare l'efficienza in una varietà di contesti.</a:t>
            </a:r>
          </a:p>
        </p:txBody>
      </p:sp>
    </p:spTree>
    <p:extLst>
      <p:ext uri="{BB962C8B-B14F-4D97-AF65-F5344CB8AC3E}">
        <p14:creationId xmlns:p14="http://schemas.microsoft.com/office/powerpoint/2010/main" val="24860937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1F8873-442A-4B42-A0AE-A569C5D1091F}"/>
              </a:ext>
            </a:extLst>
          </p:cNvPr>
          <p:cNvSpPr>
            <a:spLocks noGrp="1"/>
          </p:cNvSpPr>
          <p:nvPr>
            <p:ph type="title"/>
          </p:nvPr>
        </p:nvSpPr>
        <p:spPr/>
        <p:txBody>
          <a:bodyPr/>
          <a:lstStyle/>
          <a:p>
            <a:endParaRPr lang="it-IT"/>
          </a:p>
        </p:txBody>
      </p:sp>
      <p:sp>
        <p:nvSpPr>
          <p:cNvPr id="3" name="Segnaposto contenuto 2">
            <a:extLst>
              <a:ext uri="{FF2B5EF4-FFF2-40B4-BE49-F238E27FC236}">
                <a16:creationId xmlns:a16="http://schemas.microsoft.com/office/drawing/2014/main" id="{2A0B9D9B-CB58-41D9-8C1B-8924E9DDE744}"/>
              </a:ext>
            </a:extLst>
          </p:cNvPr>
          <p:cNvSpPr>
            <a:spLocks noGrp="1"/>
          </p:cNvSpPr>
          <p:nvPr>
            <p:ph idx="1"/>
          </p:nvPr>
        </p:nvSpPr>
        <p:spPr/>
        <p:txBody>
          <a:bodyPr/>
          <a:lstStyle/>
          <a:p>
            <a:endParaRPr lang="it-IT"/>
          </a:p>
        </p:txBody>
      </p:sp>
    </p:spTree>
    <p:extLst>
      <p:ext uri="{BB962C8B-B14F-4D97-AF65-F5344CB8AC3E}">
        <p14:creationId xmlns:p14="http://schemas.microsoft.com/office/powerpoint/2010/main" val="2913478571"/>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895</TotalTime>
  <Words>3860</Words>
  <Application>Microsoft Office PowerPoint</Application>
  <PresentationFormat>Widescreen</PresentationFormat>
  <Paragraphs>686</Paragraphs>
  <Slides>38</Slides>
  <Notes>0</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38</vt:i4>
      </vt:variant>
    </vt:vector>
  </HeadingPairs>
  <TitlesOfParts>
    <vt:vector size="48" baseType="lpstr">
      <vt:lpstr>Arial</vt:lpstr>
      <vt:lpstr>Bahnschrift Light</vt:lpstr>
      <vt:lpstr>Bebas Neue</vt:lpstr>
      <vt:lpstr>Calibri</vt:lpstr>
      <vt:lpstr>Calibri Light</vt:lpstr>
      <vt:lpstr>Corbel Light</vt:lpstr>
      <vt:lpstr>Futura XBlkCnIt BT</vt:lpstr>
      <vt:lpstr>LEMON MILK</vt:lpstr>
      <vt:lpstr>YAFdtQi73Xs 0</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Massimo Lotti</dc:creator>
  <cp:lastModifiedBy>Simoncarlo Notarangelo</cp:lastModifiedBy>
  <cp:revision>66</cp:revision>
  <dcterms:created xsi:type="dcterms:W3CDTF">2024-04-04T16:13:22Z</dcterms:created>
  <dcterms:modified xsi:type="dcterms:W3CDTF">2024-05-18T16:06:41Z</dcterms:modified>
</cp:coreProperties>
</file>